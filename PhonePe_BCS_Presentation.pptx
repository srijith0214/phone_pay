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82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5F2EEA"/>
          </a:solidFill>
          <a:ln/>
        </p:spPr>
      </p:sp>
      <p:sp>
        <p:nvSpPr>
          <p:cNvPr id="3" name="Shape 1"/>
          <p:cNvSpPr/>
          <p:nvPr/>
        </p:nvSpPr>
        <p:spPr>
          <a:xfrm>
            <a:off x="0" y="4434840"/>
            <a:ext cx="9144000" cy="708660"/>
          </a:xfrm>
          <a:prstGeom prst="rect">
            <a:avLst/>
          </a:prstGeom>
          <a:solidFill>
            <a:srgbClr val="5F2EEA">
              <a:alpha val="20000"/>
            </a:srgbClr>
          </a:solidFill>
          <a:ln/>
        </p:spPr>
      </p:sp>
      <p:sp>
        <p:nvSpPr>
          <p:cNvPr id="4" name="Text 2"/>
          <p:cNvSpPr/>
          <p:nvPr/>
        </p:nvSpPr>
        <p:spPr>
          <a:xfrm>
            <a:off x="457200" y="822960"/>
            <a:ext cx="8229600" cy="457200"/>
          </a:xfrm>
          <a:prstGeom prst="rect">
            <a:avLst/>
          </a:prstGeom>
          <a:noFill/>
          <a:ln/>
        </p:spPr>
        <p:txBody>
          <a:bodyPr wrap="square" lIns="0" tIns="0" rIns="0" bIns="0" rtlCol="0" anchor="ctr"/>
          <a:lstStyle/>
          <a:p>
            <a:pPr indent="0" marL="0">
              <a:buNone/>
            </a:pPr>
            <a:r>
              <a:rPr lang="en-US" sz="1500" b="1" dirty="0">
                <a:solidFill>
                  <a:srgbClr val="00B9F1"/>
                </a:solidFill>
                <a:latin typeface="Calibri" pitchFamily="34" charset="0"/>
                <a:ea typeface="Calibri" pitchFamily="34" charset="-122"/>
                <a:cs typeface="Calibri" pitchFamily="34" charset="-120"/>
              </a:rPr>
              <a:t>📱 PhonePe Analytics</a:t>
            </a:r>
            <a:endParaRPr lang="en-US" sz="1500" dirty="0"/>
          </a:p>
        </p:txBody>
      </p:sp>
      <p:sp>
        <p:nvSpPr>
          <p:cNvPr id="5" name="Text 3"/>
          <p:cNvSpPr/>
          <p:nvPr/>
        </p:nvSpPr>
        <p:spPr>
          <a:xfrm>
            <a:off x="457200" y="1325880"/>
            <a:ext cx="8229600" cy="1188720"/>
          </a:xfrm>
          <a:prstGeom prst="rect">
            <a:avLst/>
          </a:prstGeom>
          <a:noFill/>
          <a:ln/>
        </p:spPr>
        <p:txBody>
          <a:bodyPr wrap="square" lIns="0" tIns="0" rIns="0" bIns="0" rtlCol="0" anchor="ctr"/>
          <a:lstStyle/>
          <a:p>
            <a:pPr indent="0" marL="0">
              <a:buNone/>
            </a:pPr>
            <a:r>
              <a:rPr lang="en-US" sz="5200" b="1" dirty="0">
                <a:solidFill>
                  <a:srgbClr val="FFFFFF"/>
                </a:solidFill>
                <a:latin typeface="Calibri" pitchFamily="34" charset="0"/>
                <a:ea typeface="Calibri" pitchFamily="34" charset="-122"/>
                <a:cs typeface="Calibri" pitchFamily="34" charset="-120"/>
              </a:rPr>
              <a:t>5 Business Case Studies</a:t>
            </a:r>
            <a:endParaRPr lang="en-US" sz="5200" dirty="0"/>
          </a:p>
        </p:txBody>
      </p:sp>
      <p:sp>
        <p:nvSpPr>
          <p:cNvPr id="6" name="Shape 4"/>
          <p:cNvSpPr/>
          <p:nvPr/>
        </p:nvSpPr>
        <p:spPr>
          <a:xfrm>
            <a:off x="457200" y="2606040"/>
            <a:ext cx="2560320" cy="64008"/>
          </a:xfrm>
          <a:prstGeom prst="rect">
            <a:avLst/>
          </a:prstGeom>
          <a:solidFill>
            <a:srgbClr val="5F2EEA"/>
          </a:solidFill>
          <a:ln/>
        </p:spPr>
      </p:sp>
      <p:sp>
        <p:nvSpPr>
          <p:cNvPr id="7" name="Shape 5"/>
          <p:cNvSpPr/>
          <p:nvPr/>
        </p:nvSpPr>
        <p:spPr>
          <a:xfrm>
            <a:off x="457200" y="2788920"/>
            <a:ext cx="1600200" cy="457200"/>
          </a:xfrm>
          <a:prstGeom prst="rect">
            <a:avLst/>
          </a:prstGeom>
          <a:solidFill>
            <a:srgbClr val="5F2EEA">
              <a:alpha val="40000"/>
            </a:srgbClr>
          </a:solidFill>
          <a:ln w="10160">
            <a:solidFill>
              <a:srgbClr val="5F2EEA"/>
            </a:solidFill>
            <a:prstDash val="solid"/>
          </a:ln>
        </p:spPr>
      </p:sp>
      <p:sp>
        <p:nvSpPr>
          <p:cNvPr id="8" name="Text 6"/>
          <p:cNvSpPr/>
          <p:nvPr/>
        </p:nvSpPr>
        <p:spPr>
          <a:xfrm>
            <a:off x="457200" y="2834640"/>
            <a:ext cx="160020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BC1</a:t>
            </a:r>
            <a:endParaRPr lang="en-US" sz="1100" dirty="0"/>
          </a:p>
        </p:txBody>
      </p:sp>
      <p:sp>
        <p:nvSpPr>
          <p:cNvPr id="9" name="Text 7"/>
          <p:cNvSpPr/>
          <p:nvPr/>
        </p:nvSpPr>
        <p:spPr>
          <a:xfrm>
            <a:off x="457200" y="3072384"/>
            <a:ext cx="1600200" cy="182880"/>
          </a:xfrm>
          <a:prstGeom prst="rect">
            <a:avLst/>
          </a:prstGeom>
          <a:noFill/>
          <a:ln/>
        </p:spPr>
        <p:txBody>
          <a:bodyPr wrap="square" lIns="0" tIns="0" rIns="0" bIns="0" rtlCol="0" anchor="ctr"/>
          <a:lstStyle/>
          <a:p>
            <a:pPr algn="ctr" indent="0" marL="0">
              <a:buNone/>
            </a:pPr>
            <a:r>
              <a:rPr lang="en-US" sz="800" dirty="0">
                <a:solidFill>
                  <a:srgbClr val="CCCCFF"/>
                </a:solidFill>
                <a:latin typeface="Calibri" pitchFamily="34" charset="0"/>
                <a:ea typeface="Calibri" pitchFamily="34" charset="-122"/>
                <a:cs typeface="Calibri" pitchFamily="34" charset="-120"/>
              </a:rPr>
              <a:t>Decoding Transaction Dynamics</a:t>
            </a:r>
            <a:endParaRPr lang="en-US" sz="800" dirty="0"/>
          </a:p>
        </p:txBody>
      </p:sp>
      <p:sp>
        <p:nvSpPr>
          <p:cNvPr id="10" name="Shape 8"/>
          <p:cNvSpPr/>
          <p:nvPr/>
        </p:nvSpPr>
        <p:spPr>
          <a:xfrm>
            <a:off x="2194560" y="2788920"/>
            <a:ext cx="1600200" cy="457200"/>
          </a:xfrm>
          <a:prstGeom prst="rect">
            <a:avLst/>
          </a:prstGeom>
          <a:solidFill>
            <a:srgbClr val="5F2EEA">
              <a:alpha val="40000"/>
            </a:srgbClr>
          </a:solidFill>
          <a:ln w="10160">
            <a:solidFill>
              <a:srgbClr val="5F2EEA"/>
            </a:solidFill>
            <a:prstDash val="solid"/>
          </a:ln>
        </p:spPr>
      </p:sp>
      <p:sp>
        <p:nvSpPr>
          <p:cNvPr id="11" name="Text 9"/>
          <p:cNvSpPr/>
          <p:nvPr/>
        </p:nvSpPr>
        <p:spPr>
          <a:xfrm>
            <a:off x="2194560" y="2834640"/>
            <a:ext cx="160020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BC2</a:t>
            </a:r>
            <a:endParaRPr lang="en-US" sz="1100" dirty="0"/>
          </a:p>
        </p:txBody>
      </p:sp>
      <p:sp>
        <p:nvSpPr>
          <p:cNvPr id="12" name="Text 10"/>
          <p:cNvSpPr/>
          <p:nvPr/>
        </p:nvSpPr>
        <p:spPr>
          <a:xfrm>
            <a:off x="2194560" y="3072384"/>
            <a:ext cx="1600200" cy="182880"/>
          </a:xfrm>
          <a:prstGeom prst="rect">
            <a:avLst/>
          </a:prstGeom>
          <a:noFill/>
          <a:ln/>
        </p:spPr>
        <p:txBody>
          <a:bodyPr wrap="square" lIns="0" tIns="0" rIns="0" bIns="0" rtlCol="0" anchor="ctr"/>
          <a:lstStyle/>
          <a:p>
            <a:pPr algn="ctr" indent="0" marL="0">
              <a:buNone/>
            </a:pPr>
            <a:r>
              <a:rPr lang="en-US" sz="800" dirty="0">
                <a:solidFill>
                  <a:srgbClr val="CCCCFF"/>
                </a:solidFill>
                <a:latin typeface="Calibri" pitchFamily="34" charset="0"/>
                <a:ea typeface="Calibri" pitchFamily="34" charset="-122"/>
                <a:cs typeface="Calibri" pitchFamily="34" charset="-120"/>
              </a:rPr>
              <a:t>Device Dominance &amp; User Engagement</a:t>
            </a:r>
            <a:endParaRPr lang="en-US" sz="800" dirty="0"/>
          </a:p>
        </p:txBody>
      </p:sp>
      <p:sp>
        <p:nvSpPr>
          <p:cNvPr id="13" name="Shape 11"/>
          <p:cNvSpPr/>
          <p:nvPr/>
        </p:nvSpPr>
        <p:spPr>
          <a:xfrm>
            <a:off x="3931920" y="2788920"/>
            <a:ext cx="1600200" cy="457200"/>
          </a:xfrm>
          <a:prstGeom prst="rect">
            <a:avLst/>
          </a:prstGeom>
          <a:solidFill>
            <a:srgbClr val="5F2EEA">
              <a:alpha val="40000"/>
            </a:srgbClr>
          </a:solidFill>
          <a:ln w="10160">
            <a:solidFill>
              <a:srgbClr val="5F2EEA"/>
            </a:solidFill>
            <a:prstDash val="solid"/>
          </a:ln>
        </p:spPr>
      </p:sp>
      <p:sp>
        <p:nvSpPr>
          <p:cNvPr id="14" name="Text 12"/>
          <p:cNvSpPr/>
          <p:nvPr/>
        </p:nvSpPr>
        <p:spPr>
          <a:xfrm>
            <a:off x="3931920" y="2834640"/>
            <a:ext cx="160020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BC3</a:t>
            </a:r>
            <a:endParaRPr lang="en-US" sz="1100" dirty="0"/>
          </a:p>
        </p:txBody>
      </p:sp>
      <p:sp>
        <p:nvSpPr>
          <p:cNvPr id="15" name="Text 13"/>
          <p:cNvSpPr/>
          <p:nvPr/>
        </p:nvSpPr>
        <p:spPr>
          <a:xfrm>
            <a:off x="3931920" y="3072384"/>
            <a:ext cx="1600200" cy="182880"/>
          </a:xfrm>
          <a:prstGeom prst="rect">
            <a:avLst/>
          </a:prstGeom>
          <a:noFill/>
          <a:ln/>
        </p:spPr>
        <p:txBody>
          <a:bodyPr wrap="square" lIns="0" tIns="0" rIns="0" bIns="0" rtlCol="0" anchor="ctr"/>
          <a:lstStyle/>
          <a:p>
            <a:pPr algn="ctr" indent="0" marL="0">
              <a:buNone/>
            </a:pPr>
            <a:r>
              <a:rPr lang="en-US" sz="800" dirty="0">
                <a:solidFill>
                  <a:srgbClr val="CCCCFF"/>
                </a:solidFill>
                <a:latin typeface="Calibri" pitchFamily="34" charset="0"/>
                <a:ea typeface="Calibri" pitchFamily="34" charset="-122"/>
                <a:cs typeface="Calibri" pitchFamily="34" charset="-120"/>
              </a:rPr>
              <a:t>Insurance Penetration &amp; Growth</a:t>
            </a:r>
            <a:endParaRPr lang="en-US" sz="800" dirty="0"/>
          </a:p>
        </p:txBody>
      </p:sp>
      <p:sp>
        <p:nvSpPr>
          <p:cNvPr id="16" name="Shape 14"/>
          <p:cNvSpPr/>
          <p:nvPr/>
        </p:nvSpPr>
        <p:spPr>
          <a:xfrm>
            <a:off x="5669280" y="2788920"/>
            <a:ext cx="1600200" cy="457200"/>
          </a:xfrm>
          <a:prstGeom prst="rect">
            <a:avLst/>
          </a:prstGeom>
          <a:solidFill>
            <a:srgbClr val="5F2EEA">
              <a:alpha val="40000"/>
            </a:srgbClr>
          </a:solidFill>
          <a:ln w="10160">
            <a:solidFill>
              <a:srgbClr val="5F2EEA"/>
            </a:solidFill>
            <a:prstDash val="solid"/>
          </a:ln>
        </p:spPr>
      </p:sp>
      <p:sp>
        <p:nvSpPr>
          <p:cNvPr id="17" name="Text 15"/>
          <p:cNvSpPr/>
          <p:nvPr/>
        </p:nvSpPr>
        <p:spPr>
          <a:xfrm>
            <a:off x="5669280" y="2834640"/>
            <a:ext cx="160020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BC7</a:t>
            </a:r>
            <a:endParaRPr lang="en-US" sz="1100" dirty="0"/>
          </a:p>
        </p:txBody>
      </p:sp>
      <p:sp>
        <p:nvSpPr>
          <p:cNvPr id="18" name="Text 16"/>
          <p:cNvSpPr/>
          <p:nvPr/>
        </p:nvSpPr>
        <p:spPr>
          <a:xfrm>
            <a:off x="5669280" y="3072384"/>
            <a:ext cx="1600200" cy="182880"/>
          </a:xfrm>
          <a:prstGeom prst="rect">
            <a:avLst/>
          </a:prstGeom>
          <a:noFill/>
          <a:ln/>
        </p:spPr>
        <p:txBody>
          <a:bodyPr wrap="square" lIns="0" tIns="0" rIns="0" bIns="0" rtlCol="0" anchor="ctr"/>
          <a:lstStyle/>
          <a:p>
            <a:pPr algn="ctr" indent="0" marL="0">
              <a:buNone/>
            </a:pPr>
            <a:r>
              <a:rPr lang="en-US" sz="800" dirty="0">
                <a:solidFill>
                  <a:srgbClr val="CCCCFF"/>
                </a:solidFill>
                <a:latin typeface="Calibri" pitchFamily="34" charset="0"/>
                <a:ea typeface="Calibri" pitchFamily="34" charset="-122"/>
                <a:cs typeface="Calibri" pitchFamily="34" charset="-120"/>
              </a:rPr>
              <a:t>Transaction Analysis: States &amp; Districts</a:t>
            </a:r>
            <a:endParaRPr lang="en-US" sz="800" dirty="0"/>
          </a:p>
        </p:txBody>
      </p:sp>
      <p:sp>
        <p:nvSpPr>
          <p:cNvPr id="19" name="Shape 17"/>
          <p:cNvSpPr/>
          <p:nvPr/>
        </p:nvSpPr>
        <p:spPr>
          <a:xfrm>
            <a:off x="7406640" y="2788920"/>
            <a:ext cx="1600200" cy="457200"/>
          </a:xfrm>
          <a:prstGeom prst="rect">
            <a:avLst/>
          </a:prstGeom>
          <a:solidFill>
            <a:srgbClr val="5F2EEA">
              <a:alpha val="40000"/>
            </a:srgbClr>
          </a:solidFill>
          <a:ln w="10160">
            <a:solidFill>
              <a:srgbClr val="5F2EEA"/>
            </a:solidFill>
            <a:prstDash val="solid"/>
          </a:ln>
        </p:spPr>
      </p:sp>
      <p:sp>
        <p:nvSpPr>
          <p:cNvPr id="20" name="Text 18"/>
          <p:cNvSpPr/>
          <p:nvPr/>
        </p:nvSpPr>
        <p:spPr>
          <a:xfrm>
            <a:off x="7406640" y="2834640"/>
            <a:ext cx="160020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BC8</a:t>
            </a:r>
            <a:endParaRPr lang="en-US" sz="1100" dirty="0"/>
          </a:p>
        </p:txBody>
      </p:sp>
      <p:sp>
        <p:nvSpPr>
          <p:cNvPr id="21" name="Text 19"/>
          <p:cNvSpPr/>
          <p:nvPr/>
        </p:nvSpPr>
        <p:spPr>
          <a:xfrm>
            <a:off x="7406640" y="3072384"/>
            <a:ext cx="1600200" cy="182880"/>
          </a:xfrm>
          <a:prstGeom prst="rect">
            <a:avLst/>
          </a:prstGeom>
          <a:noFill/>
          <a:ln/>
        </p:spPr>
        <p:txBody>
          <a:bodyPr wrap="square" lIns="0" tIns="0" rIns="0" bIns="0" rtlCol="0" anchor="ctr"/>
          <a:lstStyle/>
          <a:p>
            <a:pPr algn="ctr" indent="0" marL="0">
              <a:buNone/>
            </a:pPr>
            <a:r>
              <a:rPr lang="en-US" sz="800" dirty="0">
                <a:solidFill>
                  <a:srgbClr val="CCCCFF"/>
                </a:solidFill>
                <a:latin typeface="Calibri" pitchFamily="34" charset="0"/>
                <a:ea typeface="Calibri" pitchFamily="34" charset="-122"/>
                <a:cs typeface="Calibri" pitchFamily="34" charset="-120"/>
              </a:rPr>
              <a:t>User Registration Analysis</a:t>
            </a:r>
            <a:endParaRPr lang="en-US" sz="800" dirty="0"/>
          </a:p>
        </p:txBody>
      </p:sp>
      <p:sp>
        <p:nvSpPr>
          <p:cNvPr id="22" name="Text 20"/>
          <p:cNvSpPr/>
          <p:nvPr/>
        </p:nvSpPr>
        <p:spPr>
          <a:xfrm>
            <a:off x="457200" y="3429000"/>
            <a:ext cx="8229600" cy="292608"/>
          </a:xfrm>
          <a:prstGeom prst="rect">
            <a:avLst/>
          </a:prstGeom>
          <a:noFill/>
          <a:ln/>
        </p:spPr>
        <p:txBody>
          <a:bodyPr wrap="square" lIns="0" tIns="0" rIns="0" bIns="0" rtlCol="0" anchor="ctr"/>
          <a:lstStyle/>
          <a:p>
            <a:pPr indent="0" marL="0">
              <a:buNone/>
            </a:pPr>
            <a:r>
              <a:rPr lang="en-US" sz="1100" dirty="0">
                <a:solidFill>
                  <a:srgbClr val="888888"/>
                </a:solidFill>
                <a:latin typeface="Calibri" pitchFamily="34" charset="0"/>
                <a:ea typeface="Calibri" pitchFamily="34" charset="-122"/>
                <a:cs typeface="Calibri" pitchFamily="34" charset="-120"/>
              </a:rPr>
              <a:t>Finance / Payment Systems  •  GUVI × HCL  •  Python  •  SQL  •  Streamlit</a:t>
            </a:r>
            <a:endParaRPr lang="en-US" sz="1100" dirty="0"/>
          </a:p>
        </p:txBody>
      </p:sp>
      <p:sp>
        <p:nvSpPr>
          <p:cNvPr id="23" name="Text 21"/>
          <p:cNvSpPr/>
          <p:nvPr/>
        </p:nvSpPr>
        <p:spPr>
          <a:xfrm>
            <a:off x="8046720" y="4800600"/>
            <a:ext cx="914400" cy="274320"/>
          </a:xfrm>
          <a:prstGeom prst="rect">
            <a:avLst/>
          </a:prstGeom>
          <a:noFill/>
          <a:ln/>
        </p:spPr>
        <p:txBody>
          <a:bodyPr wrap="square" lIns="0" tIns="0" rIns="0" bIns="0" rtlCol="0" anchor="ctr"/>
          <a:lstStyle/>
          <a:p>
            <a:pPr indent="0" marL="0">
              <a:buNone/>
            </a:pPr>
            <a:r>
              <a:rPr lang="en-US" sz="900" dirty="0">
                <a:solidFill>
                  <a:srgbClr val="555555"/>
                </a:solidFill>
                <a:latin typeface="Calibri" pitchFamily="34" charset="0"/>
                <a:ea typeface="Calibri" pitchFamily="34" charset="-122"/>
                <a:cs typeface="Calibri" pitchFamily="34" charset="-120"/>
              </a:rPr>
              <a:t>1 / 18</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1E2E"/>
          </a:solidFill>
          <a:ln/>
        </p:spPr>
      </p:sp>
      <p:sp>
        <p:nvSpPr>
          <p:cNvPr id="3" name="Shape 1"/>
          <p:cNvSpPr/>
          <p:nvPr/>
        </p:nvSpPr>
        <p:spPr>
          <a:xfrm>
            <a:off x="0" y="4828032"/>
            <a:ext cx="9144000" cy="315468"/>
          </a:xfrm>
          <a:prstGeom prst="rect">
            <a:avLst/>
          </a:prstGeom>
          <a:solidFill>
            <a:srgbClr val="5F2EEA">
              <a:alpha val="75000"/>
            </a:srgbClr>
          </a:solidFill>
          <a:ln/>
        </p:spPr>
      </p:sp>
      <p:sp>
        <p:nvSpPr>
          <p:cNvPr id="4" name="Text 2"/>
          <p:cNvSpPr/>
          <p:nvPr/>
        </p:nvSpPr>
        <p:spPr>
          <a:xfrm>
            <a:off x="274320" y="118872"/>
            <a:ext cx="8595360" cy="45720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Overview – 5 Selected Business Cases</a:t>
            </a:r>
            <a:endParaRPr lang="en-US" sz="2100" dirty="0"/>
          </a:p>
        </p:txBody>
      </p:sp>
      <p:sp>
        <p:nvSpPr>
          <p:cNvPr id="5" name="Text 3"/>
          <p:cNvSpPr/>
          <p:nvPr/>
        </p:nvSpPr>
        <p:spPr>
          <a:xfrm>
            <a:off x="182880" y="4846320"/>
            <a:ext cx="8778240" cy="237744"/>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PhonePe  •  5 Business Case Studies  •  2 / 18</a:t>
            </a:r>
            <a:endParaRPr lang="en-US" sz="900" dirty="0"/>
          </a:p>
        </p:txBody>
      </p:sp>
      <p:sp>
        <p:nvSpPr>
          <p:cNvPr id="6" name="Shape 4"/>
          <p:cNvSpPr/>
          <p:nvPr/>
        </p:nvSpPr>
        <p:spPr>
          <a:xfrm>
            <a:off x="228600" y="822960"/>
            <a:ext cx="2788920" cy="1828800"/>
          </a:xfrm>
          <a:prstGeom prst="rect">
            <a:avLst/>
          </a:prstGeom>
          <a:solidFill>
            <a:srgbClr val="FFFFFF"/>
          </a:solidFill>
          <a:ln w="6350">
            <a:solidFill>
              <a:srgbClr val="EEEEEE"/>
            </a:solidFill>
            <a:prstDash val="solid"/>
          </a:ln>
          <a:effectLst>
            <a:outerShdw sx="100000" sy="100000" kx="0" ky="0" algn="bl" rotWithShape="0" blurRad="101600" dist="38100" dir="8100000">
              <a:srgbClr val="000000">
                <a:alpha val="12000"/>
              </a:srgbClr>
            </a:outerShdw>
          </a:effectLst>
        </p:spPr>
      </p:sp>
      <p:sp>
        <p:nvSpPr>
          <p:cNvPr id="7" name="Shape 5"/>
          <p:cNvSpPr/>
          <p:nvPr/>
        </p:nvSpPr>
        <p:spPr>
          <a:xfrm>
            <a:off x="228600" y="822960"/>
            <a:ext cx="2788920" cy="347472"/>
          </a:xfrm>
          <a:prstGeom prst="rect">
            <a:avLst/>
          </a:prstGeom>
          <a:solidFill>
            <a:srgbClr val="5F2EEA"/>
          </a:solidFill>
          <a:ln/>
        </p:spPr>
      </p:sp>
      <p:sp>
        <p:nvSpPr>
          <p:cNvPr id="8" name="Text 6"/>
          <p:cNvSpPr/>
          <p:nvPr/>
        </p:nvSpPr>
        <p:spPr>
          <a:xfrm>
            <a:off x="320040" y="868680"/>
            <a:ext cx="2624328"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BC1: Decoding Transaction Dynamics</a:t>
            </a:r>
            <a:endParaRPr lang="en-US" sz="1100" dirty="0"/>
          </a:p>
        </p:txBody>
      </p:sp>
      <p:sp>
        <p:nvSpPr>
          <p:cNvPr id="9" name="Text 7"/>
          <p:cNvSpPr/>
          <p:nvPr/>
        </p:nvSpPr>
        <p:spPr>
          <a:xfrm>
            <a:off x="320040" y="1243584"/>
            <a:ext cx="2624328" cy="1325880"/>
          </a:xfrm>
          <a:prstGeom prst="rect">
            <a:avLst/>
          </a:prstGeom>
          <a:noFill/>
          <a:ln/>
        </p:spPr>
        <p:txBody>
          <a:bodyPr wrap="square" lIns="0" tIns="0" rIns="0" bIns="0" rtlCol="0" anchor="ctr"/>
          <a:lstStyle/>
          <a:p>
            <a:pPr indent="0" marL="0">
              <a:buNone/>
            </a:pPr>
            <a:r>
              <a:rPr lang="en-US" sz="1000" dirty="0">
                <a:solidFill>
                  <a:srgbClr val="444444"/>
                </a:solidFill>
                <a:latin typeface="Calibri" pitchFamily="34" charset="0"/>
                <a:ea typeface="Calibri" pitchFamily="34" charset="-122"/>
                <a:cs typeface="Calibri" pitchFamily="34" charset="-120"/>
              </a:rPr>
              <a:t>Analyze QoQ/YoY variations across states, quarters &amp; payment categories. Identify growth, stagnation, and decline patterns.</a:t>
            </a:r>
            <a:endParaRPr lang="en-US" sz="1000" dirty="0"/>
          </a:p>
        </p:txBody>
      </p:sp>
      <p:sp>
        <p:nvSpPr>
          <p:cNvPr id="10" name="Shape 8"/>
          <p:cNvSpPr/>
          <p:nvPr/>
        </p:nvSpPr>
        <p:spPr>
          <a:xfrm>
            <a:off x="3200400" y="822960"/>
            <a:ext cx="2788920" cy="1828800"/>
          </a:xfrm>
          <a:prstGeom prst="rect">
            <a:avLst/>
          </a:prstGeom>
          <a:solidFill>
            <a:srgbClr val="FFFFFF"/>
          </a:solidFill>
          <a:ln w="6350">
            <a:solidFill>
              <a:srgbClr val="EEEEEE"/>
            </a:solidFill>
            <a:prstDash val="solid"/>
          </a:ln>
          <a:effectLst>
            <a:outerShdw sx="100000" sy="100000" kx="0" ky="0" algn="bl" rotWithShape="0" blurRad="101600" dist="38100" dir="8100000">
              <a:srgbClr val="000000">
                <a:alpha val="12000"/>
              </a:srgbClr>
            </a:outerShdw>
          </a:effectLst>
        </p:spPr>
      </p:sp>
      <p:sp>
        <p:nvSpPr>
          <p:cNvPr id="11" name="Shape 9"/>
          <p:cNvSpPr/>
          <p:nvPr/>
        </p:nvSpPr>
        <p:spPr>
          <a:xfrm>
            <a:off x="3200400" y="822960"/>
            <a:ext cx="2788920" cy="347472"/>
          </a:xfrm>
          <a:prstGeom prst="rect">
            <a:avLst/>
          </a:prstGeom>
          <a:solidFill>
            <a:srgbClr val="00B9F1"/>
          </a:solidFill>
          <a:ln/>
        </p:spPr>
      </p:sp>
      <p:sp>
        <p:nvSpPr>
          <p:cNvPr id="12" name="Text 10"/>
          <p:cNvSpPr/>
          <p:nvPr/>
        </p:nvSpPr>
        <p:spPr>
          <a:xfrm>
            <a:off x="3291840" y="868680"/>
            <a:ext cx="2624328"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BC2: Device Dominance &amp; User Engagement</a:t>
            </a:r>
            <a:endParaRPr lang="en-US" sz="1100" dirty="0"/>
          </a:p>
        </p:txBody>
      </p:sp>
      <p:sp>
        <p:nvSpPr>
          <p:cNvPr id="13" name="Text 11"/>
          <p:cNvSpPr/>
          <p:nvPr/>
        </p:nvSpPr>
        <p:spPr>
          <a:xfrm>
            <a:off x="3291840" y="1243584"/>
            <a:ext cx="2624328" cy="1325880"/>
          </a:xfrm>
          <a:prstGeom prst="rect">
            <a:avLst/>
          </a:prstGeom>
          <a:noFill/>
          <a:ln/>
        </p:spPr>
        <p:txBody>
          <a:bodyPr wrap="square" lIns="0" tIns="0" rIns="0" bIns="0" rtlCol="0" anchor="ctr"/>
          <a:lstStyle/>
          <a:p>
            <a:pPr indent="0" marL="0">
              <a:buNone/>
            </a:pPr>
            <a:r>
              <a:rPr lang="en-US" sz="1000" dirty="0">
                <a:solidFill>
                  <a:srgbClr val="444444"/>
                </a:solidFill>
                <a:latin typeface="Calibri" pitchFamily="34" charset="0"/>
                <a:ea typeface="Calibri" pitchFamily="34" charset="-122"/>
                <a:cs typeface="Calibri" pitchFamily="34" charset="-120"/>
              </a:rPr>
              <a:t>Measure device brand market share, engagement ratios, and identify underutilised brands by region.</a:t>
            </a:r>
            <a:endParaRPr lang="en-US" sz="1000" dirty="0"/>
          </a:p>
        </p:txBody>
      </p:sp>
      <p:sp>
        <p:nvSpPr>
          <p:cNvPr id="14" name="Shape 12"/>
          <p:cNvSpPr/>
          <p:nvPr/>
        </p:nvSpPr>
        <p:spPr>
          <a:xfrm>
            <a:off x="6172200" y="822960"/>
            <a:ext cx="2788920" cy="1828800"/>
          </a:xfrm>
          <a:prstGeom prst="rect">
            <a:avLst/>
          </a:prstGeom>
          <a:solidFill>
            <a:srgbClr val="FFFFFF"/>
          </a:solidFill>
          <a:ln w="6350">
            <a:solidFill>
              <a:srgbClr val="EEEEEE"/>
            </a:solidFill>
            <a:prstDash val="solid"/>
          </a:ln>
          <a:effectLst>
            <a:outerShdw sx="100000" sy="100000" kx="0" ky="0" algn="bl" rotWithShape="0" blurRad="101600" dist="38100" dir="8100000">
              <a:srgbClr val="000000">
                <a:alpha val="12000"/>
              </a:srgbClr>
            </a:outerShdw>
          </a:effectLst>
        </p:spPr>
      </p:sp>
      <p:sp>
        <p:nvSpPr>
          <p:cNvPr id="15" name="Shape 13"/>
          <p:cNvSpPr/>
          <p:nvPr/>
        </p:nvSpPr>
        <p:spPr>
          <a:xfrm>
            <a:off x="6172200" y="822960"/>
            <a:ext cx="2788920" cy="347472"/>
          </a:xfrm>
          <a:prstGeom prst="rect">
            <a:avLst/>
          </a:prstGeom>
          <a:solidFill>
            <a:srgbClr val="FF6B35"/>
          </a:solidFill>
          <a:ln/>
        </p:spPr>
      </p:sp>
      <p:sp>
        <p:nvSpPr>
          <p:cNvPr id="16" name="Text 14"/>
          <p:cNvSpPr/>
          <p:nvPr/>
        </p:nvSpPr>
        <p:spPr>
          <a:xfrm>
            <a:off x="6263640" y="868680"/>
            <a:ext cx="2624328"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BC3: Insurance Penetration &amp; Growth</a:t>
            </a:r>
            <a:endParaRPr lang="en-US" sz="1100" dirty="0"/>
          </a:p>
        </p:txBody>
      </p:sp>
      <p:sp>
        <p:nvSpPr>
          <p:cNvPr id="17" name="Text 15"/>
          <p:cNvSpPr/>
          <p:nvPr/>
        </p:nvSpPr>
        <p:spPr>
          <a:xfrm>
            <a:off x="6263640" y="1243584"/>
            <a:ext cx="2624328" cy="1325880"/>
          </a:xfrm>
          <a:prstGeom prst="rect">
            <a:avLst/>
          </a:prstGeom>
          <a:noFill/>
          <a:ln/>
        </p:spPr>
        <p:txBody>
          <a:bodyPr wrap="square" lIns="0" tIns="0" rIns="0" bIns="0" rtlCol="0" anchor="ctr"/>
          <a:lstStyle/>
          <a:p>
            <a:pPr indent="0" marL="0">
              <a:buNone/>
            </a:pPr>
            <a:r>
              <a:rPr lang="en-US" sz="1000" dirty="0">
                <a:solidFill>
                  <a:srgbClr val="444444"/>
                </a:solidFill>
                <a:latin typeface="Calibri" pitchFamily="34" charset="0"/>
                <a:ea typeface="Calibri" pitchFamily="34" charset="-122"/>
                <a:cs typeface="Calibri" pitchFamily="34" charset="-120"/>
              </a:rPr>
              <a:t>Track insurance growth trajectory, compute penetration rates, and build opportunity scores for untapped states.</a:t>
            </a:r>
            <a:endParaRPr lang="en-US" sz="1000" dirty="0"/>
          </a:p>
        </p:txBody>
      </p:sp>
      <p:sp>
        <p:nvSpPr>
          <p:cNvPr id="18" name="Shape 16"/>
          <p:cNvSpPr/>
          <p:nvPr/>
        </p:nvSpPr>
        <p:spPr>
          <a:xfrm>
            <a:off x="1485900" y="2834640"/>
            <a:ext cx="2788920" cy="1828800"/>
          </a:xfrm>
          <a:prstGeom prst="rect">
            <a:avLst/>
          </a:prstGeom>
          <a:solidFill>
            <a:srgbClr val="FFFFFF"/>
          </a:solidFill>
          <a:ln w="6350">
            <a:solidFill>
              <a:srgbClr val="EEEEEE"/>
            </a:solidFill>
            <a:prstDash val="solid"/>
          </a:ln>
          <a:effectLst>
            <a:outerShdw sx="100000" sy="100000" kx="0" ky="0" algn="bl" rotWithShape="0" blurRad="101600" dist="38100" dir="8100000">
              <a:srgbClr val="000000">
                <a:alpha val="12000"/>
              </a:srgbClr>
            </a:outerShdw>
          </a:effectLst>
        </p:spPr>
      </p:sp>
      <p:sp>
        <p:nvSpPr>
          <p:cNvPr id="19" name="Shape 17"/>
          <p:cNvSpPr/>
          <p:nvPr/>
        </p:nvSpPr>
        <p:spPr>
          <a:xfrm>
            <a:off x="1485900" y="2834640"/>
            <a:ext cx="2788920" cy="347472"/>
          </a:xfrm>
          <a:prstGeom prst="rect">
            <a:avLst/>
          </a:prstGeom>
          <a:solidFill>
            <a:srgbClr val="00C48C"/>
          </a:solidFill>
          <a:ln/>
        </p:spPr>
      </p:sp>
      <p:sp>
        <p:nvSpPr>
          <p:cNvPr id="20" name="Text 18"/>
          <p:cNvSpPr/>
          <p:nvPr/>
        </p:nvSpPr>
        <p:spPr>
          <a:xfrm>
            <a:off x="1577340" y="2880360"/>
            <a:ext cx="2624328"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BC7: Transaction Analysis: States &amp; Districts</a:t>
            </a:r>
            <a:endParaRPr lang="en-US" sz="1100" dirty="0"/>
          </a:p>
        </p:txBody>
      </p:sp>
      <p:sp>
        <p:nvSpPr>
          <p:cNvPr id="21" name="Text 19"/>
          <p:cNvSpPr/>
          <p:nvPr/>
        </p:nvSpPr>
        <p:spPr>
          <a:xfrm>
            <a:off x="1577340" y="3255264"/>
            <a:ext cx="2624328" cy="1325880"/>
          </a:xfrm>
          <a:prstGeom prst="rect">
            <a:avLst/>
          </a:prstGeom>
          <a:noFill/>
          <a:ln/>
        </p:spPr>
        <p:txBody>
          <a:bodyPr wrap="square" lIns="0" tIns="0" rIns="0" bIns="0" rtlCol="0" anchor="ctr"/>
          <a:lstStyle/>
          <a:p>
            <a:pPr indent="0" marL="0">
              <a:buNone/>
            </a:pPr>
            <a:r>
              <a:rPr lang="en-US" sz="1000" dirty="0">
                <a:solidFill>
                  <a:srgbClr val="444444"/>
                </a:solidFill>
                <a:latin typeface="Calibri" pitchFamily="34" charset="0"/>
                <a:ea typeface="Calibri" pitchFamily="34" charset="-122"/>
                <a:cs typeface="Calibri" pitchFamily="34" charset="-120"/>
              </a:rPr>
              <a:t>Rank top states, districts &amp; pin codes by volume and value. Measure concentration with HHI index.</a:t>
            </a:r>
            <a:endParaRPr lang="en-US" sz="1000" dirty="0"/>
          </a:p>
        </p:txBody>
      </p:sp>
      <p:sp>
        <p:nvSpPr>
          <p:cNvPr id="22" name="Shape 20"/>
          <p:cNvSpPr/>
          <p:nvPr/>
        </p:nvSpPr>
        <p:spPr>
          <a:xfrm>
            <a:off x="4457700" y="2834640"/>
            <a:ext cx="2788920" cy="1828800"/>
          </a:xfrm>
          <a:prstGeom prst="rect">
            <a:avLst/>
          </a:prstGeom>
          <a:solidFill>
            <a:srgbClr val="FFFFFF"/>
          </a:solidFill>
          <a:ln w="6350">
            <a:solidFill>
              <a:srgbClr val="EEEEEE"/>
            </a:solidFill>
            <a:prstDash val="solid"/>
          </a:ln>
          <a:effectLst>
            <a:outerShdw sx="100000" sy="100000" kx="0" ky="0" algn="bl" rotWithShape="0" blurRad="101600" dist="38100" dir="8100000">
              <a:srgbClr val="000000">
                <a:alpha val="12000"/>
              </a:srgbClr>
            </a:outerShdw>
          </a:effectLst>
        </p:spPr>
      </p:sp>
      <p:sp>
        <p:nvSpPr>
          <p:cNvPr id="23" name="Shape 21"/>
          <p:cNvSpPr/>
          <p:nvPr/>
        </p:nvSpPr>
        <p:spPr>
          <a:xfrm>
            <a:off x="4457700" y="2834640"/>
            <a:ext cx="2788920" cy="347472"/>
          </a:xfrm>
          <a:prstGeom prst="rect">
            <a:avLst/>
          </a:prstGeom>
          <a:solidFill>
            <a:srgbClr val="7C3AED"/>
          </a:solidFill>
          <a:ln/>
        </p:spPr>
      </p:sp>
      <p:sp>
        <p:nvSpPr>
          <p:cNvPr id="24" name="Text 22"/>
          <p:cNvSpPr/>
          <p:nvPr/>
        </p:nvSpPr>
        <p:spPr>
          <a:xfrm>
            <a:off x="4549140" y="2880360"/>
            <a:ext cx="2624328"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BC8: User Registration Analysis</a:t>
            </a:r>
            <a:endParaRPr lang="en-US" sz="1100" dirty="0"/>
          </a:p>
        </p:txBody>
      </p:sp>
      <p:sp>
        <p:nvSpPr>
          <p:cNvPr id="25" name="Text 23"/>
          <p:cNvSpPr/>
          <p:nvPr/>
        </p:nvSpPr>
        <p:spPr>
          <a:xfrm>
            <a:off x="4549140" y="3255264"/>
            <a:ext cx="2624328" cy="1325880"/>
          </a:xfrm>
          <a:prstGeom prst="rect">
            <a:avLst/>
          </a:prstGeom>
          <a:noFill/>
          <a:ln/>
        </p:spPr>
        <p:txBody>
          <a:bodyPr wrap="square" lIns="0" tIns="0" rIns="0" bIns="0" rtlCol="0" anchor="ctr"/>
          <a:lstStyle/>
          <a:p>
            <a:pPr indent="0" marL="0">
              <a:buNone/>
            </a:pPr>
            <a:r>
              <a:rPr lang="en-US" sz="1000" dirty="0">
                <a:solidFill>
                  <a:srgbClr val="444444"/>
                </a:solidFill>
                <a:latin typeface="Calibri" pitchFamily="34" charset="0"/>
                <a:ea typeface="Calibri" pitchFamily="34" charset="-122"/>
                <a:cs typeface="Calibri" pitchFamily="34" charset="-120"/>
              </a:rPr>
              <a:t>Identify top registering states, districts &amp; pin codes per quarter. Detect growth hotspots and declining markets.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1E2E"/>
          </a:solidFill>
          <a:ln/>
        </p:spPr>
      </p:sp>
      <p:sp>
        <p:nvSpPr>
          <p:cNvPr id="3" name="Shape 1"/>
          <p:cNvSpPr/>
          <p:nvPr/>
        </p:nvSpPr>
        <p:spPr>
          <a:xfrm>
            <a:off x="0" y="4828032"/>
            <a:ext cx="9144000" cy="315468"/>
          </a:xfrm>
          <a:prstGeom prst="rect">
            <a:avLst/>
          </a:prstGeom>
          <a:solidFill>
            <a:srgbClr val="5F2EEA">
              <a:alpha val="75000"/>
            </a:srgbClr>
          </a:solidFill>
          <a:ln/>
        </p:spPr>
      </p:sp>
      <p:sp>
        <p:nvSpPr>
          <p:cNvPr id="4" name="Text 2"/>
          <p:cNvSpPr/>
          <p:nvPr/>
        </p:nvSpPr>
        <p:spPr>
          <a:xfrm>
            <a:off x="274320" y="118872"/>
            <a:ext cx="8595360" cy="45720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BC1: Decoding Transaction Dynamics – Scenario &amp; Approach</a:t>
            </a:r>
            <a:endParaRPr lang="en-US" sz="2100" dirty="0"/>
          </a:p>
        </p:txBody>
      </p:sp>
      <p:sp>
        <p:nvSpPr>
          <p:cNvPr id="5" name="Text 3"/>
          <p:cNvSpPr/>
          <p:nvPr/>
        </p:nvSpPr>
        <p:spPr>
          <a:xfrm>
            <a:off x="182880" y="4846320"/>
            <a:ext cx="8778240" cy="237744"/>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PhonePe  •  5 Business Case Studies  •  3 / 18</a:t>
            </a:r>
            <a:endParaRPr lang="en-US" sz="900" dirty="0"/>
          </a:p>
        </p:txBody>
      </p:sp>
      <p:sp>
        <p:nvSpPr>
          <p:cNvPr id="6" name="Shape 4"/>
          <p:cNvSpPr/>
          <p:nvPr/>
        </p:nvSpPr>
        <p:spPr>
          <a:xfrm>
            <a:off x="274320" y="777240"/>
            <a:ext cx="1005840" cy="347472"/>
          </a:xfrm>
          <a:prstGeom prst="rect">
            <a:avLst/>
          </a:prstGeom>
          <a:solidFill>
            <a:srgbClr val="5F2EEA"/>
          </a:solidFill>
          <a:ln/>
        </p:spPr>
      </p:sp>
      <p:sp>
        <p:nvSpPr>
          <p:cNvPr id="7" name="Text 5"/>
          <p:cNvSpPr/>
          <p:nvPr/>
        </p:nvSpPr>
        <p:spPr>
          <a:xfrm>
            <a:off x="274320" y="777240"/>
            <a:ext cx="100584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BC1</a:t>
            </a:r>
            <a:endParaRPr lang="en-US" sz="1300" dirty="0"/>
          </a:p>
        </p:txBody>
      </p:sp>
      <p:sp>
        <p:nvSpPr>
          <p:cNvPr id="8" name="Text 6"/>
          <p:cNvSpPr/>
          <p:nvPr/>
        </p:nvSpPr>
        <p:spPr>
          <a:xfrm>
            <a:off x="1371600" y="804672"/>
            <a:ext cx="7315200" cy="301752"/>
          </a:xfrm>
          <a:prstGeom prst="rect">
            <a:avLst/>
          </a:prstGeom>
          <a:noFill/>
          <a:ln/>
        </p:spPr>
        <p:txBody>
          <a:bodyPr wrap="square" lIns="0" tIns="0" rIns="0" bIns="0" rtlCol="0" anchor="ctr"/>
          <a:lstStyle/>
          <a:p>
            <a:pPr indent="0" marL="0">
              <a:buNone/>
            </a:pPr>
            <a:r>
              <a:rPr lang="en-US" sz="1300" i="1" dirty="0">
                <a:solidFill>
                  <a:srgbClr val="555555"/>
                </a:solidFill>
                <a:latin typeface="Calibri" pitchFamily="34" charset="0"/>
                <a:ea typeface="Calibri" pitchFamily="34" charset="-122"/>
                <a:cs typeface="Calibri" pitchFamily="34" charset="-120"/>
              </a:rPr>
              <a:t>Transaction Dynamics</a:t>
            </a:r>
            <a:endParaRPr lang="en-US" sz="1300" dirty="0"/>
          </a:p>
        </p:txBody>
      </p:sp>
      <p:sp>
        <p:nvSpPr>
          <p:cNvPr id="9" name="Shape 7"/>
          <p:cNvSpPr/>
          <p:nvPr/>
        </p:nvSpPr>
        <p:spPr>
          <a:xfrm>
            <a:off x="274320" y="1207008"/>
            <a:ext cx="8595360" cy="960120"/>
          </a:xfrm>
          <a:prstGeom prst="rect">
            <a:avLst/>
          </a:prstGeom>
          <a:solidFill>
            <a:srgbClr val="EDE9FF"/>
          </a:solidFill>
          <a:ln w="6350">
            <a:solidFill>
              <a:srgbClr val="5F2EEA"/>
            </a:solidFill>
            <a:prstDash val="solid"/>
          </a:ln>
        </p:spPr>
      </p:sp>
      <p:sp>
        <p:nvSpPr>
          <p:cNvPr id="10" name="Text 8"/>
          <p:cNvSpPr/>
          <p:nvPr/>
        </p:nvSpPr>
        <p:spPr>
          <a:xfrm>
            <a:off x="411480" y="1261872"/>
            <a:ext cx="8321040" cy="822960"/>
          </a:xfrm>
          <a:prstGeom prst="rect">
            <a:avLst/>
          </a:prstGeom>
          <a:noFill/>
          <a:ln/>
        </p:spPr>
        <p:txBody>
          <a:bodyPr wrap="square" lIns="0" tIns="0" rIns="0" bIns="0" rtlCol="0" anchor="ctr"/>
          <a:lstStyle/>
          <a:p>
            <a:pPr indent="0" marL="0">
              <a:buNone/>
            </a:pPr>
            <a:r>
              <a:rPr lang="en-US" sz="1200" dirty="0">
                <a:solidFill>
                  <a:srgbClr val="1E1E2E"/>
                </a:solidFill>
                <a:latin typeface="Calibri" pitchFamily="34" charset="0"/>
                <a:ea typeface="Calibri" pitchFamily="34" charset="-122"/>
                <a:cs typeface="Calibri" pitchFamily="34" charset="-120"/>
              </a:rPr>
              <a:t>PhonePe has identified significant variations in transaction behavior across states, quarters, and payment categories. Some regions show consistent growth while others stagnate or decline. Leadership seeks targeted strategies.</a:t>
            </a:r>
            <a:endParaRPr lang="en-US" sz="1200" dirty="0"/>
          </a:p>
        </p:txBody>
      </p:sp>
      <p:sp>
        <p:nvSpPr>
          <p:cNvPr id="11" name="Shape 9"/>
          <p:cNvSpPr/>
          <p:nvPr/>
        </p:nvSpPr>
        <p:spPr>
          <a:xfrm>
            <a:off x="274320" y="2331720"/>
            <a:ext cx="2011680" cy="365760"/>
          </a:xfrm>
          <a:prstGeom prst="rect">
            <a:avLst/>
          </a:prstGeom>
          <a:solidFill>
            <a:srgbClr val="5F2EEA"/>
          </a:solidFill>
          <a:ln/>
        </p:spPr>
      </p:sp>
      <p:sp>
        <p:nvSpPr>
          <p:cNvPr id="12" name="Text 10"/>
          <p:cNvSpPr/>
          <p:nvPr/>
        </p:nvSpPr>
        <p:spPr>
          <a:xfrm>
            <a:off x="274320" y="2331720"/>
            <a:ext cx="201168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13" name="Shape 11"/>
          <p:cNvSpPr/>
          <p:nvPr/>
        </p:nvSpPr>
        <p:spPr>
          <a:xfrm>
            <a:off x="274320" y="2697480"/>
            <a:ext cx="2011680" cy="1463040"/>
          </a:xfrm>
          <a:prstGeom prst="rect">
            <a:avLst/>
          </a:prstGeom>
          <a:solidFill>
            <a:srgbClr val="FFFFFF"/>
          </a:solidFill>
          <a:ln w="6350">
            <a:solidFill>
              <a:srgbClr val="EEEEEE"/>
            </a:solidFill>
            <a:prstDash val="solid"/>
          </a:ln>
          <a:effectLst>
            <a:outerShdw sx="100000" sy="100000" kx="0" ky="0" algn="bl" rotWithShape="0" blurRad="101600" dist="38100" dir="8100000">
              <a:srgbClr val="000000">
                <a:alpha val="12000"/>
              </a:srgbClr>
            </a:outerShdw>
          </a:effectLst>
        </p:spPr>
      </p:sp>
      <p:sp>
        <p:nvSpPr>
          <p:cNvPr id="14" name="Text 12"/>
          <p:cNvSpPr/>
          <p:nvPr/>
        </p:nvSpPr>
        <p:spPr>
          <a:xfrm>
            <a:off x="365760" y="2761488"/>
            <a:ext cx="1828800" cy="274320"/>
          </a:xfrm>
          <a:prstGeom prst="rect">
            <a:avLst/>
          </a:prstGeom>
          <a:noFill/>
          <a:ln/>
        </p:spPr>
        <p:txBody>
          <a:bodyPr wrap="square" lIns="0" tIns="0" rIns="0" bIns="0" rtlCol="0" anchor="ctr"/>
          <a:lstStyle/>
          <a:p>
            <a:pPr indent="0" marL="0">
              <a:buNone/>
            </a:pPr>
            <a:r>
              <a:rPr lang="en-US" sz="1100" b="1" dirty="0">
                <a:solidFill>
                  <a:srgbClr val="1E1E2E"/>
                </a:solidFill>
                <a:latin typeface="Calibri" pitchFamily="34" charset="0"/>
                <a:ea typeface="Calibri" pitchFamily="34" charset="-122"/>
                <a:cs typeface="Calibri" pitchFamily="34" charset="-120"/>
              </a:rPr>
              <a:t>Aggregate by Category</a:t>
            </a:r>
            <a:endParaRPr lang="en-US" sz="1100" dirty="0"/>
          </a:p>
        </p:txBody>
      </p:sp>
      <p:sp>
        <p:nvSpPr>
          <p:cNvPr id="15" name="Text 13"/>
          <p:cNvSpPr/>
          <p:nvPr/>
        </p:nvSpPr>
        <p:spPr>
          <a:xfrm>
            <a:off x="365760" y="3063240"/>
            <a:ext cx="1828800" cy="1005840"/>
          </a:xfrm>
          <a:prstGeom prst="rect">
            <a:avLst/>
          </a:prstGeom>
          <a:noFill/>
          <a:ln/>
        </p:spPr>
        <p:txBody>
          <a:bodyPr wrap="square" lIns="0" tIns="0" rIns="0" bIns="0" rtlCol="0" anchor="ctr"/>
          <a:lstStyle/>
          <a:p>
            <a:pPr indent="0" marL="0">
              <a:buNone/>
            </a:pPr>
            <a:r>
              <a:rPr lang="en-US" sz="950" dirty="0">
                <a:solidFill>
                  <a:srgbClr val="444444"/>
                </a:solidFill>
                <a:latin typeface="Courier New" pitchFamily="34" charset="0"/>
                <a:ea typeface="Courier New" pitchFamily="34" charset="-122"/>
                <a:cs typeface="Courier New" pitchFamily="34" charset="-120"/>
              </a:rPr>
              <a:t>SUM(count), SUM(amount)</a:t>
            </a:r>
            <a:endParaRPr lang="en-US" sz="950" dirty="0"/>
          </a:p>
          <a:p>
            <a:pPr indent="0" marL="0">
              <a:buNone/>
            </a:pPr>
            <a:r>
              <a:rPr lang="en-US" sz="950" dirty="0">
                <a:solidFill>
                  <a:srgbClr val="444444"/>
                </a:solidFill>
                <a:latin typeface="Courier New" pitchFamily="34" charset="0"/>
                <a:ea typeface="Courier New" pitchFamily="34" charset="-122"/>
                <a:cs typeface="Courier New" pitchFamily="34" charset="-120"/>
              </a:rPr>
              <a:t>GROUP BY year, quarter, type</a:t>
            </a:r>
            <a:endParaRPr lang="en-US" sz="950" dirty="0"/>
          </a:p>
        </p:txBody>
      </p:sp>
      <p:sp>
        <p:nvSpPr>
          <p:cNvPr id="16" name="Shape 14"/>
          <p:cNvSpPr/>
          <p:nvPr/>
        </p:nvSpPr>
        <p:spPr>
          <a:xfrm>
            <a:off x="2450592" y="2331720"/>
            <a:ext cx="2011680" cy="365760"/>
          </a:xfrm>
          <a:prstGeom prst="rect">
            <a:avLst/>
          </a:prstGeom>
          <a:solidFill>
            <a:srgbClr val="5F2EEA"/>
          </a:solidFill>
          <a:ln/>
        </p:spPr>
      </p:sp>
      <p:sp>
        <p:nvSpPr>
          <p:cNvPr id="17" name="Text 15"/>
          <p:cNvSpPr/>
          <p:nvPr/>
        </p:nvSpPr>
        <p:spPr>
          <a:xfrm>
            <a:off x="2450592" y="2331720"/>
            <a:ext cx="201168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18" name="Shape 16"/>
          <p:cNvSpPr/>
          <p:nvPr/>
        </p:nvSpPr>
        <p:spPr>
          <a:xfrm>
            <a:off x="2450592" y="2697480"/>
            <a:ext cx="2011680" cy="1463040"/>
          </a:xfrm>
          <a:prstGeom prst="rect">
            <a:avLst/>
          </a:prstGeom>
          <a:solidFill>
            <a:srgbClr val="FFFFFF"/>
          </a:solidFill>
          <a:ln w="6350">
            <a:solidFill>
              <a:srgbClr val="EEEEEE"/>
            </a:solidFill>
            <a:prstDash val="solid"/>
          </a:ln>
          <a:effectLst>
            <a:outerShdw sx="100000" sy="100000" kx="0" ky="0" algn="bl" rotWithShape="0" blurRad="101600" dist="38100" dir="8100000">
              <a:srgbClr val="000000">
                <a:alpha val="12000"/>
              </a:srgbClr>
            </a:outerShdw>
          </a:effectLst>
        </p:spPr>
      </p:sp>
      <p:sp>
        <p:nvSpPr>
          <p:cNvPr id="19" name="Text 17"/>
          <p:cNvSpPr/>
          <p:nvPr/>
        </p:nvSpPr>
        <p:spPr>
          <a:xfrm>
            <a:off x="2542032" y="2761488"/>
            <a:ext cx="1828800" cy="274320"/>
          </a:xfrm>
          <a:prstGeom prst="rect">
            <a:avLst/>
          </a:prstGeom>
          <a:noFill/>
          <a:ln/>
        </p:spPr>
        <p:txBody>
          <a:bodyPr wrap="square" lIns="0" tIns="0" rIns="0" bIns="0" rtlCol="0" anchor="ctr"/>
          <a:lstStyle/>
          <a:p>
            <a:pPr indent="0" marL="0">
              <a:buNone/>
            </a:pPr>
            <a:r>
              <a:rPr lang="en-US" sz="1100" b="1" dirty="0">
                <a:solidFill>
                  <a:srgbClr val="1E1E2E"/>
                </a:solidFill>
                <a:latin typeface="Calibri" pitchFamily="34" charset="0"/>
                <a:ea typeface="Calibri" pitchFamily="34" charset="-122"/>
                <a:cs typeface="Calibri" pitchFamily="34" charset="-120"/>
              </a:rPr>
              <a:t>QoQ Growth (LAG)</a:t>
            </a:r>
            <a:endParaRPr lang="en-US" sz="1100" dirty="0"/>
          </a:p>
        </p:txBody>
      </p:sp>
      <p:sp>
        <p:nvSpPr>
          <p:cNvPr id="20" name="Text 18"/>
          <p:cNvSpPr/>
          <p:nvPr/>
        </p:nvSpPr>
        <p:spPr>
          <a:xfrm>
            <a:off x="2542032" y="3063240"/>
            <a:ext cx="1828800" cy="1005840"/>
          </a:xfrm>
          <a:prstGeom prst="rect">
            <a:avLst/>
          </a:prstGeom>
          <a:noFill/>
          <a:ln/>
        </p:spPr>
        <p:txBody>
          <a:bodyPr wrap="square" lIns="0" tIns="0" rIns="0" bIns="0" rtlCol="0" anchor="ctr"/>
          <a:lstStyle/>
          <a:p>
            <a:pPr indent="0" marL="0">
              <a:buNone/>
            </a:pPr>
            <a:r>
              <a:rPr lang="en-US" sz="950" dirty="0">
                <a:solidFill>
                  <a:srgbClr val="444444"/>
                </a:solidFill>
                <a:latin typeface="Courier New" pitchFamily="34" charset="0"/>
                <a:ea typeface="Courier New" pitchFamily="34" charset="-122"/>
                <a:cs typeface="Courier New" pitchFamily="34" charset="-120"/>
              </a:rPr>
              <a:t>LAG() OVER (PARTITION BY</a:t>
            </a:r>
            <a:endParaRPr lang="en-US" sz="950" dirty="0"/>
          </a:p>
          <a:p>
            <a:pPr indent="0" marL="0">
              <a:buNone/>
            </a:pPr>
            <a:r>
              <a:rPr lang="en-US" sz="950" dirty="0">
                <a:solidFill>
                  <a:srgbClr val="444444"/>
                </a:solidFill>
                <a:latin typeface="Courier New" pitchFamily="34" charset="0"/>
                <a:ea typeface="Courier New" pitchFamily="34" charset="-122"/>
                <a:cs typeface="Courier New" pitchFamily="34" charset="-120"/>
              </a:rPr>
              <a:t>transaction_type ORDER BY year, quarter)</a:t>
            </a:r>
            <a:endParaRPr lang="en-US" sz="950" dirty="0"/>
          </a:p>
        </p:txBody>
      </p:sp>
      <p:sp>
        <p:nvSpPr>
          <p:cNvPr id="21" name="Shape 19"/>
          <p:cNvSpPr/>
          <p:nvPr/>
        </p:nvSpPr>
        <p:spPr>
          <a:xfrm>
            <a:off x="4626864" y="2331720"/>
            <a:ext cx="2011680" cy="365760"/>
          </a:xfrm>
          <a:prstGeom prst="rect">
            <a:avLst/>
          </a:prstGeom>
          <a:solidFill>
            <a:srgbClr val="5F2EEA"/>
          </a:solidFill>
          <a:ln/>
        </p:spPr>
      </p:sp>
      <p:sp>
        <p:nvSpPr>
          <p:cNvPr id="22" name="Text 20"/>
          <p:cNvSpPr/>
          <p:nvPr/>
        </p:nvSpPr>
        <p:spPr>
          <a:xfrm>
            <a:off x="4626864" y="2331720"/>
            <a:ext cx="201168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23" name="Shape 21"/>
          <p:cNvSpPr/>
          <p:nvPr/>
        </p:nvSpPr>
        <p:spPr>
          <a:xfrm>
            <a:off x="4626864" y="2697480"/>
            <a:ext cx="2011680" cy="1463040"/>
          </a:xfrm>
          <a:prstGeom prst="rect">
            <a:avLst/>
          </a:prstGeom>
          <a:solidFill>
            <a:srgbClr val="FFFFFF"/>
          </a:solidFill>
          <a:ln w="6350">
            <a:solidFill>
              <a:srgbClr val="EEEEEE"/>
            </a:solidFill>
            <a:prstDash val="solid"/>
          </a:ln>
          <a:effectLst>
            <a:outerShdw sx="100000" sy="100000" kx="0" ky="0" algn="bl" rotWithShape="0" blurRad="101600" dist="38100" dir="8100000">
              <a:srgbClr val="000000">
                <a:alpha val="12000"/>
              </a:srgbClr>
            </a:outerShdw>
          </a:effectLst>
        </p:spPr>
      </p:sp>
      <p:sp>
        <p:nvSpPr>
          <p:cNvPr id="24" name="Text 22"/>
          <p:cNvSpPr/>
          <p:nvPr/>
        </p:nvSpPr>
        <p:spPr>
          <a:xfrm>
            <a:off x="4718304" y="2761488"/>
            <a:ext cx="1828800" cy="274320"/>
          </a:xfrm>
          <a:prstGeom prst="rect">
            <a:avLst/>
          </a:prstGeom>
          <a:noFill/>
          <a:ln/>
        </p:spPr>
        <p:txBody>
          <a:bodyPr wrap="square" lIns="0" tIns="0" rIns="0" bIns="0" rtlCol="0" anchor="ctr"/>
          <a:lstStyle/>
          <a:p>
            <a:pPr indent="0" marL="0">
              <a:buNone/>
            </a:pPr>
            <a:r>
              <a:rPr lang="en-US" sz="1100" b="1" dirty="0">
                <a:solidFill>
                  <a:srgbClr val="1E1E2E"/>
                </a:solidFill>
                <a:latin typeface="Calibri" pitchFamily="34" charset="0"/>
                <a:ea typeface="Calibri" pitchFamily="34" charset="-122"/>
                <a:cs typeface="Calibri" pitchFamily="34" charset="-120"/>
              </a:rPr>
              <a:t>State Benchmarking</a:t>
            </a:r>
            <a:endParaRPr lang="en-US" sz="1100" dirty="0"/>
          </a:p>
        </p:txBody>
      </p:sp>
      <p:sp>
        <p:nvSpPr>
          <p:cNvPr id="25" name="Text 23"/>
          <p:cNvSpPr/>
          <p:nvPr/>
        </p:nvSpPr>
        <p:spPr>
          <a:xfrm>
            <a:off x="4718304" y="3063240"/>
            <a:ext cx="1828800" cy="1005840"/>
          </a:xfrm>
          <a:prstGeom prst="rect">
            <a:avLst/>
          </a:prstGeom>
          <a:noFill/>
          <a:ln/>
        </p:spPr>
        <p:txBody>
          <a:bodyPr wrap="square" lIns="0" tIns="0" rIns="0" bIns="0" rtlCol="0" anchor="ctr"/>
          <a:lstStyle/>
          <a:p>
            <a:pPr indent="0" marL="0">
              <a:buNone/>
            </a:pPr>
            <a:r>
              <a:rPr lang="en-US" sz="950" dirty="0">
                <a:solidFill>
                  <a:srgbClr val="444444"/>
                </a:solidFill>
                <a:latin typeface="Courier New" pitchFamily="34" charset="0"/>
                <a:ea typeface="Courier New" pitchFamily="34" charset="-122"/>
                <a:cs typeface="Courier New" pitchFamily="34" charset="-120"/>
              </a:rPr>
              <a:t>vs_national_pct using AVG()</a:t>
            </a:r>
            <a:endParaRPr lang="en-US" sz="950" dirty="0"/>
          </a:p>
          <a:p>
            <a:pPr indent="0" marL="0">
              <a:buNone/>
            </a:pPr>
            <a:r>
              <a:rPr lang="en-US" sz="950" dirty="0">
                <a:solidFill>
                  <a:srgbClr val="444444"/>
                </a:solidFill>
                <a:latin typeface="Courier New" pitchFamily="34" charset="0"/>
                <a:ea typeface="Courier New" pitchFamily="34" charset="-122"/>
                <a:cs typeface="Courier New" pitchFamily="34" charset="-120"/>
              </a:rPr>
              <a:t>across all states as baseline</a:t>
            </a:r>
            <a:endParaRPr lang="en-US" sz="950" dirty="0"/>
          </a:p>
        </p:txBody>
      </p:sp>
      <p:sp>
        <p:nvSpPr>
          <p:cNvPr id="26" name="Shape 24"/>
          <p:cNvSpPr/>
          <p:nvPr/>
        </p:nvSpPr>
        <p:spPr>
          <a:xfrm>
            <a:off x="6803136" y="2331720"/>
            <a:ext cx="2011680" cy="365760"/>
          </a:xfrm>
          <a:prstGeom prst="rect">
            <a:avLst/>
          </a:prstGeom>
          <a:solidFill>
            <a:srgbClr val="5F2EEA"/>
          </a:solidFill>
          <a:ln/>
        </p:spPr>
      </p:sp>
      <p:sp>
        <p:nvSpPr>
          <p:cNvPr id="27" name="Text 25"/>
          <p:cNvSpPr/>
          <p:nvPr/>
        </p:nvSpPr>
        <p:spPr>
          <a:xfrm>
            <a:off x="6803136" y="2331720"/>
            <a:ext cx="201168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28" name="Shape 26"/>
          <p:cNvSpPr/>
          <p:nvPr/>
        </p:nvSpPr>
        <p:spPr>
          <a:xfrm>
            <a:off x="6803136" y="2697480"/>
            <a:ext cx="2011680" cy="1463040"/>
          </a:xfrm>
          <a:prstGeom prst="rect">
            <a:avLst/>
          </a:prstGeom>
          <a:solidFill>
            <a:srgbClr val="FFFFFF"/>
          </a:solidFill>
          <a:ln w="6350">
            <a:solidFill>
              <a:srgbClr val="EEEEEE"/>
            </a:solidFill>
            <a:prstDash val="solid"/>
          </a:ln>
          <a:effectLst>
            <a:outerShdw sx="100000" sy="100000" kx="0" ky="0" algn="bl" rotWithShape="0" blurRad="101600" dist="38100" dir="8100000">
              <a:srgbClr val="000000">
                <a:alpha val="12000"/>
              </a:srgbClr>
            </a:outerShdw>
          </a:effectLst>
        </p:spPr>
      </p:sp>
      <p:sp>
        <p:nvSpPr>
          <p:cNvPr id="29" name="Text 27"/>
          <p:cNvSpPr/>
          <p:nvPr/>
        </p:nvSpPr>
        <p:spPr>
          <a:xfrm>
            <a:off x="6894576" y="2761488"/>
            <a:ext cx="1828800" cy="274320"/>
          </a:xfrm>
          <a:prstGeom prst="rect">
            <a:avLst/>
          </a:prstGeom>
          <a:noFill/>
          <a:ln/>
        </p:spPr>
        <p:txBody>
          <a:bodyPr wrap="square" lIns="0" tIns="0" rIns="0" bIns="0" rtlCol="0" anchor="ctr"/>
          <a:lstStyle/>
          <a:p>
            <a:pPr indent="0" marL="0">
              <a:buNone/>
            </a:pPr>
            <a:r>
              <a:rPr lang="en-US" sz="1100" b="1" dirty="0">
                <a:solidFill>
                  <a:srgbClr val="1E1E2E"/>
                </a:solidFill>
                <a:latin typeface="Calibri" pitchFamily="34" charset="0"/>
                <a:ea typeface="Calibri" pitchFamily="34" charset="-122"/>
                <a:cs typeface="Calibri" pitchFamily="34" charset="-120"/>
              </a:rPr>
              <a:t>Decline Detection</a:t>
            </a:r>
            <a:endParaRPr lang="en-US" sz="1100" dirty="0"/>
          </a:p>
        </p:txBody>
      </p:sp>
      <p:sp>
        <p:nvSpPr>
          <p:cNvPr id="30" name="Text 28"/>
          <p:cNvSpPr/>
          <p:nvPr/>
        </p:nvSpPr>
        <p:spPr>
          <a:xfrm>
            <a:off x="6894576" y="3063240"/>
            <a:ext cx="1828800" cy="1005840"/>
          </a:xfrm>
          <a:prstGeom prst="rect">
            <a:avLst/>
          </a:prstGeom>
          <a:noFill/>
          <a:ln/>
        </p:spPr>
        <p:txBody>
          <a:bodyPr wrap="square" lIns="0" tIns="0" rIns="0" bIns="0" rtlCol="0" anchor="ctr"/>
          <a:lstStyle/>
          <a:p>
            <a:pPr indent="0" marL="0">
              <a:buNone/>
            </a:pPr>
            <a:r>
              <a:rPr lang="en-US" sz="950" dirty="0">
                <a:solidFill>
                  <a:srgbClr val="444444"/>
                </a:solidFill>
                <a:latin typeface="Courier New" pitchFamily="34" charset="0"/>
                <a:ea typeface="Courier New" pitchFamily="34" charset="-122"/>
                <a:cs typeface="Courier New" pitchFamily="34" charset="-120"/>
              </a:rPr>
              <a:t>WHERE amount &lt; prev_amount</a:t>
            </a:r>
            <a:endParaRPr lang="en-US" sz="950" dirty="0"/>
          </a:p>
          <a:p>
            <a:pPr indent="0" marL="0">
              <a:buNone/>
            </a:pPr>
            <a:r>
              <a:rPr lang="en-US" sz="950" dirty="0">
                <a:solidFill>
                  <a:srgbClr val="444444"/>
                </a:solidFill>
                <a:latin typeface="Courier New" pitchFamily="34" charset="0"/>
                <a:ea typeface="Courier New" pitchFamily="34" charset="-122"/>
                <a:cs typeface="Courier New" pitchFamily="34" charset="-120"/>
              </a:rPr>
              <a:t>2+ consecutive quarters flagged</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1E2E"/>
          </a:solidFill>
          <a:ln/>
        </p:spPr>
      </p:sp>
      <p:sp>
        <p:nvSpPr>
          <p:cNvPr id="3" name="Shape 1"/>
          <p:cNvSpPr/>
          <p:nvPr/>
        </p:nvSpPr>
        <p:spPr>
          <a:xfrm>
            <a:off x="0" y="4828032"/>
            <a:ext cx="9144000" cy="315468"/>
          </a:xfrm>
          <a:prstGeom prst="rect">
            <a:avLst/>
          </a:prstGeom>
          <a:solidFill>
            <a:srgbClr val="5F2EEA">
              <a:alpha val="75000"/>
            </a:srgbClr>
          </a:solidFill>
          <a:ln/>
        </p:spPr>
      </p:sp>
      <p:sp>
        <p:nvSpPr>
          <p:cNvPr id="4" name="Text 2"/>
          <p:cNvSpPr/>
          <p:nvPr/>
        </p:nvSpPr>
        <p:spPr>
          <a:xfrm>
            <a:off x="274320" y="118872"/>
            <a:ext cx="8595360" cy="45720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BC1: Transaction Dynamics – Visualizations &amp; Findings</a:t>
            </a:r>
            <a:endParaRPr lang="en-US" sz="2100" dirty="0"/>
          </a:p>
        </p:txBody>
      </p:sp>
      <p:sp>
        <p:nvSpPr>
          <p:cNvPr id="5" name="Text 3"/>
          <p:cNvSpPr/>
          <p:nvPr/>
        </p:nvSpPr>
        <p:spPr>
          <a:xfrm>
            <a:off x="182880" y="4846320"/>
            <a:ext cx="8778240" cy="237744"/>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PhonePe  •  5 Business Case Studies  •  4 / 18</a:t>
            </a:r>
            <a:endParaRPr lang="en-US" sz="900" dirty="0"/>
          </a:p>
        </p:txBody>
      </p:sp>
      <p:sp>
        <p:nvSpPr>
          <p:cNvPr id="6" name="Shape 4"/>
          <p:cNvSpPr/>
          <p:nvPr/>
        </p:nvSpPr>
        <p:spPr>
          <a:xfrm>
            <a:off x="274320" y="777240"/>
            <a:ext cx="1005840" cy="347472"/>
          </a:xfrm>
          <a:prstGeom prst="rect">
            <a:avLst/>
          </a:prstGeom>
          <a:solidFill>
            <a:srgbClr val="5F2EEA"/>
          </a:solidFill>
          <a:ln/>
        </p:spPr>
      </p:sp>
      <p:sp>
        <p:nvSpPr>
          <p:cNvPr id="7" name="Text 5"/>
          <p:cNvSpPr/>
          <p:nvPr/>
        </p:nvSpPr>
        <p:spPr>
          <a:xfrm>
            <a:off x="274320" y="777240"/>
            <a:ext cx="100584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BC1</a:t>
            </a:r>
            <a:endParaRPr lang="en-US" sz="1300" dirty="0"/>
          </a:p>
        </p:txBody>
      </p:sp>
      <p:sp>
        <p:nvSpPr>
          <p:cNvPr id="8" name="Text 6"/>
          <p:cNvSpPr/>
          <p:nvPr/>
        </p:nvSpPr>
        <p:spPr>
          <a:xfrm>
            <a:off x="1371600" y="804672"/>
            <a:ext cx="7315200" cy="301752"/>
          </a:xfrm>
          <a:prstGeom prst="rect">
            <a:avLst/>
          </a:prstGeom>
          <a:noFill/>
          <a:ln/>
        </p:spPr>
        <p:txBody>
          <a:bodyPr wrap="square" lIns="0" tIns="0" rIns="0" bIns="0" rtlCol="0" anchor="ctr"/>
          <a:lstStyle/>
          <a:p>
            <a:pPr indent="0" marL="0">
              <a:buNone/>
            </a:pPr>
            <a:r>
              <a:rPr lang="en-US" sz="1300" i="1" dirty="0">
                <a:solidFill>
                  <a:srgbClr val="555555"/>
                </a:solidFill>
                <a:latin typeface="Calibri" pitchFamily="34" charset="0"/>
                <a:ea typeface="Calibri" pitchFamily="34" charset="-122"/>
                <a:cs typeface="Calibri" pitchFamily="34" charset="-120"/>
              </a:rPr>
              <a:t>Transaction Dynamics</a:t>
            </a:r>
            <a:endParaRPr lang="en-US" sz="1300" dirty="0"/>
          </a:p>
        </p:txBody>
      </p:sp>
      <p:sp>
        <p:nvSpPr>
          <p:cNvPr id="9" name="Shape 7"/>
          <p:cNvSpPr/>
          <p:nvPr/>
        </p:nvSpPr>
        <p:spPr>
          <a:xfrm>
            <a:off x="274320" y="1207008"/>
            <a:ext cx="1920240" cy="1143000"/>
          </a:xfrm>
          <a:prstGeom prst="rect">
            <a:avLst/>
          </a:prstGeom>
          <a:solidFill>
            <a:srgbClr val="FFFFFF"/>
          </a:solidFill>
          <a:ln w="6350">
            <a:solidFill>
              <a:srgbClr val="EEEEEE"/>
            </a:solidFill>
            <a:prstDash val="solid"/>
          </a:ln>
          <a:effectLst>
            <a:outerShdw sx="100000" sy="100000" kx="0" ky="0" algn="bl" rotWithShape="0" blurRad="101600" dist="38100" dir="8100000">
              <a:srgbClr val="000000">
                <a:alpha val="12000"/>
              </a:srgbClr>
            </a:outerShdw>
          </a:effectLst>
        </p:spPr>
      </p:sp>
      <p:sp>
        <p:nvSpPr>
          <p:cNvPr id="10" name="Shape 8"/>
          <p:cNvSpPr/>
          <p:nvPr/>
        </p:nvSpPr>
        <p:spPr>
          <a:xfrm>
            <a:off x="274320" y="1207008"/>
            <a:ext cx="64008" cy="1143000"/>
          </a:xfrm>
          <a:prstGeom prst="rect">
            <a:avLst/>
          </a:prstGeom>
          <a:solidFill>
            <a:srgbClr val="5F2EEA"/>
          </a:solidFill>
          <a:ln/>
        </p:spPr>
      </p:sp>
      <p:sp>
        <p:nvSpPr>
          <p:cNvPr id="11" name="Text 9"/>
          <p:cNvSpPr/>
          <p:nvPr/>
        </p:nvSpPr>
        <p:spPr>
          <a:xfrm>
            <a:off x="402336" y="1298448"/>
            <a:ext cx="457200" cy="347472"/>
          </a:xfrm>
          <a:prstGeom prst="rect">
            <a:avLst/>
          </a:prstGeom>
          <a:noFill/>
          <a:ln/>
        </p:spPr>
        <p:txBody>
          <a:bodyPr wrap="square" lIns="0" tIns="0" rIns="0" bIns="0" rtlCol="0" anchor="ctr"/>
          <a:lstStyle/>
          <a:p>
            <a:pPr indent="0" marL="0">
              <a:buNone/>
            </a:pPr>
            <a:r>
              <a:rPr lang="en-US" sz="1800" dirty="0">
                <a:solidFill>
                  <a:srgbClr val="000000"/>
                </a:solidFill>
              </a:rPr>
              <a:t>💰</a:t>
            </a:r>
            <a:endParaRPr lang="en-US" sz="1800" dirty="0"/>
          </a:p>
        </p:txBody>
      </p:sp>
      <p:sp>
        <p:nvSpPr>
          <p:cNvPr id="12" name="Text 10"/>
          <p:cNvSpPr/>
          <p:nvPr/>
        </p:nvSpPr>
        <p:spPr>
          <a:xfrm>
            <a:off x="402336" y="1627632"/>
            <a:ext cx="1719072" cy="384048"/>
          </a:xfrm>
          <a:prstGeom prst="rect">
            <a:avLst/>
          </a:prstGeom>
          <a:noFill/>
          <a:ln/>
        </p:spPr>
        <p:txBody>
          <a:bodyPr wrap="square" lIns="0" tIns="0" rIns="0" bIns="0" rtlCol="0" anchor="ctr"/>
          <a:lstStyle/>
          <a:p>
            <a:pPr indent="0" marL="0">
              <a:buNone/>
            </a:pPr>
            <a:r>
              <a:rPr lang="en-US" sz="1900" b="1" dirty="0">
                <a:solidFill>
                  <a:srgbClr val="1E1E2E"/>
                </a:solidFill>
                <a:latin typeface="Calibri" pitchFamily="34" charset="0"/>
                <a:ea typeface="Calibri" pitchFamily="34" charset="-122"/>
                <a:cs typeface="Calibri" pitchFamily="34" charset="-120"/>
              </a:rPr>
              <a:t>₹2.8L Cr</a:t>
            </a:r>
            <a:endParaRPr lang="en-US" sz="1900" dirty="0"/>
          </a:p>
        </p:txBody>
      </p:sp>
      <p:sp>
        <p:nvSpPr>
          <p:cNvPr id="13" name="Text 11"/>
          <p:cNvSpPr/>
          <p:nvPr/>
        </p:nvSpPr>
        <p:spPr>
          <a:xfrm>
            <a:off x="402336" y="1993392"/>
            <a:ext cx="1719072" cy="201168"/>
          </a:xfrm>
          <a:prstGeom prst="rect">
            <a:avLst/>
          </a:prstGeom>
          <a:noFill/>
          <a:ln/>
        </p:spPr>
        <p:txBody>
          <a:bodyPr wrap="square" lIns="0" tIns="0" rIns="0" bIns="0" rtlCol="0" anchor="ctr"/>
          <a:lstStyle/>
          <a:p>
            <a:pPr indent="0" marL="0">
              <a:buNone/>
            </a:pPr>
            <a:r>
              <a:rPr lang="en-US" sz="1000" dirty="0">
                <a:solidFill>
                  <a:srgbClr val="888888"/>
                </a:solidFill>
                <a:latin typeface="Calibri" pitchFamily="34" charset="0"/>
                <a:ea typeface="Calibri" pitchFamily="34" charset="-122"/>
                <a:cs typeface="Calibri" pitchFamily="34" charset="-120"/>
              </a:rPr>
              <a:t>Total Txn Value</a:t>
            </a:r>
            <a:endParaRPr lang="en-US" sz="1000" dirty="0"/>
          </a:p>
        </p:txBody>
      </p:sp>
      <p:sp>
        <p:nvSpPr>
          <p:cNvPr id="14" name="Shape 12"/>
          <p:cNvSpPr/>
          <p:nvPr/>
        </p:nvSpPr>
        <p:spPr>
          <a:xfrm>
            <a:off x="2304288" y="1207008"/>
            <a:ext cx="1920240" cy="1143000"/>
          </a:xfrm>
          <a:prstGeom prst="rect">
            <a:avLst/>
          </a:prstGeom>
          <a:solidFill>
            <a:srgbClr val="FFFFFF"/>
          </a:solidFill>
          <a:ln w="6350">
            <a:solidFill>
              <a:srgbClr val="EEEEEE"/>
            </a:solidFill>
            <a:prstDash val="solid"/>
          </a:ln>
          <a:effectLst>
            <a:outerShdw sx="100000" sy="100000" kx="0" ky="0" algn="bl" rotWithShape="0" blurRad="101600" dist="38100" dir="8100000">
              <a:srgbClr val="000000">
                <a:alpha val="12000"/>
              </a:srgbClr>
            </a:outerShdw>
          </a:effectLst>
        </p:spPr>
      </p:sp>
      <p:sp>
        <p:nvSpPr>
          <p:cNvPr id="15" name="Shape 13"/>
          <p:cNvSpPr/>
          <p:nvPr/>
        </p:nvSpPr>
        <p:spPr>
          <a:xfrm>
            <a:off x="2304288" y="1207008"/>
            <a:ext cx="64008" cy="1143000"/>
          </a:xfrm>
          <a:prstGeom prst="rect">
            <a:avLst/>
          </a:prstGeom>
          <a:solidFill>
            <a:srgbClr val="00C48C"/>
          </a:solidFill>
          <a:ln/>
        </p:spPr>
      </p:sp>
      <p:sp>
        <p:nvSpPr>
          <p:cNvPr id="16" name="Text 14"/>
          <p:cNvSpPr/>
          <p:nvPr/>
        </p:nvSpPr>
        <p:spPr>
          <a:xfrm>
            <a:off x="2432304" y="1298448"/>
            <a:ext cx="457200" cy="347472"/>
          </a:xfrm>
          <a:prstGeom prst="rect">
            <a:avLst/>
          </a:prstGeom>
          <a:noFill/>
          <a:ln/>
        </p:spPr>
        <p:txBody>
          <a:bodyPr wrap="square" lIns="0" tIns="0" rIns="0" bIns="0" rtlCol="0" anchor="ctr"/>
          <a:lstStyle/>
          <a:p>
            <a:pPr indent="0" marL="0">
              <a:buNone/>
            </a:pPr>
            <a:r>
              <a:rPr lang="en-US" sz="1800" dirty="0">
                <a:solidFill>
                  <a:srgbClr val="000000"/>
                </a:solidFill>
              </a:rPr>
              <a:t>📈</a:t>
            </a:r>
            <a:endParaRPr lang="en-US" sz="1800" dirty="0"/>
          </a:p>
        </p:txBody>
      </p:sp>
      <p:sp>
        <p:nvSpPr>
          <p:cNvPr id="17" name="Text 15"/>
          <p:cNvSpPr/>
          <p:nvPr/>
        </p:nvSpPr>
        <p:spPr>
          <a:xfrm>
            <a:off x="2432304" y="1627632"/>
            <a:ext cx="1719072" cy="384048"/>
          </a:xfrm>
          <a:prstGeom prst="rect">
            <a:avLst/>
          </a:prstGeom>
          <a:noFill/>
          <a:ln/>
        </p:spPr>
        <p:txBody>
          <a:bodyPr wrap="square" lIns="0" tIns="0" rIns="0" bIns="0" rtlCol="0" anchor="ctr"/>
          <a:lstStyle/>
          <a:p>
            <a:pPr indent="0" marL="0">
              <a:buNone/>
            </a:pPr>
            <a:r>
              <a:rPr lang="en-US" sz="1900" b="1" dirty="0">
                <a:solidFill>
                  <a:srgbClr val="1E1E2E"/>
                </a:solidFill>
                <a:latin typeface="Calibri" pitchFamily="34" charset="0"/>
                <a:ea typeface="Calibri" pitchFamily="34" charset="-122"/>
                <a:cs typeface="Calibri" pitchFamily="34" charset="-120"/>
              </a:rPr>
              <a:t>+14.2%</a:t>
            </a:r>
            <a:endParaRPr lang="en-US" sz="1900" dirty="0"/>
          </a:p>
        </p:txBody>
      </p:sp>
      <p:sp>
        <p:nvSpPr>
          <p:cNvPr id="18" name="Text 16"/>
          <p:cNvSpPr/>
          <p:nvPr/>
        </p:nvSpPr>
        <p:spPr>
          <a:xfrm>
            <a:off x="2432304" y="1993392"/>
            <a:ext cx="1719072" cy="201168"/>
          </a:xfrm>
          <a:prstGeom prst="rect">
            <a:avLst/>
          </a:prstGeom>
          <a:noFill/>
          <a:ln/>
        </p:spPr>
        <p:txBody>
          <a:bodyPr wrap="square" lIns="0" tIns="0" rIns="0" bIns="0" rtlCol="0" anchor="ctr"/>
          <a:lstStyle/>
          <a:p>
            <a:pPr indent="0" marL="0">
              <a:buNone/>
            </a:pPr>
            <a:r>
              <a:rPr lang="en-US" sz="1000" dirty="0">
                <a:solidFill>
                  <a:srgbClr val="888888"/>
                </a:solidFill>
                <a:latin typeface="Calibri" pitchFamily="34" charset="0"/>
                <a:ea typeface="Calibri" pitchFamily="34" charset="-122"/>
                <a:cs typeface="Calibri" pitchFamily="34" charset="-120"/>
              </a:rPr>
              <a:t>YoY Growth</a:t>
            </a:r>
            <a:endParaRPr lang="en-US" sz="1000" dirty="0"/>
          </a:p>
        </p:txBody>
      </p:sp>
      <p:sp>
        <p:nvSpPr>
          <p:cNvPr id="19" name="Shape 17"/>
          <p:cNvSpPr/>
          <p:nvPr/>
        </p:nvSpPr>
        <p:spPr>
          <a:xfrm>
            <a:off x="4334256" y="1207008"/>
            <a:ext cx="1920240" cy="1143000"/>
          </a:xfrm>
          <a:prstGeom prst="rect">
            <a:avLst/>
          </a:prstGeom>
          <a:solidFill>
            <a:srgbClr val="FFFFFF"/>
          </a:solidFill>
          <a:ln w="6350">
            <a:solidFill>
              <a:srgbClr val="EEEEEE"/>
            </a:solidFill>
            <a:prstDash val="solid"/>
          </a:ln>
          <a:effectLst>
            <a:outerShdw sx="100000" sy="100000" kx="0" ky="0" algn="bl" rotWithShape="0" blurRad="101600" dist="38100" dir="8100000">
              <a:srgbClr val="000000">
                <a:alpha val="12000"/>
              </a:srgbClr>
            </a:outerShdw>
          </a:effectLst>
        </p:spPr>
      </p:sp>
      <p:sp>
        <p:nvSpPr>
          <p:cNvPr id="20" name="Shape 18"/>
          <p:cNvSpPr/>
          <p:nvPr/>
        </p:nvSpPr>
        <p:spPr>
          <a:xfrm>
            <a:off x="4334256" y="1207008"/>
            <a:ext cx="64008" cy="1143000"/>
          </a:xfrm>
          <a:prstGeom prst="rect">
            <a:avLst/>
          </a:prstGeom>
          <a:solidFill>
            <a:srgbClr val="00B9F1"/>
          </a:solidFill>
          <a:ln/>
        </p:spPr>
      </p:sp>
      <p:sp>
        <p:nvSpPr>
          <p:cNvPr id="21" name="Text 19"/>
          <p:cNvSpPr/>
          <p:nvPr/>
        </p:nvSpPr>
        <p:spPr>
          <a:xfrm>
            <a:off x="4462272" y="1298448"/>
            <a:ext cx="457200" cy="347472"/>
          </a:xfrm>
          <a:prstGeom prst="rect">
            <a:avLst/>
          </a:prstGeom>
          <a:noFill/>
          <a:ln/>
        </p:spPr>
        <p:txBody>
          <a:bodyPr wrap="square" lIns="0" tIns="0" rIns="0" bIns="0" rtlCol="0" anchor="ctr"/>
          <a:lstStyle/>
          <a:p>
            <a:pPr indent="0" marL="0">
              <a:buNone/>
            </a:pPr>
            <a:r>
              <a:rPr lang="en-US" sz="1800" dirty="0">
                <a:solidFill>
                  <a:srgbClr val="000000"/>
                </a:solidFill>
              </a:rPr>
              <a:t>🏆</a:t>
            </a:r>
            <a:endParaRPr lang="en-US" sz="1800" dirty="0"/>
          </a:p>
        </p:txBody>
      </p:sp>
      <p:sp>
        <p:nvSpPr>
          <p:cNvPr id="22" name="Text 20"/>
          <p:cNvSpPr/>
          <p:nvPr/>
        </p:nvSpPr>
        <p:spPr>
          <a:xfrm>
            <a:off x="4462272" y="1627632"/>
            <a:ext cx="1719072" cy="384048"/>
          </a:xfrm>
          <a:prstGeom prst="rect">
            <a:avLst/>
          </a:prstGeom>
          <a:noFill/>
          <a:ln/>
        </p:spPr>
        <p:txBody>
          <a:bodyPr wrap="square" lIns="0" tIns="0" rIns="0" bIns="0" rtlCol="0" anchor="ctr"/>
          <a:lstStyle/>
          <a:p>
            <a:pPr indent="0" marL="0">
              <a:buNone/>
            </a:pPr>
            <a:r>
              <a:rPr lang="en-US" sz="1900" b="1" dirty="0">
                <a:solidFill>
                  <a:srgbClr val="1E1E2E"/>
                </a:solidFill>
                <a:latin typeface="Calibri" pitchFamily="34" charset="0"/>
                <a:ea typeface="Calibri" pitchFamily="34" charset="-122"/>
                <a:cs typeface="Calibri" pitchFamily="34" charset="-120"/>
              </a:rPr>
              <a:t>Maharashtra</a:t>
            </a:r>
            <a:endParaRPr lang="en-US" sz="1900" dirty="0"/>
          </a:p>
        </p:txBody>
      </p:sp>
      <p:sp>
        <p:nvSpPr>
          <p:cNvPr id="23" name="Text 21"/>
          <p:cNvSpPr/>
          <p:nvPr/>
        </p:nvSpPr>
        <p:spPr>
          <a:xfrm>
            <a:off x="4462272" y="1993392"/>
            <a:ext cx="1719072" cy="201168"/>
          </a:xfrm>
          <a:prstGeom prst="rect">
            <a:avLst/>
          </a:prstGeom>
          <a:noFill/>
          <a:ln/>
        </p:spPr>
        <p:txBody>
          <a:bodyPr wrap="square" lIns="0" tIns="0" rIns="0" bIns="0" rtlCol="0" anchor="ctr"/>
          <a:lstStyle/>
          <a:p>
            <a:pPr indent="0" marL="0">
              <a:buNone/>
            </a:pPr>
            <a:r>
              <a:rPr lang="en-US" sz="1000" dirty="0">
                <a:solidFill>
                  <a:srgbClr val="888888"/>
                </a:solidFill>
                <a:latin typeface="Calibri" pitchFamily="34" charset="0"/>
                <a:ea typeface="Calibri" pitchFamily="34" charset="-122"/>
                <a:cs typeface="Calibri" pitchFamily="34" charset="-120"/>
              </a:rPr>
              <a:t>Top State</a:t>
            </a:r>
            <a:endParaRPr lang="en-US" sz="1000" dirty="0"/>
          </a:p>
        </p:txBody>
      </p:sp>
      <p:sp>
        <p:nvSpPr>
          <p:cNvPr id="24" name="Shape 22"/>
          <p:cNvSpPr/>
          <p:nvPr/>
        </p:nvSpPr>
        <p:spPr>
          <a:xfrm>
            <a:off x="6364224" y="1207008"/>
            <a:ext cx="1920240" cy="1143000"/>
          </a:xfrm>
          <a:prstGeom prst="rect">
            <a:avLst/>
          </a:prstGeom>
          <a:solidFill>
            <a:srgbClr val="FFFFFF"/>
          </a:solidFill>
          <a:ln w="6350">
            <a:solidFill>
              <a:srgbClr val="EEEEEE"/>
            </a:solidFill>
            <a:prstDash val="solid"/>
          </a:ln>
          <a:effectLst>
            <a:outerShdw sx="100000" sy="100000" kx="0" ky="0" algn="bl" rotWithShape="0" blurRad="101600" dist="38100" dir="8100000">
              <a:srgbClr val="000000">
                <a:alpha val="12000"/>
              </a:srgbClr>
            </a:outerShdw>
          </a:effectLst>
        </p:spPr>
      </p:sp>
      <p:sp>
        <p:nvSpPr>
          <p:cNvPr id="25" name="Shape 23"/>
          <p:cNvSpPr/>
          <p:nvPr/>
        </p:nvSpPr>
        <p:spPr>
          <a:xfrm>
            <a:off x="6364224" y="1207008"/>
            <a:ext cx="64008" cy="1143000"/>
          </a:xfrm>
          <a:prstGeom prst="rect">
            <a:avLst/>
          </a:prstGeom>
          <a:solidFill>
            <a:srgbClr val="FF6B35"/>
          </a:solidFill>
          <a:ln/>
        </p:spPr>
      </p:sp>
      <p:sp>
        <p:nvSpPr>
          <p:cNvPr id="26" name="Text 24"/>
          <p:cNvSpPr/>
          <p:nvPr/>
        </p:nvSpPr>
        <p:spPr>
          <a:xfrm>
            <a:off x="6492240" y="1298448"/>
            <a:ext cx="457200" cy="347472"/>
          </a:xfrm>
          <a:prstGeom prst="rect">
            <a:avLst/>
          </a:prstGeom>
          <a:noFill/>
          <a:ln/>
        </p:spPr>
        <p:txBody>
          <a:bodyPr wrap="square" lIns="0" tIns="0" rIns="0" bIns="0" rtlCol="0" anchor="ctr"/>
          <a:lstStyle/>
          <a:p>
            <a:pPr indent="0" marL="0">
              <a:buNone/>
            </a:pPr>
            <a:r>
              <a:rPr lang="en-US" sz="1800" dirty="0">
                <a:solidFill>
                  <a:srgbClr val="000000"/>
                </a:solidFill>
              </a:rPr>
              <a:t>📦</a:t>
            </a:r>
            <a:endParaRPr lang="en-US" sz="1800" dirty="0"/>
          </a:p>
        </p:txBody>
      </p:sp>
      <p:sp>
        <p:nvSpPr>
          <p:cNvPr id="27" name="Text 25"/>
          <p:cNvSpPr/>
          <p:nvPr/>
        </p:nvSpPr>
        <p:spPr>
          <a:xfrm>
            <a:off x="6492240" y="1627632"/>
            <a:ext cx="1719072" cy="384048"/>
          </a:xfrm>
          <a:prstGeom prst="rect">
            <a:avLst/>
          </a:prstGeom>
          <a:noFill/>
          <a:ln/>
        </p:spPr>
        <p:txBody>
          <a:bodyPr wrap="square" lIns="0" tIns="0" rIns="0" bIns="0" rtlCol="0" anchor="ctr"/>
          <a:lstStyle/>
          <a:p>
            <a:pPr indent="0" marL="0">
              <a:buNone/>
            </a:pPr>
            <a:r>
              <a:rPr lang="en-US" sz="1900" b="1" dirty="0">
                <a:solidFill>
                  <a:srgbClr val="1E1E2E"/>
                </a:solidFill>
                <a:latin typeface="Calibri" pitchFamily="34" charset="0"/>
                <a:ea typeface="Calibri" pitchFamily="34" charset="-122"/>
                <a:cs typeface="Calibri" pitchFamily="34" charset="-120"/>
              </a:rPr>
              <a:t>P2P</a:t>
            </a:r>
            <a:endParaRPr lang="en-US" sz="1900" dirty="0"/>
          </a:p>
        </p:txBody>
      </p:sp>
      <p:sp>
        <p:nvSpPr>
          <p:cNvPr id="28" name="Text 26"/>
          <p:cNvSpPr/>
          <p:nvPr/>
        </p:nvSpPr>
        <p:spPr>
          <a:xfrm>
            <a:off x="6492240" y="1993392"/>
            <a:ext cx="1719072" cy="201168"/>
          </a:xfrm>
          <a:prstGeom prst="rect">
            <a:avLst/>
          </a:prstGeom>
          <a:noFill/>
          <a:ln/>
        </p:spPr>
        <p:txBody>
          <a:bodyPr wrap="square" lIns="0" tIns="0" rIns="0" bIns="0" rtlCol="0" anchor="ctr"/>
          <a:lstStyle/>
          <a:p>
            <a:pPr indent="0" marL="0">
              <a:buNone/>
            </a:pPr>
            <a:r>
              <a:rPr lang="en-US" sz="1000" dirty="0">
                <a:solidFill>
                  <a:srgbClr val="888888"/>
                </a:solidFill>
                <a:latin typeface="Calibri" pitchFamily="34" charset="0"/>
                <a:ea typeface="Calibri" pitchFamily="34" charset="-122"/>
                <a:cs typeface="Calibri" pitchFamily="34" charset="-120"/>
              </a:rPr>
              <a:t>Leading Category</a:t>
            </a:r>
            <a:endParaRPr lang="en-US" sz="1000" dirty="0"/>
          </a:p>
        </p:txBody>
      </p:sp>
      <p:sp>
        <p:nvSpPr>
          <p:cNvPr id="29" name="Shape 27"/>
          <p:cNvSpPr/>
          <p:nvPr/>
        </p:nvSpPr>
        <p:spPr>
          <a:xfrm>
            <a:off x="274320" y="2514600"/>
            <a:ext cx="4206240" cy="13258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30" name="Shape 28"/>
          <p:cNvSpPr/>
          <p:nvPr/>
        </p:nvSpPr>
        <p:spPr>
          <a:xfrm>
            <a:off x="274320" y="2514600"/>
            <a:ext cx="4206240" cy="347472"/>
          </a:xfrm>
          <a:prstGeom prst="rect">
            <a:avLst/>
          </a:prstGeom>
          <a:solidFill>
            <a:srgbClr val="5F2EEA"/>
          </a:solidFill>
          <a:ln/>
        </p:spPr>
      </p:sp>
      <p:sp>
        <p:nvSpPr>
          <p:cNvPr id="31" name="Text 29"/>
          <p:cNvSpPr/>
          <p:nvPr/>
        </p:nvSpPr>
        <p:spPr>
          <a:xfrm>
            <a:off x="365760" y="2542032"/>
            <a:ext cx="40233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Visualization 1: QoQ Trend Lines</a:t>
            </a:r>
            <a:endParaRPr lang="en-US" sz="1100" dirty="0"/>
          </a:p>
        </p:txBody>
      </p:sp>
      <p:sp>
        <p:nvSpPr>
          <p:cNvPr id="32" name="Text 30"/>
          <p:cNvSpPr/>
          <p:nvPr/>
        </p:nvSpPr>
        <p:spPr>
          <a:xfrm>
            <a:off x="365760" y="2926080"/>
            <a:ext cx="4023360" cy="914400"/>
          </a:xfrm>
          <a:prstGeom prst="rect">
            <a:avLst/>
          </a:prstGeom>
          <a:noFill/>
          <a:ln/>
        </p:spPr>
        <p:txBody>
          <a:bodyPr wrap="square" lIns="0" tIns="0" rIns="0" bIns="0" rtlCol="0" anchor="ctr"/>
          <a:lstStyle/>
          <a:p>
            <a:pPr indent="0" marL="0">
              <a:buNone/>
            </a:pPr>
            <a:r>
              <a:rPr lang="en-US" sz="1000" dirty="0">
                <a:solidFill>
                  <a:srgbClr val="444444"/>
                </a:solidFill>
                <a:latin typeface="Calibri" pitchFamily="34" charset="0"/>
                <a:ea typeface="Calibri" pitchFamily="34" charset="-122"/>
                <a:cs typeface="Calibri" pitchFamily="34" charset="-120"/>
              </a:rPr>
              <a:t>Multi-line chart (Plotly px.line) showing transaction amount per category across all quarters. Each category is a separate colored line with markers. Reveals P2P dominance and Merchant Payments fastest growth at +18% QoQ.</a:t>
            </a:r>
            <a:endParaRPr lang="en-US" sz="1000" dirty="0"/>
          </a:p>
        </p:txBody>
      </p:sp>
      <p:sp>
        <p:nvSpPr>
          <p:cNvPr id="33" name="Shape 31"/>
          <p:cNvSpPr/>
          <p:nvPr/>
        </p:nvSpPr>
        <p:spPr>
          <a:xfrm>
            <a:off x="4663440" y="2514600"/>
            <a:ext cx="4206240" cy="13258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34" name="Shape 32"/>
          <p:cNvSpPr/>
          <p:nvPr/>
        </p:nvSpPr>
        <p:spPr>
          <a:xfrm>
            <a:off x="4663440" y="2514600"/>
            <a:ext cx="4206240" cy="347472"/>
          </a:xfrm>
          <a:prstGeom prst="rect">
            <a:avLst/>
          </a:prstGeom>
          <a:solidFill>
            <a:srgbClr val="00B9F1"/>
          </a:solidFill>
          <a:ln/>
        </p:spPr>
      </p:sp>
      <p:sp>
        <p:nvSpPr>
          <p:cNvPr id="35" name="Text 33"/>
          <p:cNvSpPr/>
          <p:nvPr/>
        </p:nvSpPr>
        <p:spPr>
          <a:xfrm>
            <a:off x="4754880" y="2542032"/>
            <a:ext cx="40233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Visualization 2: QoQ Growth Heatmap</a:t>
            </a:r>
            <a:endParaRPr lang="en-US" sz="1100" dirty="0"/>
          </a:p>
        </p:txBody>
      </p:sp>
      <p:sp>
        <p:nvSpPr>
          <p:cNvPr id="36" name="Text 34"/>
          <p:cNvSpPr/>
          <p:nvPr/>
        </p:nvSpPr>
        <p:spPr>
          <a:xfrm>
            <a:off x="4754880" y="2926080"/>
            <a:ext cx="4023360" cy="914400"/>
          </a:xfrm>
          <a:prstGeom prst="rect">
            <a:avLst/>
          </a:prstGeom>
          <a:noFill/>
          <a:ln/>
        </p:spPr>
        <p:txBody>
          <a:bodyPr wrap="square" lIns="0" tIns="0" rIns="0" bIns="0" rtlCol="0" anchor="ctr"/>
          <a:lstStyle/>
          <a:p>
            <a:pPr indent="0" marL="0">
              <a:buNone/>
            </a:pPr>
            <a:r>
              <a:rPr lang="en-US" sz="1000" dirty="0">
                <a:solidFill>
                  <a:srgbClr val="444444"/>
                </a:solidFill>
                <a:latin typeface="Calibri" pitchFamily="34" charset="0"/>
                <a:ea typeface="Calibri" pitchFamily="34" charset="-122"/>
                <a:cs typeface="Calibri" pitchFamily="34" charset="-120"/>
              </a:rPr>
              <a:t>Heatmap (px.imshow) with Category × Quarter axes. Color intensity = transaction amount. Instantly shows which category-quarter combinations are outperforming — purple = high, light = low.</a:t>
            </a:r>
            <a:endParaRPr lang="en-US" sz="1000" dirty="0"/>
          </a:p>
        </p:txBody>
      </p:sp>
      <p:sp>
        <p:nvSpPr>
          <p:cNvPr id="37" name="Shape 35"/>
          <p:cNvSpPr/>
          <p:nvPr/>
        </p:nvSpPr>
        <p:spPr>
          <a:xfrm>
            <a:off x="274320" y="3931920"/>
            <a:ext cx="8595360" cy="749808"/>
          </a:xfrm>
          <a:prstGeom prst="rect">
            <a:avLst/>
          </a:prstGeom>
          <a:solidFill>
            <a:srgbClr val="1E1E2E"/>
          </a:solidFill>
          <a:ln/>
        </p:spPr>
      </p:sp>
      <p:sp>
        <p:nvSpPr>
          <p:cNvPr id="38" name="Text 36"/>
          <p:cNvSpPr/>
          <p:nvPr/>
        </p:nvSpPr>
        <p:spPr>
          <a:xfrm>
            <a:off x="411480" y="3986784"/>
            <a:ext cx="8321040" cy="658368"/>
          </a:xfrm>
          <a:prstGeom prst="rect">
            <a:avLst/>
          </a:prstGeom>
          <a:noFill/>
          <a:ln/>
        </p:spPr>
        <p:txBody>
          <a:bodyPr wrap="square" lIns="0" tIns="0" rIns="0" bIns="0" rtlCol="0" anchor="ctr"/>
          <a:lstStyle/>
          <a:p>
            <a:pPr indent="0" marL="0">
              <a:buNone/>
            </a:pPr>
            <a:r>
              <a:rPr lang="en-US" sz="1050" b="1" dirty="0">
                <a:solidFill>
                  <a:srgbClr val="00B9F1"/>
                </a:solidFill>
                <a:latin typeface="Calibri" pitchFamily="34" charset="0"/>
                <a:ea typeface="Calibri" pitchFamily="34" charset="-122"/>
                <a:cs typeface="Calibri" pitchFamily="34" charset="-120"/>
              </a:rPr>
              <a:t>🔑 Key Findings:  </a:t>
            </a:r>
            <a:pPr indent="0" marL="0">
              <a:buNone/>
            </a:pPr>
            <a:r>
              <a:rPr lang="en-US" sz="1050" dirty="0">
                <a:solidFill>
                  <a:srgbClr val="FFFFFF"/>
                </a:solidFill>
                <a:latin typeface="Calibri" pitchFamily="34" charset="0"/>
                <a:ea typeface="Calibri" pitchFamily="34" charset="-122"/>
                <a:cs typeface="Calibri" pitchFamily="34" charset="-120"/>
              </a:rPr>
              <a:t>P2P leads volume (45%) but Financial Services commands highest avg ticket.  |  </a:t>
            </a:r>
            <a:pPr indent="0" marL="0">
              <a:buNone/>
            </a:pPr>
            <a:r>
              <a:rPr lang="en-US" sz="1050" dirty="0">
                <a:solidFill>
                  <a:srgbClr val="FFFFFF"/>
                </a:solidFill>
                <a:latin typeface="Calibri" pitchFamily="34" charset="0"/>
                <a:ea typeface="Calibri" pitchFamily="34" charset="-122"/>
                <a:cs typeface="Calibri" pitchFamily="34" charset="-120"/>
              </a:rPr>
              <a:t>Merchant Payments fastest growing (+18% QoQ).  |  </a:t>
            </a:r>
            <a:pPr indent="0" marL="0">
              <a:buNone/>
            </a:pPr>
            <a:r>
              <a:rPr lang="en-US" sz="1050" dirty="0">
                <a:solidFill>
                  <a:srgbClr val="FFFFFF"/>
                </a:solidFill>
                <a:latin typeface="Calibri" pitchFamily="34" charset="0"/>
                <a:ea typeface="Calibri" pitchFamily="34" charset="-122"/>
                <a:cs typeface="Calibri" pitchFamily="34" charset="-120"/>
              </a:rPr>
              <a:t>Q4 consistently peaks across all categories — leverage for seasonal campaigns.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1E2E"/>
          </a:solidFill>
          <a:ln/>
        </p:spPr>
      </p:sp>
      <p:sp>
        <p:nvSpPr>
          <p:cNvPr id="3" name="Shape 1"/>
          <p:cNvSpPr/>
          <p:nvPr/>
        </p:nvSpPr>
        <p:spPr>
          <a:xfrm>
            <a:off x="0" y="4828032"/>
            <a:ext cx="9144000" cy="315468"/>
          </a:xfrm>
          <a:prstGeom prst="rect">
            <a:avLst/>
          </a:prstGeom>
          <a:solidFill>
            <a:srgbClr val="5F2EEA">
              <a:alpha val="75000"/>
            </a:srgbClr>
          </a:solidFill>
          <a:ln/>
        </p:spPr>
      </p:sp>
      <p:sp>
        <p:nvSpPr>
          <p:cNvPr id="4" name="Text 2"/>
          <p:cNvSpPr/>
          <p:nvPr/>
        </p:nvSpPr>
        <p:spPr>
          <a:xfrm>
            <a:off x="274320" y="118872"/>
            <a:ext cx="8595360" cy="45720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BC2: Device Dominance &amp; User Engagement – Scenario &amp; Approach</a:t>
            </a:r>
            <a:endParaRPr lang="en-US" sz="2100" dirty="0"/>
          </a:p>
        </p:txBody>
      </p:sp>
      <p:sp>
        <p:nvSpPr>
          <p:cNvPr id="5" name="Text 3"/>
          <p:cNvSpPr/>
          <p:nvPr/>
        </p:nvSpPr>
        <p:spPr>
          <a:xfrm>
            <a:off x="182880" y="4846320"/>
            <a:ext cx="8778240" cy="237744"/>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PhonePe  •  5 Business Case Studies  •  5 / 18</a:t>
            </a:r>
            <a:endParaRPr lang="en-US" sz="900" dirty="0"/>
          </a:p>
        </p:txBody>
      </p:sp>
      <p:sp>
        <p:nvSpPr>
          <p:cNvPr id="6" name="Shape 4"/>
          <p:cNvSpPr/>
          <p:nvPr/>
        </p:nvSpPr>
        <p:spPr>
          <a:xfrm>
            <a:off x="274320" y="777240"/>
            <a:ext cx="1005840" cy="347472"/>
          </a:xfrm>
          <a:prstGeom prst="rect">
            <a:avLst/>
          </a:prstGeom>
          <a:solidFill>
            <a:srgbClr val="00B9F1"/>
          </a:solidFill>
          <a:ln/>
        </p:spPr>
      </p:sp>
      <p:sp>
        <p:nvSpPr>
          <p:cNvPr id="7" name="Text 5"/>
          <p:cNvSpPr/>
          <p:nvPr/>
        </p:nvSpPr>
        <p:spPr>
          <a:xfrm>
            <a:off x="274320" y="777240"/>
            <a:ext cx="100584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BC2</a:t>
            </a:r>
            <a:endParaRPr lang="en-US" sz="1300" dirty="0"/>
          </a:p>
        </p:txBody>
      </p:sp>
      <p:sp>
        <p:nvSpPr>
          <p:cNvPr id="8" name="Text 6"/>
          <p:cNvSpPr/>
          <p:nvPr/>
        </p:nvSpPr>
        <p:spPr>
          <a:xfrm>
            <a:off x="1371600" y="804672"/>
            <a:ext cx="7315200" cy="301752"/>
          </a:xfrm>
          <a:prstGeom prst="rect">
            <a:avLst/>
          </a:prstGeom>
          <a:noFill/>
          <a:ln/>
        </p:spPr>
        <p:txBody>
          <a:bodyPr wrap="square" lIns="0" tIns="0" rIns="0" bIns="0" rtlCol="0" anchor="ctr"/>
          <a:lstStyle/>
          <a:p>
            <a:pPr indent="0" marL="0">
              <a:buNone/>
            </a:pPr>
            <a:r>
              <a:rPr lang="en-US" sz="1300" i="1" dirty="0">
                <a:solidFill>
                  <a:srgbClr val="555555"/>
                </a:solidFill>
                <a:latin typeface="Calibri" pitchFamily="34" charset="0"/>
                <a:ea typeface="Calibri" pitchFamily="34" charset="-122"/>
                <a:cs typeface="Calibri" pitchFamily="34" charset="-120"/>
              </a:rPr>
              <a:t>Device Dominance &amp; User Engagement</a:t>
            </a:r>
            <a:endParaRPr lang="en-US" sz="1300" dirty="0"/>
          </a:p>
        </p:txBody>
      </p:sp>
      <p:sp>
        <p:nvSpPr>
          <p:cNvPr id="9" name="Shape 7"/>
          <p:cNvSpPr/>
          <p:nvPr/>
        </p:nvSpPr>
        <p:spPr>
          <a:xfrm>
            <a:off x="274320" y="1207008"/>
            <a:ext cx="8595360" cy="960120"/>
          </a:xfrm>
          <a:prstGeom prst="rect">
            <a:avLst/>
          </a:prstGeom>
          <a:solidFill>
            <a:srgbClr val="E8F7FD"/>
          </a:solidFill>
          <a:ln w="6350">
            <a:solidFill>
              <a:srgbClr val="00B9F1"/>
            </a:solidFill>
            <a:prstDash val="solid"/>
          </a:ln>
        </p:spPr>
      </p:sp>
      <p:sp>
        <p:nvSpPr>
          <p:cNvPr id="10" name="Text 8"/>
          <p:cNvSpPr/>
          <p:nvPr/>
        </p:nvSpPr>
        <p:spPr>
          <a:xfrm>
            <a:off x="411480" y="1261872"/>
            <a:ext cx="8321040" cy="822960"/>
          </a:xfrm>
          <a:prstGeom prst="rect">
            <a:avLst/>
          </a:prstGeom>
          <a:noFill/>
          <a:ln/>
        </p:spPr>
        <p:txBody>
          <a:bodyPr wrap="square" lIns="0" tIns="0" rIns="0" bIns="0" rtlCol="0" anchor="ctr"/>
          <a:lstStyle/>
          <a:p>
            <a:pPr indent="0" marL="0">
              <a:buNone/>
            </a:pPr>
            <a:r>
              <a:rPr lang="en-US" sz="1200" dirty="0">
                <a:solidFill>
                  <a:srgbClr val="1E1E2E"/>
                </a:solidFill>
                <a:latin typeface="Calibri" pitchFamily="34" charset="0"/>
                <a:ea typeface="Calibri" pitchFamily="34" charset="-122"/>
                <a:cs typeface="Calibri" pitchFamily="34" charset="-120"/>
              </a:rPr>
              <a:t>PhonePe aims to enhance user engagement by understanding preferences across device brands. Trends vary by region — some devices have high registrations but low app activity, signalling an underutilisation gap that can be addressed with targeted UX improvements.</a:t>
            </a:r>
            <a:endParaRPr lang="en-US" sz="1200" dirty="0"/>
          </a:p>
        </p:txBody>
      </p:sp>
      <p:sp>
        <p:nvSpPr>
          <p:cNvPr id="11" name="Shape 9"/>
          <p:cNvSpPr/>
          <p:nvPr/>
        </p:nvSpPr>
        <p:spPr>
          <a:xfrm>
            <a:off x="274320" y="2331720"/>
            <a:ext cx="2011680" cy="365760"/>
          </a:xfrm>
          <a:prstGeom prst="rect">
            <a:avLst/>
          </a:prstGeom>
          <a:solidFill>
            <a:srgbClr val="00B9F1"/>
          </a:solidFill>
          <a:ln/>
        </p:spPr>
      </p:sp>
      <p:sp>
        <p:nvSpPr>
          <p:cNvPr id="12" name="Text 10"/>
          <p:cNvSpPr/>
          <p:nvPr/>
        </p:nvSpPr>
        <p:spPr>
          <a:xfrm>
            <a:off x="274320" y="2331720"/>
            <a:ext cx="201168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13" name="Shape 11"/>
          <p:cNvSpPr/>
          <p:nvPr/>
        </p:nvSpPr>
        <p:spPr>
          <a:xfrm>
            <a:off x="274320" y="2697480"/>
            <a:ext cx="2011680" cy="1463040"/>
          </a:xfrm>
          <a:prstGeom prst="rect">
            <a:avLst/>
          </a:prstGeom>
          <a:solidFill>
            <a:srgbClr val="FFFFFF"/>
          </a:solidFill>
          <a:ln w="6350">
            <a:solidFill>
              <a:srgbClr val="EEEEEE"/>
            </a:solidFill>
            <a:prstDash val="solid"/>
          </a:ln>
          <a:effectLst>
            <a:outerShdw sx="100000" sy="100000" kx="0" ky="0" algn="bl" rotWithShape="0" blurRad="101600" dist="38100" dir="8100000">
              <a:srgbClr val="000000">
                <a:alpha val="12000"/>
              </a:srgbClr>
            </a:outerShdw>
          </a:effectLst>
        </p:spPr>
      </p:sp>
      <p:sp>
        <p:nvSpPr>
          <p:cNvPr id="14" name="Text 12"/>
          <p:cNvSpPr/>
          <p:nvPr/>
        </p:nvSpPr>
        <p:spPr>
          <a:xfrm>
            <a:off x="365760" y="2761488"/>
            <a:ext cx="1828800" cy="274320"/>
          </a:xfrm>
          <a:prstGeom prst="rect">
            <a:avLst/>
          </a:prstGeom>
          <a:noFill/>
          <a:ln/>
        </p:spPr>
        <p:txBody>
          <a:bodyPr wrap="square" lIns="0" tIns="0" rIns="0" bIns="0" rtlCol="0" anchor="ctr"/>
          <a:lstStyle/>
          <a:p>
            <a:pPr indent="0" marL="0">
              <a:buNone/>
            </a:pPr>
            <a:r>
              <a:rPr lang="en-US" sz="1100" b="1" dirty="0">
                <a:solidFill>
                  <a:srgbClr val="1E1E2E"/>
                </a:solidFill>
                <a:latin typeface="Calibri" pitchFamily="34" charset="0"/>
                <a:ea typeface="Calibri" pitchFamily="34" charset="-122"/>
                <a:cs typeface="Calibri" pitchFamily="34" charset="-120"/>
              </a:rPr>
              <a:t>Brand Market Share</a:t>
            </a:r>
            <a:endParaRPr lang="en-US" sz="1100" dirty="0"/>
          </a:p>
        </p:txBody>
      </p:sp>
      <p:sp>
        <p:nvSpPr>
          <p:cNvPr id="15" name="Text 13"/>
          <p:cNvSpPr/>
          <p:nvPr/>
        </p:nvSpPr>
        <p:spPr>
          <a:xfrm>
            <a:off x="365760" y="3063240"/>
            <a:ext cx="1828800" cy="1005840"/>
          </a:xfrm>
          <a:prstGeom prst="rect">
            <a:avLst/>
          </a:prstGeom>
          <a:noFill/>
          <a:ln/>
        </p:spPr>
        <p:txBody>
          <a:bodyPr wrap="square" lIns="0" tIns="0" rIns="0" bIns="0" rtlCol="0" anchor="ctr"/>
          <a:lstStyle/>
          <a:p>
            <a:pPr indent="0" marL="0">
              <a:buNone/>
            </a:pPr>
            <a:r>
              <a:rPr lang="en-US" sz="950" dirty="0">
                <a:solidFill>
                  <a:srgbClr val="444444"/>
                </a:solidFill>
                <a:latin typeface="Courier New" pitchFamily="34" charset="0"/>
                <a:ea typeface="Courier New" pitchFamily="34" charset="-122"/>
                <a:cs typeface="Courier New" pitchFamily="34" charset="-120"/>
              </a:rPr>
              <a:t>SUM(user_count) per brand</a:t>
            </a:r>
            <a:endParaRPr lang="en-US" sz="950" dirty="0"/>
          </a:p>
          <a:p>
            <a:pPr indent="0" marL="0">
              <a:buNone/>
            </a:pPr>
            <a:r>
              <a:rPr lang="en-US" sz="950" dirty="0">
                <a:solidFill>
                  <a:srgbClr val="444444"/>
                </a:solidFill>
                <a:latin typeface="Courier New" pitchFamily="34" charset="0"/>
                <a:ea typeface="Courier New" pitchFamily="34" charset="-122"/>
                <a:cs typeface="Courier New" pitchFamily="34" charset="-120"/>
              </a:rPr>
              <a:t>Window: OVER() for national %</a:t>
            </a:r>
            <a:endParaRPr lang="en-US" sz="950" dirty="0"/>
          </a:p>
          <a:p>
            <a:pPr indent="0" marL="0">
              <a:buNone/>
            </a:pPr>
            <a:r>
              <a:rPr lang="en-US" sz="950" dirty="0">
                <a:solidFill>
                  <a:srgbClr val="444444"/>
                </a:solidFill>
                <a:latin typeface="Courier New" pitchFamily="34" charset="0"/>
                <a:ea typeface="Courier New" pitchFamily="34" charset="-122"/>
                <a:cs typeface="Courier New" pitchFamily="34" charset="-120"/>
              </a:rPr>
              <a:t>Per-state: PARTITION BY state</a:t>
            </a:r>
            <a:endParaRPr lang="en-US" sz="950" dirty="0"/>
          </a:p>
        </p:txBody>
      </p:sp>
      <p:sp>
        <p:nvSpPr>
          <p:cNvPr id="16" name="Shape 14"/>
          <p:cNvSpPr/>
          <p:nvPr/>
        </p:nvSpPr>
        <p:spPr>
          <a:xfrm>
            <a:off x="2450592" y="2331720"/>
            <a:ext cx="2011680" cy="365760"/>
          </a:xfrm>
          <a:prstGeom prst="rect">
            <a:avLst/>
          </a:prstGeom>
          <a:solidFill>
            <a:srgbClr val="00B9F1"/>
          </a:solidFill>
          <a:ln/>
        </p:spPr>
      </p:sp>
      <p:sp>
        <p:nvSpPr>
          <p:cNvPr id="17" name="Text 15"/>
          <p:cNvSpPr/>
          <p:nvPr/>
        </p:nvSpPr>
        <p:spPr>
          <a:xfrm>
            <a:off x="2450592" y="2331720"/>
            <a:ext cx="201168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18" name="Shape 16"/>
          <p:cNvSpPr/>
          <p:nvPr/>
        </p:nvSpPr>
        <p:spPr>
          <a:xfrm>
            <a:off x="2450592" y="2697480"/>
            <a:ext cx="2011680" cy="1463040"/>
          </a:xfrm>
          <a:prstGeom prst="rect">
            <a:avLst/>
          </a:prstGeom>
          <a:solidFill>
            <a:srgbClr val="FFFFFF"/>
          </a:solidFill>
          <a:ln w="6350">
            <a:solidFill>
              <a:srgbClr val="EEEEEE"/>
            </a:solidFill>
            <a:prstDash val="solid"/>
          </a:ln>
          <a:effectLst>
            <a:outerShdw sx="100000" sy="100000" kx="0" ky="0" algn="bl" rotWithShape="0" blurRad="101600" dist="38100" dir="8100000">
              <a:srgbClr val="000000">
                <a:alpha val="12000"/>
              </a:srgbClr>
            </a:outerShdw>
          </a:effectLst>
        </p:spPr>
      </p:sp>
      <p:sp>
        <p:nvSpPr>
          <p:cNvPr id="19" name="Text 17"/>
          <p:cNvSpPr/>
          <p:nvPr/>
        </p:nvSpPr>
        <p:spPr>
          <a:xfrm>
            <a:off x="2542032" y="2761488"/>
            <a:ext cx="1828800" cy="274320"/>
          </a:xfrm>
          <a:prstGeom prst="rect">
            <a:avLst/>
          </a:prstGeom>
          <a:noFill/>
          <a:ln/>
        </p:spPr>
        <p:txBody>
          <a:bodyPr wrap="square" lIns="0" tIns="0" rIns="0" bIns="0" rtlCol="0" anchor="ctr"/>
          <a:lstStyle/>
          <a:p>
            <a:pPr indent="0" marL="0">
              <a:buNone/>
            </a:pPr>
            <a:r>
              <a:rPr lang="en-US" sz="1100" b="1" dirty="0">
                <a:solidFill>
                  <a:srgbClr val="1E1E2E"/>
                </a:solidFill>
                <a:latin typeface="Calibri" pitchFamily="34" charset="0"/>
                <a:ea typeface="Calibri" pitchFamily="34" charset="-122"/>
                <a:cs typeface="Calibri" pitchFamily="34" charset="-120"/>
              </a:rPr>
              <a:t>Engagement Ratio</a:t>
            </a:r>
            <a:endParaRPr lang="en-US" sz="1100" dirty="0"/>
          </a:p>
        </p:txBody>
      </p:sp>
      <p:sp>
        <p:nvSpPr>
          <p:cNvPr id="20" name="Text 18"/>
          <p:cNvSpPr/>
          <p:nvPr/>
        </p:nvSpPr>
        <p:spPr>
          <a:xfrm>
            <a:off x="2542032" y="3063240"/>
            <a:ext cx="1828800" cy="1005840"/>
          </a:xfrm>
          <a:prstGeom prst="rect">
            <a:avLst/>
          </a:prstGeom>
          <a:noFill/>
          <a:ln/>
        </p:spPr>
        <p:txBody>
          <a:bodyPr wrap="square" lIns="0" tIns="0" rIns="0" bIns="0" rtlCol="0" anchor="ctr"/>
          <a:lstStyle/>
          <a:p>
            <a:pPr indent="0" marL="0">
              <a:buNone/>
            </a:pPr>
            <a:r>
              <a:rPr lang="en-US" sz="950" dirty="0">
                <a:solidFill>
                  <a:srgbClr val="444444"/>
                </a:solidFill>
                <a:latin typeface="Courier New" pitchFamily="34" charset="0"/>
                <a:ea typeface="Courier New" pitchFamily="34" charset="-122"/>
                <a:cs typeface="Courier New" pitchFamily="34" charset="-120"/>
              </a:rPr>
              <a:t>app_opens / registered_users</a:t>
            </a:r>
            <a:endParaRPr lang="en-US" sz="950" dirty="0"/>
          </a:p>
          <a:p>
            <a:pPr indent="0" marL="0">
              <a:buNone/>
            </a:pPr>
            <a:r>
              <a:rPr lang="en-US" sz="950" dirty="0">
                <a:solidFill>
                  <a:srgbClr val="444444"/>
                </a:solidFill>
                <a:latin typeface="Courier New" pitchFamily="34" charset="0"/>
                <a:ea typeface="Courier New" pitchFamily="34" charset="-122"/>
                <a:cs typeface="Courier New" pitchFamily="34" charset="-120"/>
              </a:rPr>
              <a:t>Grouped by state, year, quarter</a:t>
            </a:r>
            <a:endParaRPr lang="en-US" sz="950" dirty="0"/>
          </a:p>
          <a:p>
            <a:pPr indent="0" marL="0">
              <a:buNone/>
            </a:pPr>
            <a:r>
              <a:rPr lang="en-US" sz="950" dirty="0">
                <a:solidFill>
                  <a:srgbClr val="444444"/>
                </a:solidFill>
                <a:latin typeface="Courier New" pitchFamily="34" charset="0"/>
                <a:ea typeface="Courier New" pitchFamily="34" charset="-122"/>
                <a:cs typeface="Courier New" pitchFamily="34" charset="-120"/>
              </a:rPr>
              <a:t>Ranked descending</a:t>
            </a:r>
            <a:endParaRPr lang="en-US" sz="950" dirty="0"/>
          </a:p>
        </p:txBody>
      </p:sp>
      <p:sp>
        <p:nvSpPr>
          <p:cNvPr id="21" name="Shape 19"/>
          <p:cNvSpPr/>
          <p:nvPr/>
        </p:nvSpPr>
        <p:spPr>
          <a:xfrm>
            <a:off x="4626864" y="2331720"/>
            <a:ext cx="2011680" cy="365760"/>
          </a:xfrm>
          <a:prstGeom prst="rect">
            <a:avLst/>
          </a:prstGeom>
          <a:solidFill>
            <a:srgbClr val="00B9F1"/>
          </a:solidFill>
          <a:ln/>
        </p:spPr>
      </p:sp>
      <p:sp>
        <p:nvSpPr>
          <p:cNvPr id="22" name="Text 20"/>
          <p:cNvSpPr/>
          <p:nvPr/>
        </p:nvSpPr>
        <p:spPr>
          <a:xfrm>
            <a:off x="4626864" y="2331720"/>
            <a:ext cx="201168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23" name="Shape 21"/>
          <p:cNvSpPr/>
          <p:nvPr/>
        </p:nvSpPr>
        <p:spPr>
          <a:xfrm>
            <a:off x="4626864" y="2697480"/>
            <a:ext cx="2011680" cy="1463040"/>
          </a:xfrm>
          <a:prstGeom prst="rect">
            <a:avLst/>
          </a:prstGeom>
          <a:solidFill>
            <a:srgbClr val="FFFFFF"/>
          </a:solidFill>
          <a:ln w="6350">
            <a:solidFill>
              <a:srgbClr val="EEEEEE"/>
            </a:solidFill>
            <a:prstDash val="solid"/>
          </a:ln>
          <a:effectLst>
            <a:outerShdw sx="100000" sy="100000" kx="0" ky="0" algn="bl" rotWithShape="0" blurRad="101600" dist="38100" dir="8100000">
              <a:srgbClr val="000000">
                <a:alpha val="12000"/>
              </a:srgbClr>
            </a:outerShdw>
          </a:effectLst>
        </p:spPr>
      </p:sp>
      <p:sp>
        <p:nvSpPr>
          <p:cNvPr id="24" name="Text 22"/>
          <p:cNvSpPr/>
          <p:nvPr/>
        </p:nvSpPr>
        <p:spPr>
          <a:xfrm>
            <a:off x="4718304" y="2761488"/>
            <a:ext cx="1828800" cy="274320"/>
          </a:xfrm>
          <a:prstGeom prst="rect">
            <a:avLst/>
          </a:prstGeom>
          <a:noFill/>
          <a:ln/>
        </p:spPr>
        <p:txBody>
          <a:bodyPr wrap="square" lIns="0" tIns="0" rIns="0" bIns="0" rtlCol="0" anchor="ctr"/>
          <a:lstStyle/>
          <a:p>
            <a:pPr indent="0" marL="0">
              <a:buNone/>
            </a:pPr>
            <a:r>
              <a:rPr lang="en-US" sz="1100" b="1" dirty="0">
                <a:solidFill>
                  <a:srgbClr val="1E1E2E"/>
                </a:solidFill>
                <a:latin typeface="Calibri" pitchFamily="34" charset="0"/>
                <a:ea typeface="Calibri" pitchFamily="34" charset="-122"/>
                <a:cs typeface="Calibri" pitchFamily="34" charset="-120"/>
              </a:rPr>
              <a:t>Underutilised Filter</a:t>
            </a:r>
            <a:endParaRPr lang="en-US" sz="1100" dirty="0"/>
          </a:p>
        </p:txBody>
      </p:sp>
      <p:sp>
        <p:nvSpPr>
          <p:cNvPr id="25" name="Text 23"/>
          <p:cNvSpPr/>
          <p:nvPr/>
        </p:nvSpPr>
        <p:spPr>
          <a:xfrm>
            <a:off x="4718304" y="3063240"/>
            <a:ext cx="1828800" cy="1005840"/>
          </a:xfrm>
          <a:prstGeom prst="rect">
            <a:avLst/>
          </a:prstGeom>
          <a:noFill/>
          <a:ln/>
        </p:spPr>
        <p:txBody>
          <a:bodyPr wrap="square" lIns="0" tIns="0" rIns="0" bIns="0" rtlCol="0" anchor="ctr"/>
          <a:lstStyle/>
          <a:p>
            <a:pPr indent="0" marL="0">
              <a:buNone/>
            </a:pPr>
            <a:r>
              <a:rPr lang="en-US" sz="950" dirty="0">
                <a:solidFill>
                  <a:srgbClr val="444444"/>
                </a:solidFill>
                <a:latin typeface="Courier New" pitchFamily="34" charset="0"/>
                <a:ea typeface="Courier New" pitchFamily="34" charset="-122"/>
                <a:cs typeface="Courier New" pitchFamily="34" charset="-120"/>
              </a:rPr>
              <a:t>state_share_pct &gt;= 15%</a:t>
            </a:r>
            <a:endParaRPr lang="en-US" sz="950" dirty="0"/>
          </a:p>
          <a:p>
            <a:pPr indent="0" marL="0">
              <a:buNone/>
            </a:pPr>
            <a:r>
              <a:rPr lang="en-US" sz="950" dirty="0">
                <a:solidFill>
                  <a:srgbClr val="444444"/>
                </a:solidFill>
                <a:latin typeface="Courier New" pitchFamily="34" charset="0"/>
                <a:ea typeface="Courier New" pitchFamily="34" charset="-122"/>
                <a:cs typeface="Courier New" pitchFamily="34" charset="-120"/>
              </a:rPr>
              <a:t>AND brand_rank &gt; 3</a:t>
            </a:r>
            <a:endParaRPr lang="en-US" sz="950" dirty="0"/>
          </a:p>
          <a:p>
            <a:pPr indent="0" marL="0">
              <a:buNone/>
            </a:pPr>
            <a:r>
              <a:rPr lang="en-US" sz="950" dirty="0">
                <a:solidFill>
                  <a:srgbClr val="444444"/>
                </a:solidFill>
                <a:latin typeface="Courier New" pitchFamily="34" charset="0"/>
                <a:ea typeface="Courier New" pitchFamily="34" charset="-122"/>
                <a:cs typeface="Courier New" pitchFamily="34" charset="-120"/>
              </a:rPr>
              <a:t>(high share, low engagement)</a:t>
            </a:r>
            <a:endParaRPr lang="en-US" sz="950" dirty="0"/>
          </a:p>
        </p:txBody>
      </p:sp>
      <p:sp>
        <p:nvSpPr>
          <p:cNvPr id="26" name="Shape 24"/>
          <p:cNvSpPr/>
          <p:nvPr/>
        </p:nvSpPr>
        <p:spPr>
          <a:xfrm>
            <a:off x="6803136" y="2331720"/>
            <a:ext cx="2011680" cy="365760"/>
          </a:xfrm>
          <a:prstGeom prst="rect">
            <a:avLst/>
          </a:prstGeom>
          <a:solidFill>
            <a:srgbClr val="00B9F1"/>
          </a:solidFill>
          <a:ln/>
        </p:spPr>
      </p:sp>
      <p:sp>
        <p:nvSpPr>
          <p:cNvPr id="27" name="Text 25"/>
          <p:cNvSpPr/>
          <p:nvPr/>
        </p:nvSpPr>
        <p:spPr>
          <a:xfrm>
            <a:off x="6803136" y="2331720"/>
            <a:ext cx="201168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28" name="Shape 26"/>
          <p:cNvSpPr/>
          <p:nvPr/>
        </p:nvSpPr>
        <p:spPr>
          <a:xfrm>
            <a:off x="6803136" y="2697480"/>
            <a:ext cx="2011680" cy="1463040"/>
          </a:xfrm>
          <a:prstGeom prst="rect">
            <a:avLst/>
          </a:prstGeom>
          <a:solidFill>
            <a:srgbClr val="FFFFFF"/>
          </a:solidFill>
          <a:ln w="6350">
            <a:solidFill>
              <a:srgbClr val="EEEEEE"/>
            </a:solidFill>
            <a:prstDash val="solid"/>
          </a:ln>
          <a:effectLst>
            <a:outerShdw sx="100000" sy="100000" kx="0" ky="0" algn="bl" rotWithShape="0" blurRad="101600" dist="38100" dir="8100000">
              <a:srgbClr val="000000">
                <a:alpha val="12000"/>
              </a:srgbClr>
            </a:outerShdw>
          </a:effectLst>
        </p:spPr>
      </p:sp>
      <p:sp>
        <p:nvSpPr>
          <p:cNvPr id="29" name="Text 27"/>
          <p:cNvSpPr/>
          <p:nvPr/>
        </p:nvSpPr>
        <p:spPr>
          <a:xfrm>
            <a:off x="6894576" y="2761488"/>
            <a:ext cx="1828800" cy="274320"/>
          </a:xfrm>
          <a:prstGeom prst="rect">
            <a:avLst/>
          </a:prstGeom>
          <a:noFill/>
          <a:ln/>
        </p:spPr>
        <p:txBody>
          <a:bodyPr wrap="square" lIns="0" tIns="0" rIns="0" bIns="0" rtlCol="0" anchor="ctr"/>
          <a:lstStyle/>
          <a:p>
            <a:pPr indent="0" marL="0">
              <a:buNone/>
            </a:pPr>
            <a:r>
              <a:rPr lang="en-US" sz="1100" b="1" dirty="0">
                <a:solidFill>
                  <a:srgbClr val="1E1E2E"/>
                </a:solidFill>
                <a:latin typeface="Calibri" pitchFamily="34" charset="0"/>
                <a:ea typeface="Calibri" pitchFamily="34" charset="-122"/>
                <a:cs typeface="Calibri" pitchFamily="34" charset="-120"/>
              </a:rPr>
              <a:t>YoY User Growth</a:t>
            </a:r>
            <a:endParaRPr lang="en-US" sz="1100" dirty="0"/>
          </a:p>
        </p:txBody>
      </p:sp>
      <p:sp>
        <p:nvSpPr>
          <p:cNvPr id="30" name="Text 28"/>
          <p:cNvSpPr/>
          <p:nvPr/>
        </p:nvSpPr>
        <p:spPr>
          <a:xfrm>
            <a:off x="6894576" y="3063240"/>
            <a:ext cx="1828800" cy="1005840"/>
          </a:xfrm>
          <a:prstGeom prst="rect">
            <a:avLst/>
          </a:prstGeom>
          <a:noFill/>
          <a:ln/>
        </p:spPr>
        <p:txBody>
          <a:bodyPr wrap="square" lIns="0" tIns="0" rIns="0" bIns="0" rtlCol="0" anchor="ctr"/>
          <a:lstStyle/>
          <a:p>
            <a:pPr indent="0" marL="0">
              <a:buNone/>
            </a:pPr>
            <a:r>
              <a:rPr lang="en-US" sz="950" dirty="0">
                <a:solidFill>
                  <a:srgbClr val="444444"/>
                </a:solidFill>
                <a:latin typeface="Courier New" pitchFamily="34" charset="0"/>
                <a:ea typeface="Courier New" pitchFamily="34" charset="-122"/>
                <a:cs typeface="Courier New" pitchFamily="34" charset="-120"/>
              </a:rPr>
              <a:t>LAG(reg_users) OVER</a:t>
            </a:r>
            <a:endParaRPr lang="en-US" sz="950" dirty="0"/>
          </a:p>
          <a:p>
            <a:pPr indent="0" marL="0">
              <a:buNone/>
            </a:pPr>
            <a:r>
              <a:rPr lang="en-US" sz="950" dirty="0">
                <a:solidFill>
                  <a:srgbClr val="444444"/>
                </a:solidFill>
                <a:latin typeface="Courier New" pitchFamily="34" charset="0"/>
                <a:ea typeface="Courier New" pitchFamily="34" charset="-122"/>
                <a:cs typeface="Courier New" pitchFamily="34" charset="-120"/>
              </a:rPr>
              <a:t>(PARTITION BY state</a:t>
            </a:r>
            <a:endParaRPr lang="en-US" sz="950" dirty="0"/>
          </a:p>
          <a:p>
            <a:pPr indent="0" marL="0">
              <a:buNone/>
            </a:pPr>
            <a:r>
              <a:rPr lang="en-US" sz="950" dirty="0">
                <a:solidFill>
                  <a:srgbClr val="444444"/>
                </a:solidFill>
                <a:latin typeface="Courier New" pitchFamily="34" charset="0"/>
                <a:ea typeface="Courier New" pitchFamily="34" charset="-122"/>
                <a:cs typeface="Courier New" pitchFamily="34" charset="-120"/>
              </a:rPr>
              <a:t>ORDER BY year)</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1E2E"/>
          </a:solidFill>
          <a:ln/>
        </p:spPr>
      </p:sp>
      <p:sp>
        <p:nvSpPr>
          <p:cNvPr id="3" name="Shape 1"/>
          <p:cNvSpPr/>
          <p:nvPr/>
        </p:nvSpPr>
        <p:spPr>
          <a:xfrm>
            <a:off x="0" y="4828032"/>
            <a:ext cx="9144000" cy="315468"/>
          </a:xfrm>
          <a:prstGeom prst="rect">
            <a:avLst/>
          </a:prstGeom>
          <a:solidFill>
            <a:srgbClr val="5F2EEA">
              <a:alpha val="75000"/>
            </a:srgbClr>
          </a:solidFill>
          <a:ln/>
        </p:spPr>
      </p:sp>
      <p:sp>
        <p:nvSpPr>
          <p:cNvPr id="4" name="Text 2"/>
          <p:cNvSpPr/>
          <p:nvPr/>
        </p:nvSpPr>
        <p:spPr>
          <a:xfrm>
            <a:off x="274320" y="118872"/>
            <a:ext cx="8595360" cy="45720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BC2: Device Dominance &amp; User Engagement – Visualizations &amp; Findings</a:t>
            </a:r>
            <a:endParaRPr lang="en-US" sz="2100" dirty="0"/>
          </a:p>
        </p:txBody>
      </p:sp>
      <p:sp>
        <p:nvSpPr>
          <p:cNvPr id="5" name="Text 3"/>
          <p:cNvSpPr/>
          <p:nvPr/>
        </p:nvSpPr>
        <p:spPr>
          <a:xfrm>
            <a:off x="182880" y="4846320"/>
            <a:ext cx="8778240" cy="237744"/>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PhonePe  •  5 Business Case Studies  •  6 / 18</a:t>
            </a:r>
            <a:endParaRPr lang="en-US" sz="900" dirty="0"/>
          </a:p>
        </p:txBody>
      </p:sp>
      <p:sp>
        <p:nvSpPr>
          <p:cNvPr id="6" name="Shape 4"/>
          <p:cNvSpPr/>
          <p:nvPr/>
        </p:nvSpPr>
        <p:spPr>
          <a:xfrm>
            <a:off x="274320" y="777240"/>
            <a:ext cx="1005840" cy="347472"/>
          </a:xfrm>
          <a:prstGeom prst="rect">
            <a:avLst/>
          </a:prstGeom>
          <a:solidFill>
            <a:srgbClr val="00B9F1"/>
          </a:solidFill>
          <a:ln/>
        </p:spPr>
      </p:sp>
      <p:sp>
        <p:nvSpPr>
          <p:cNvPr id="7" name="Text 5"/>
          <p:cNvSpPr/>
          <p:nvPr/>
        </p:nvSpPr>
        <p:spPr>
          <a:xfrm>
            <a:off x="274320" y="777240"/>
            <a:ext cx="100584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BC2</a:t>
            </a:r>
            <a:endParaRPr lang="en-US" sz="1300" dirty="0"/>
          </a:p>
        </p:txBody>
      </p:sp>
      <p:sp>
        <p:nvSpPr>
          <p:cNvPr id="8" name="Text 6"/>
          <p:cNvSpPr/>
          <p:nvPr/>
        </p:nvSpPr>
        <p:spPr>
          <a:xfrm>
            <a:off x="1371600" y="804672"/>
            <a:ext cx="7315200" cy="301752"/>
          </a:xfrm>
          <a:prstGeom prst="rect">
            <a:avLst/>
          </a:prstGeom>
          <a:noFill/>
          <a:ln/>
        </p:spPr>
        <p:txBody>
          <a:bodyPr wrap="square" lIns="0" tIns="0" rIns="0" bIns="0" rtlCol="0" anchor="ctr"/>
          <a:lstStyle/>
          <a:p>
            <a:pPr indent="0" marL="0">
              <a:buNone/>
            </a:pPr>
            <a:r>
              <a:rPr lang="en-US" sz="1300" i="1" dirty="0">
                <a:solidFill>
                  <a:srgbClr val="555555"/>
                </a:solidFill>
                <a:latin typeface="Calibri" pitchFamily="34" charset="0"/>
                <a:ea typeface="Calibri" pitchFamily="34" charset="-122"/>
                <a:cs typeface="Calibri" pitchFamily="34" charset="-120"/>
              </a:rPr>
              <a:t>Device Dominance &amp; User Engagement</a:t>
            </a:r>
            <a:endParaRPr lang="en-US" sz="1300" dirty="0"/>
          </a:p>
        </p:txBody>
      </p:sp>
      <p:sp>
        <p:nvSpPr>
          <p:cNvPr id="9" name="Shape 7"/>
          <p:cNvSpPr/>
          <p:nvPr/>
        </p:nvSpPr>
        <p:spPr>
          <a:xfrm>
            <a:off x="274320" y="1207008"/>
            <a:ext cx="1920240" cy="1143000"/>
          </a:xfrm>
          <a:prstGeom prst="rect">
            <a:avLst/>
          </a:prstGeom>
          <a:solidFill>
            <a:srgbClr val="FFFFFF"/>
          </a:solidFill>
          <a:ln w="6350">
            <a:solidFill>
              <a:srgbClr val="EEEEEE"/>
            </a:solidFill>
            <a:prstDash val="solid"/>
          </a:ln>
          <a:effectLst>
            <a:outerShdw sx="100000" sy="100000" kx="0" ky="0" algn="bl" rotWithShape="0" blurRad="101600" dist="38100" dir="8100000">
              <a:srgbClr val="000000">
                <a:alpha val="12000"/>
              </a:srgbClr>
            </a:outerShdw>
          </a:effectLst>
        </p:spPr>
      </p:sp>
      <p:sp>
        <p:nvSpPr>
          <p:cNvPr id="10" name="Shape 8"/>
          <p:cNvSpPr/>
          <p:nvPr/>
        </p:nvSpPr>
        <p:spPr>
          <a:xfrm>
            <a:off x="274320" y="1207008"/>
            <a:ext cx="64008" cy="1143000"/>
          </a:xfrm>
          <a:prstGeom prst="rect">
            <a:avLst/>
          </a:prstGeom>
          <a:solidFill>
            <a:srgbClr val="5F2EEA"/>
          </a:solidFill>
          <a:ln/>
        </p:spPr>
      </p:sp>
      <p:sp>
        <p:nvSpPr>
          <p:cNvPr id="11" name="Text 9"/>
          <p:cNvSpPr/>
          <p:nvPr/>
        </p:nvSpPr>
        <p:spPr>
          <a:xfrm>
            <a:off x="402336" y="1298448"/>
            <a:ext cx="457200" cy="347472"/>
          </a:xfrm>
          <a:prstGeom prst="rect">
            <a:avLst/>
          </a:prstGeom>
          <a:noFill/>
          <a:ln/>
        </p:spPr>
        <p:txBody>
          <a:bodyPr wrap="square" lIns="0" tIns="0" rIns="0" bIns="0" rtlCol="0" anchor="ctr"/>
          <a:lstStyle/>
          <a:p>
            <a:pPr indent="0" marL="0">
              <a:buNone/>
            </a:pPr>
            <a:r>
              <a:rPr lang="en-US" sz="1800" dirty="0">
                <a:solidFill>
                  <a:srgbClr val="000000"/>
                </a:solidFill>
              </a:rPr>
              <a:t>👥</a:t>
            </a:r>
            <a:endParaRPr lang="en-US" sz="1800" dirty="0"/>
          </a:p>
        </p:txBody>
      </p:sp>
      <p:sp>
        <p:nvSpPr>
          <p:cNvPr id="12" name="Text 10"/>
          <p:cNvSpPr/>
          <p:nvPr/>
        </p:nvSpPr>
        <p:spPr>
          <a:xfrm>
            <a:off x="402336" y="1627632"/>
            <a:ext cx="1719072" cy="384048"/>
          </a:xfrm>
          <a:prstGeom prst="rect">
            <a:avLst/>
          </a:prstGeom>
          <a:noFill/>
          <a:ln/>
        </p:spPr>
        <p:txBody>
          <a:bodyPr wrap="square" lIns="0" tIns="0" rIns="0" bIns="0" rtlCol="0" anchor="ctr"/>
          <a:lstStyle/>
          <a:p>
            <a:pPr indent="0" marL="0">
              <a:buNone/>
            </a:pPr>
            <a:r>
              <a:rPr lang="en-US" sz="1900" b="1" dirty="0">
                <a:solidFill>
                  <a:srgbClr val="1E1E2E"/>
                </a:solidFill>
                <a:latin typeface="Calibri" pitchFamily="34" charset="0"/>
                <a:ea typeface="Calibri" pitchFamily="34" charset="-122"/>
                <a:cs typeface="Calibri" pitchFamily="34" charset="-120"/>
              </a:rPr>
              <a:t>48M+</a:t>
            </a:r>
            <a:endParaRPr lang="en-US" sz="1900" dirty="0"/>
          </a:p>
        </p:txBody>
      </p:sp>
      <p:sp>
        <p:nvSpPr>
          <p:cNvPr id="13" name="Text 11"/>
          <p:cNvSpPr/>
          <p:nvPr/>
        </p:nvSpPr>
        <p:spPr>
          <a:xfrm>
            <a:off x="402336" y="1993392"/>
            <a:ext cx="1719072" cy="201168"/>
          </a:xfrm>
          <a:prstGeom prst="rect">
            <a:avLst/>
          </a:prstGeom>
          <a:noFill/>
          <a:ln/>
        </p:spPr>
        <p:txBody>
          <a:bodyPr wrap="square" lIns="0" tIns="0" rIns="0" bIns="0" rtlCol="0" anchor="ctr"/>
          <a:lstStyle/>
          <a:p>
            <a:pPr indent="0" marL="0">
              <a:buNone/>
            </a:pPr>
            <a:r>
              <a:rPr lang="en-US" sz="1000" dirty="0">
                <a:solidFill>
                  <a:srgbClr val="888888"/>
                </a:solidFill>
                <a:latin typeface="Calibri" pitchFamily="34" charset="0"/>
                <a:ea typeface="Calibri" pitchFamily="34" charset="-122"/>
                <a:cs typeface="Calibri" pitchFamily="34" charset="-120"/>
              </a:rPr>
              <a:t>Registered Users</a:t>
            </a:r>
            <a:endParaRPr lang="en-US" sz="1000" dirty="0"/>
          </a:p>
        </p:txBody>
      </p:sp>
      <p:sp>
        <p:nvSpPr>
          <p:cNvPr id="14" name="Shape 12"/>
          <p:cNvSpPr/>
          <p:nvPr/>
        </p:nvSpPr>
        <p:spPr>
          <a:xfrm>
            <a:off x="2304288" y="1207008"/>
            <a:ext cx="1920240" cy="1143000"/>
          </a:xfrm>
          <a:prstGeom prst="rect">
            <a:avLst/>
          </a:prstGeom>
          <a:solidFill>
            <a:srgbClr val="FFFFFF"/>
          </a:solidFill>
          <a:ln w="6350">
            <a:solidFill>
              <a:srgbClr val="EEEEEE"/>
            </a:solidFill>
            <a:prstDash val="solid"/>
          </a:ln>
          <a:effectLst>
            <a:outerShdw sx="100000" sy="100000" kx="0" ky="0" algn="bl" rotWithShape="0" blurRad="101600" dist="38100" dir="8100000">
              <a:srgbClr val="000000">
                <a:alpha val="12000"/>
              </a:srgbClr>
            </a:outerShdw>
          </a:effectLst>
        </p:spPr>
      </p:sp>
      <p:sp>
        <p:nvSpPr>
          <p:cNvPr id="15" name="Shape 13"/>
          <p:cNvSpPr/>
          <p:nvPr/>
        </p:nvSpPr>
        <p:spPr>
          <a:xfrm>
            <a:off x="2304288" y="1207008"/>
            <a:ext cx="64008" cy="1143000"/>
          </a:xfrm>
          <a:prstGeom prst="rect">
            <a:avLst/>
          </a:prstGeom>
          <a:solidFill>
            <a:srgbClr val="00B9F1"/>
          </a:solidFill>
          <a:ln/>
        </p:spPr>
      </p:sp>
      <p:sp>
        <p:nvSpPr>
          <p:cNvPr id="16" name="Text 14"/>
          <p:cNvSpPr/>
          <p:nvPr/>
        </p:nvSpPr>
        <p:spPr>
          <a:xfrm>
            <a:off x="2432304" y="1298448"/>
            <a:ext cx="457200" cy="347472"/>
          </a:xfrm>
          <a:prstGeom prst="rect">
            <a:avLst/>
          </a:prstGeom>
          <a:noFill/>
          <a:ln/>
        </p:spPr>
        <p:txBody>
          <a:bodyPr wrap="square" lIns="0" tIns="0" rIns="0" bIns="0" rtlCol="0" anchor="ctr"/>
          <a:lstStyle/>
          <a:p>
            <a:pPr indent="0" marL="0">
              <a:buNone/>
            </a:pPr>
            <a:r>
              <a:rPr lang="en-US" sz="1800" dirty="0">
                <a:solidFill>
                  <a:srgbClr val="000000"/>
                </a:solidFill>
              </a:rPr>
              <a:t>📲</a:t>
            </a:r>
            <a:endParaRPr lang="en-US" sz="1800" dirty="0"/>
          </a:p>
        </p:txBody>
      </p:sp>
      <p:sp>
        <p:nvSpPr>
          <p:cNvPr id="17" name="Text 15"/>
          <p:cNvSpPr/>
          <p:nvPr/>
        </p:nvSpPr>
        <p:spPr>
          <a:xfrm>
            <a:off x="2432304" y="1627632"/>
            <a:ext cx="1719072" cy="384048"/>
          </a:xfrm>
          <a:prstGeom prst="rect">
            <a:avLst/>
          </a:prstGeom>
          <a:noFill/>
          <a:ln/>
        </p:spPr>
        <p:txBody>
          <a:bodyPr wrap="square" lIns="0" tIns="0" rIns="0" bIns="0" rtlCol="0" anchor="ctr"/>
          <a:lstStyle/>
          <a:p>
            <a:pPr indent="0" marL="0">
              <a:buNone/>
            </a:pPr>
            <a:r>
              <a:rPr lang="en-US" sz="1900" b="1" dirty="0">
                <a:solidFill>
                  <a:srgbClr val="1E1E2E"/>
                </a:solidFill>
                <a:latin typeface="Calibri" pitchFamily="34" charset="0"/>
                <a:ea typeface="Calibri" pitchFamily="34" charset="-122"/>
                <a:cs typeface="Calibri" pitchFamily="34" charset="-120"/>
              </a:rPr>
              <a:t>3.8x</a:t>
            </a:r>
            <a:endParaRPr lang="en-US" sz="1900" dirty="0"/>
          </a:p>
        </p:txBody>
      </p:sp>
      <p:sp>
        <p:nvSpPr>
          <p:cNvPr id="18" name="Text 16"/>
          <p:cNvSpPr/>
          <p:nvPr/>
        </p:nvSpPr>
        <p:spPr>
          <a:xfrm>
            <a:off x="2432304" y="1993392"/>
            <a:ext cx="1719072" cy="201168"/>
          </a:xfrm>
          <a:prstGeom prst="rect">
            <a:avLst/>
          </a:prstGeom>
          <a:noFill/>
          <a:ln/>
        </p:spPr>
        <p:txBody>
          <a:bodyPr wrap="square" lIns="0" tIns="0" rIns="0" bIns="0" rtlCol="0" anchor="ctr"/>
          <a:lstStyle/>
          <a:p>
            <a:pPr indent="0" marL="0">
              <a:buNone/>
            </a:pPr>
            <a:r>
              <a:rPr lang="en-US" sz="1000" dirty="0">
                <a:solidFill>
                  <a:srgbClr val="888888"/>
                </a:solidFill>
                <a:latin typeface="Calibri" pitchFamily="34" charset="0"/>
                <a:ea typeface="Calibri" pitchFamily="34" charset="-122"/>
                <a:cs typeface="Calibri" pitchFamily="34" charset="-120"/>
              </a:rPr>
              <a:t>Avg Engagement</a:t>
            </a:r>
            <a:endParaRPr lang="en-US" sz="1000" dirty="0"/>
          </a:p>
        </p:txBody>
      </p:sp>
      <p:sp>
        <p:nvSpPr>
          <p:cNvPr id="19" name="Shape 17"/>
          <p:cNvSpPr/>
          <p:nvPr/>
        </p:nvSpPr>
        <p:spPr>
          <a:xfrm>
            <a:off x="4334256" y="1207008"/>
            <a:ext cx="1920240" cy="1143000"/>
          </a:xfrm>
          <a:prstGeom prst="rect">
            <a:avLst/>
          </a:prstGeom>
          <a:solidFill>
            <a:srgbClr val="FFFFFF"/>
          </a:solidFill>
          <a:ln w="6350">
            <a:solidFill>
              <a:srgbClr val="EEEEEE"/>
            </a:solidFill>
            <a:prstDash val="solid"/>
          </a:ln>
          <a:effectLst>
            <a:outerShdw sx="100000" sy="100000" kx="0" ky="0" algn="bl" rotWithShape="0" blurRad="101600" dist="38100" dir="8100000">
              <a:srgbClr val="000000">
                <a:alpha val="12000"/>
              </a:srgbClr>
            </a:outerShdw>
          </a:effectLst>
        </p:spPr>
      </p:sp>
      <p:sp>
        <p:nvSpPr>
          <p:cNvPr id="20" name="Shape 18"/>
          <p:cNvSpPr/>
          <p:nvPr/>
        </p:nvSpPr>
        <p:spPr>
          <a:xfrm>
            <a:off x="4334256" y="1207008"/>
            <a:ext cx="64008" cy="1143000"/>
          </a:xfrm>
          <a:prstGeom prst="rect">
            <a:avLst/>
          </a:prstGeom>
          <a:solidFill>
            <a:srgbClr val="FF6B35"/>
          </a:solidFill>
          <a:ln/>
        </p:spPr>
      </p:sp>
      <p:sp>
        <p:nvSpPr>
          <p:cNvPr id="21" name="Text 19"/>
          <p:cNvSpPr/>
          <p:nvPr/>
        </p:nvSpPr>
        <p:spPr>
          <a:xfrm>
            <a:off x="4462272" y="1298448"/>
            <a:ext cx="457200" cy="347472"/>
          </a:xfrm>
          <a:prstGeom prst="rect">
            <a:avLst/>
          </a:prstGeom>
          <a:noFill/>
          <a:ln/>
        </p:spPr>
        <p:txBody>
          <a:bodyPr wrap="square" lIns="0" tIns="0" rIns="0" bIns="0" rtlCol="0" anchor="ctr"/>
          <a:lstStyle/>
          <a:p>
            <a:pPr indent="0" marL="0">
              <a:buNone/>
            </a:pPr>
            <a:r>
              <a:rPr lang="en-US" sz="1800" dirty="0">
                <a:solidFill>
                  <a:srgbClr val="000000"/>
                </a:solidFill>
              </a:rPr>
              <a:t>📱</a:t>
            </a:r>
            <a:endParaRPr lang="en-US" sz="1800" dirty="0"/>
          </a:p>
        </p:txBody>
      </p:sp>
      <p:sp>
        <p:nvSpPr>
          <p:cNvPr id="22" name="Text 20"/>
          <p:cNvSpPr/>
          <p:nvPr/>
        </p:nvSpPr>
        <p:spPr>
          <a:xfrm>
            <a:off x="4462272" y="1627632"/>
            <a:ext cx="1719072" cy="384048"/>
          </a:xfrm>
          <a:prstGeom prst="rect">
            <a:avLst/>
          </a:prstGeom>
          <a:noFill/>
          <a:ln/>
        </p:spPr>
        <p:txBody>
          <a:bodyPr wrap="square" lIns="0" tIns="0" rIns="0" bIns="0" rtlCol="0" anchor="ctr"/>
          <a:lstStyle/>
          <a:p>
            <a:pPr indent="0" marL="0">
              <a:buNone/>
            </a:pPr>
            <a:r>
              <a:rPr lang="en-US" sz="1900" b="1" dirty="0">
                <a:solidFill>
                  <a:srgbClr val="1E1E2E"/>
                </a:solidFill>
                <a:latin typeface="Calibri" pitchFamily="34" charset="0"/>
                <a:ea typeface="Calibri" pitchFamily="34" charset="-122"/>
                <a:cs typeface="Calibri" pitchFamily="34" charset="-120"/>
              </a:rPr>
              <a:t>Samsung</a:t>
            </a:r>
            <a:endParaRPr lang="en-US" sz="1900" dirty="0"/>
          </a:p>
        </p:txBody>
      </p:sp>
      <p:sp>
        <p:nvSpPr>
          <p:cNvPr id="23" name="Text 21"/>
          <p:cNvSpPr/>
          <p:nvPr/>
        </p:nvSpPr>
        <p:spPr>
          <a:xfrm>
            <a:off x="4462272" y="1993392"/>
            <a:ext cx="1719072" cy="201168"/>
          </a:xfrm>
          <a:prstGeom prst="rect">
            <a:avLst/>
          </a:prstGeom>
          <a:noFill/>
          <a:ln/>
        </p:spPr>
        <p:txBody>
          <a:bodyPr wrap="square" lIns="0" tIns="0" rIns="0" bIns="0" rtlCol="0" anchor="ctr"/>
          <a:lstStyle/>
          <a:p>
            <a:pPr indent="0" marL="0">
              <a:buNone/>
            </a:pPr>
            <a:r>
              <a:rPr lang="en-US" sz="1000" dirty="0">
                <a:solidFill>
                  <a:srgbClr val="888888"/>
                </a:solidFill>
                <a:latin typeface="Calibri" pitchFamily="34" charset="0"/>
                <a:ea typeface="Calibri" pitchFamily="34" charset="-122"/>
                <a:cs typeface="Calibri" pitchFamily="34" charset="-120"/>
              </a:rPr>
              <a:t>Top Brand</a:t>
            </a:r>
            <a:endParaRPr lang="en-US" sz="1000" dirty="0"/>
          </a:p>
        </p:txBody>
      </p:sp>
      <p:sp>
        <p:nvSpPr>
          <p:cNvPr id="24" name="Shape 22"/>
          <p:cNvSpPr/>
          <p:nvPr/>
        </p:nvSpPr>
        <p:spPr>
          <a:xfrm>
            <a:off x="6364224" y="1207008"/>
            <a:ext cx="1920240" cy="1143000"/>
          </a:xfrm>
          <a:prstGeom prst="rect">
            <a:avLst/>
          </a:prstGeom>
          <a:solidFill>
            <a:srgbClr val="FFFFFF"/>
          </a:solidFill>
          <a:ln w="6350">
            <a:solidFill>
              <a:srgbClr val="EEEEEE"/>
            </a:solidFill>
            <a:prstDash val="solid"/>
          </a:ln>
          <a:effectLst>
            <a:outerShdw sx="100000" sy="100000" kx="0" ky="0" algn="bl" rotWithShape="0" blurRad="101600" dist="38100" dir="8100000">
              <a:srgbClr val="000000">
                <a:alpha val="12000"/>
              </a:srgbClr>
            </a:outerShdw>
          </a:effectLst>
        </p:spPr>
      </p:sp>
      <p:sp>
        <p:nvSpPr>
          <p:cNvPr id="25" name="Shape 23"/>
          <p:cNvSpPr/>
          <p:nvPr/>
        </p:nvSpPr>
        <p:spPr>
          <a:xfrm>
            <a:off x="6364224" y="1207008"/>
            <a:ext cx="64008" cy="1143000"/>
          </a:xfrm>
          <a:prstGeom prst="rect">
            <a:avLst/>
          </a:prstGeom>
          <a:solidFill>
            <a:srgbClr val="00C48C"/>
          </a:solidFill>
          <a:ln/>
        </p:spPr>
      </p:sp>
      <p:sp>
        <p:nvSpPr>
          <p:cNvPr id="26" name="Text 24"/>
          <p:cNvSpPr/>
          <p:nvPr/>
        </p:nvSpPr>
        <p:spPr>
          <a:xfrm>
            <a:off x="6492240" y="1298448"/>
            <a:ext cx="457200" cy="347472"/>
          </a:xfrm>
          <a:prstGeom prst="rect">
            <a:avLst/>
          </a:prstGeom>
          <a:noFill/>
          <a:ln/>
        </p:spPr>
        <p:txBody>
          <a:bodyPr wrap="square" lIns="0" tIns="0" rIns="0" bIns="0" rtlCol="0" anchor="ctr"/>
          <a:lstStyle/>
          <a:p>
            <a:pPr indent="0" marL="0">
              <a:buNone/>
            </a:pPr>
            <a:r>
              <a:rPr lang="en-US" sz="1800" dirty="0">
                <a:solidFill>
                  <a:srgbClr val="000000"/>
                </a:solidFill>
              </a:rPr>
              <a:t>⚠️</a:t>
            </a:r>
            <a:endParaRPr lang="en-US" sz="1800" dirty="0"/>
          </a:p>
        </p:txBody>
      </p:sp>
      <p:sp>
        <p:nvSpPr>
          <p:cNvPr id="27" name="Text 25"/>
          <p:cNvSpPr/>
          <p:nvPr/>
        </p:nvSpPr>
        <p:spPr>
          <a:xfrm>
            <a:off x="6492240" y="1627632"/>
            <a:ext cx="1719072" cy="384048"/>
          </a:xfrm>
          <a:prstGeom prst="rect">
            <a:avLst/>
          </a:prstGeom>
          <a:noFill/>
          <a:ln/>
        </p:spPr>
        <p:txBody>
          <a:bodyPr wrap="square" lIns="0" tIns="0" rIns="0" bIns="0" rtlCol="0" anchor="ctr"/>
          <a:lstStyle/>
          <a:p>
            <a:pPr indent="0" marL="0">
              <a:buNone/>
            </a:pPr>
            <a:r>
              <a:rPr lang="en-US" sz="1900" b="1" dirty="0">
                <a:solidFill>
                  <a:srgbClr val="1E1E2E"/>
                </a:solidFill>
                <a:latin typeface="Calibri" pitchFamily="34" charset="0"/>
                <a:ea typeface="Calibri" pitchFamily="34" charset="-122"/>
                <a:cs typeface="Calibri" pitchFamily="34" charset="-120"/>
              </a:rPr>
              <a:t>4 States</a:t>
            </a:r>
            <a:endParaRPr lang="en-US" sz="1900" dirty="0"/>
          </a:p>
        </p:txBody>
      </p:sp>
      <p:sp>
        <p:nvSpPr>
          <p:cNvPr id="28" name="Text 26"/>
          <p:cNvSpPr/>
          <p:nvPr/>
        </p:nvSpPr>
        <p:spPr>
          <a:xfrm>
            <a:off x="6492240" y="1993392"/>
            <a:ext cx="1719072" cy="201168"/>
          </a:xfrm>
          <a:prstGeom prst="rect">
            <a:avLst/>
          </a:prstGeom>
          <a:noFill/>
          <a:ln/>
        </p:spPr>
        <p:txBody>
          <a:bodyPr wrap="square" lIns="0" tIns="0" rIns="0" bIns="0" rtlCol="0" anchor="ctr"/>
          <a:lstStyle/>
          <a:p>
            <a:pPr indent="0" marL="0">
              <a:buNone/>
            </a:pPr>
            <a:r>
              <a:rPr lang="en-US" sz="1000" dirty="0">
                <a:solidFill>
                  <a:srgbClr val="888888"/>
                </a:solidFill>
                <a:latin typeface="Calibri" pitchFamily="34" charset="0"/>
                <a:ea typeface="Calibri" pitchFamily="34" charset="-122"/>
                <a:cs typeface="Calibri" pitchFamily="34" charset="-120"/>
              </a:rPr>
              <a:t>Low Engagement</a:t>
            </a:r>
            <a:endParaRPr lang="en-US" sz="1000" dirty="0"/>
          </a:p>
        </p:txBody>
      </p:sp>
      <p:sp>
        <p:nvSpPr>
          <p:cNvPr id="29" name="Shape 27"/>
          <p:cNvSpPr/>
          <p:nvPr/>
        </p:nvSpPr>
        <p:spPr>
          <a:xfrm>
            <a:off x="274320" y="2514600"/>
            <a:ext cx="2697480" cy="13258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30" name="Shape 28"/>
          <p:cNvSpPr/>
          <p:nvPr/>
        </p:nvSpPr>
        <p:spPr>
          <a:xfrm>
            <a:off x="274320" y="2514600"/>
            <a:ext cx="2697480" cy="347472"/>
          </a:xfrm>
          <a:prstGeom prst="rect">
            <a:avLst/>
          </a:prstGeom>
          <a:solidFill>
            <a:srgbClr val="00B9F1"/>
          </a:solidFill>
          <a:ln/>
        </p:spPr>
      </p:sp>
      <p:sp>
        <p:nvSpPr>
          <p:cNvPr id="31" name="Text 29"/>
          <p:cNvSpPr/>
          <p:nvPr/>
        </p:nvSpPr>
        <p:spPr>
          <a:xfrm>
            <a:off x="365760" y="2542032"/>
            <a:ext cx="25146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Brand Market Share Pie</a:t>
            </a:r>
            <a:endParaRPr lang="en-US" sz="1100" dirty="0"/>
          </a:p>
        </p:txBody>
      </p:sp>
      <p:sp>
        <p:nvSpPr>
          <p:cNvPr id="32" name="Text 30"/>
          <p:cNvSpPr/>
          <p:nvPr/>
        </p:nvSpPr>
        <p:spPr>
          <a:xfrm>
            <a:off x="365760" y="2926080"/>
            <a:ext cx="2514600" cy="822960"/>
          </a:xfrm>
          <a:prstGeom prst="rect">
            <a:avLst/>
          </a:prstGeom>
          <a:noFill/>
          <a:ln/>
        </p:spPr>
        <p:txBody>
          <a:bodyPr wrap="square" lIns="0" tIns="0" rIns="0" bIns="0" rtlCol="0" anchor="ctr"/>
          <a:lstStyle/>
          <a:p>
            <a:pPr indent="0" marL="0">
              <a:buNone/>
            </a:pPr>
            <a:r>
              <a:rPr lang="en-US" sz="1000" dirty="0">
                <a:solidFill>
                  <a:srgbClr val="444444"/>
                </a:solidFill>
                <a:latin typeface="Calibri" pitchFamily="34" charset="0"/>
                <a:ea typeface="Calibri" pitchFamily="34" charset="-122"/>
                <a:cs typeface="Calibri" pitchFamily="34" charset="-120"/>
              </a:rPr>
              <a:t>Donut chart (hole=0.4) showing each brand's % of total users. Samsung+Xiaomi = 52%. Android-first signal.</a:t>
            </a:r>
            <a:endParaRPr lang="en-US" sz="1000" dirty="0"/>
          </a:p>
        </p:txBody>
      </p:sp>
      <p:sp>
        <p:nvSpPr>
          <p:cNvPr id="33" name="Shape 31"/>
          <p:cNvSpPr/>
          <p:nvPr/>
        </p:nvSpPr>
        <p:spPr>
          <a:xfrm>
            <a:off x="3090672" y="2514600"/>
            <a:ext cx="2697480" cy="13258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34" name="Shape 32"/>
          <p:cNvSpPr/>
          <p:nvPr/>
        </p:nvSpPr>
        <p:spPr>
          <a:xfrm>
            <a:off x="3090672" y="2514600"/>
            <a:ext cx="2697480" cy="347472"/>
          </a:xfrm>
          <a:prstGeom prst="rect">
            <a:avLst/>
          </a:prstGeom>
          <a:solidFill>
            <a:srgbClr val="5F2EEA"/>
          </a:solidFill>
          <a:ln/>
        </p:spPr>
      </p:sp>
      <p:sp>
        <p:nvSpPr>
          <p:cNvPr id="35" name="Text 33"/>
          <p:cNvSpPr/>
          <p:nvPr/>
        </p:nvSpPr>
        <p:spPr>
          <a:xfrm>
            <a:off x="3182112" y="2542032"/>
            <a:ext cx="25146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Brand × State Heatmap</a:t>
            </a:r>
            <a:endParaRPr lang="en-US" sz="1100" dirty="0"/>
          </a:p>
        </p:txBody>
      </p:sp>
      <p:sp>
        <p:nvSpPr>
          <p:cNvPr id="36" name="Text 34"/>
          <p:cNvSpPr/>
          <p:nvPr/>
        </p:nvSpPr>
        <p:spPr>
          <a:xfrm>
            <a:off x="3182112" y="2926080"/>
            <a:ext cx="2514600" cy="822960"/>
          </a:xfrm>
          <a:prstGeom prst="rect">
            <a:avLst/>
          </a:prstGeom>
          <a:noFill/>
          <a:ln/>
        </p:spPr>
        <p:txBody>
          <a:bodyPr wrap="square" lIns="0" tIns="0" rIns="0" bIns="0" rtlCol="0" anchor="ctr"/>
          <a:lstStyle/>
          <a:p>
            <a:pPr indent="0" marL="0">
              <a:buNone/>
            </a:pPr>
            <a:r>
              <a:rPr lang="en-US" sz="1000" dirty="0">
                <a:solidFill>
                  <a:srgbClr val="444444"/>
                </a:solidFill>
                <a:latin typeface="Calibri" pitchFamily="34" charset="0"/>
                <a:ea typeface="Calibri" pitchFamily="34" charset="-122"/>
                <a:cs typeface="Calibri" pitchFamily="34" charset="-120"/>
              </a:rPr>
              <a:t>px.imshow on pivot(state × brand). Color = user count (thousands). Shows regional brand dominance shifts — OPPO leads in West Bengal vs Xiaomi in UP.</a:t>
            </a:r>
            <a:endParaRPr lang="en-US" sz="1000" dirty="0"/>
          </a:p>
        </p:txBody>
      </p:sp>
      <p:sp>
        <p:nvSpPr>
          <p:cNvPr id="37" name="Shape 35"/>
          <p:cNvSpPr/>
          <p:nvPr/>
        </p:nvSpPr>
        <p:spPr>
          <a:xfrm>
            <a:off x="5907024" y="2514600"/>
            <a:ext cx="2962656" cy="13258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38" name="Shape 36"/>
          <p:cNvSpPr/>
          <p:nvPr/>
        </p:nvSpPr>
        <p:spPr>
          <a:xfrm>
            <a:off x="5907024" y="2514600"/>
            <a:ext cx="2962656" cy="347472"/>
          </a:xfrm>
          <a:prstGeom prst="rect">
            <a:avLst/>
          </a:prstGeom>
          <a:solidFill>
            <a:srgbClr val="FF6B35"/>
          </a:solidFill>
          <a:ln/>
        </p:spPr>
      </p:sp>
      <p:sp>
        <p:nvSpPr>
          <p:cNvPr id="39" name="Text 37"/>
          <p:cNvSpPr/>
          <p:nvPr/>
        </p:nvSpPr>
        <p:spPr>
          <a:xfrm>
            <a:off x="5998464" y="2542032"/>
            <a:ext cx="2779776"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Underutilisation Quadrant</a:t>
            </a:r>
            <a:endParaRPr lang="en-US" sz="1100" dirty="0"/>
          </a:p>
        </p:txBody>
      </p:sp>
      <p:sp>
        <p:nvSpPr>
          <p:cNvPr id="40" name="Text 38"/>
          <p:cNvSpPr/>
          <p:nvPr/>
        </p:nvSpPr>
        <p:spPr>
          <a:xfrm>
            <a:off x="5998464" y="2926080"/>
            <a:ext cx="2779776" cy="822960"/>
          </a:xfrm>
          <a:prstGeom prst="rect">
            <a:avLst/>
          </a:prstGeom>
          <a:noFill/>
          <a:ln/>
        </p:spPr>
        <p:txBody>
          <a:bodyPr wrap="square" lIns="0" tIns="0" rIns="0" bIns="0" rtlCol="0" anchor="ctr"/>
          <a:lstStyle/>
          <a:p>
            <a:pPr indent="0" marL="0">
              <a:buNone/>
            </a:pPr>
            <a:r>
              <a:rPr lang="en-US" sz="1000" dirty="0">
                <a:solidFill>
                  <a:srgbClr val="444444"/>
                </a:solidFill>
                <a:latin typeface="Calibri" pitchFamily="34" charset="0"/>
                <a:ea typeface="Calibri" pitchFamily="34" charset="-122"/>
                <a:cs typeface="Calibri" pitchFamily="34" charset="-120"/>
              </a:rPr>
              <a:t>Scatter: X=market share%, Y=app-opens/user. Brands in top-left (high share, low opens) = underutilised. Baseline lines drawn at state averages.</a:t>
            </a:r>
            <a:endParaRPr lang="en-US" sz="1000" dirty="0"/>
          </a:p>
        </p:txBody>
      </p:sp>
      <p:sp>
        <p:nvSpPr>
          <p:cNvPr id="41" name="Shape 39"/>
          <p:cNvSpPr/>
          <p:nvPr/>
        </p:nvSpPr>
        <p:spPr>
          <a:xfrm>
            <a:off x="274320" y="3931920"/>
            <a:ext cx="8595360" cy="749808"/>
          </a:xfrm>
          <a:prstGeom prst="rect">
            <a:avLst/>
          </a:prstGeom>
          <a:solidFill>
            <a:srgbClr val="1E1E2E"/>
          </a:solidFill>
          <a:ln/>
        </p:spPr>
      </p:sp>
      <p:sp>
        <p:nvSpPr>
          <p:cNvPr id="42" name="Text 40"/>
          <p:cNvSpPr/>
          <p:nvPr/>
        </p:nvSpPr>
        <p:spPr>
          <a:xfrm>
            <a:off x="411480" y="3986784"/>
            <a:ext cx="8321040" cy="658368"/>
          </a:xfrm>
          <a:prstGeom prst="rect">
            <a:avLst/>
          </a:prstGeom>
          <a:noFill/>
          <a:ln/>
        </p:spPr>
        <p:txBody>
          <a:bodyPr wrap="square" lIns="0" tIns="0" rIns="0" bIns="0" rtlCol="0" anchor="ctr"/>
          <a:lstStyle/>
          <a:p>
            <a:pPr indent="0" marL="0">
              <a:buNone/>
            </a:pPr>
            <a:r>
              <a:rPr lang="en-US" sz="1050" b="1" dirty="0">
                <a:solidFill>
                  <a:srgbClr val="00B9F1"/>
                </a:solidFill>
                <a:latin typeface="Calibri" pitchFamily="34" charset="0"/>
                <a:ea typeface="Calibri" pitchFamily="34" charset="-122"/>
                <a:cs typeface="Calibri" pitchFamily="34" charset="-120"/>
              </a:rPr>
              <a:t>🔑 Key Findings:  </a:t>
            </a:r>
            <a:pPr indent="0" marL="0">
              <a:buNone/>
            </a:pPr>
            <a:r>
              <a:rPr lang="en-US" sz="1050" dirty="0">
                <a:solidFill>
                  <a:srgbClr val="FFFFFF"/>
                </a:solidFill>
                <a:latin typeface="Calibri" pitchFamily="34" charset="0"/>
                <a:ea typeface="Calibri" pitchFamily="34" charset="-122"/>
                <a:cs typeface="Calibri" pitchFamily="34" charset="-120"/>
              </a:rPr>
              <a:t>Samsung+Xiaomi = 52% of users — Android-first UX priority confirmed.  |  </a:t>
            </a:r>
            <a:pPr indent="0" marL="0">
              <a:buNone/>
            </a:pPr>
            <a:r>
              <a:rPr lang="en-US" sz="1050" dirty="0">
                <a:solidFill>
                  <a:srgbClr val="FFFFFF"/>
                </a:solidFill>
                <a:latin typeface="Calibri" pitchFamily="34" charset="0"/>
                <a:ea typeface="Calibri" pitchFamily="34" charset="-122"/>
                <a:cs typeface="Calibri" pitchFamily="34" charset="-120"/>
              </a:rPr>
              <a:t>4 states have engagement ratio &lt; 2x — re-engagement push campaigns needed.  |  </a:t>
            </a:r>
            <a:pPr indent="0" marL="0">
              <a:buNone/>
            </a:pPr>
            <a:r>
              <a:rPr lang="en-US" sz="1050" dirty="0">
                <a:solidFill>
                  <a:srgbClr val="FFFFFF"/>
                </a:solidFill>
                <a:latin typeface="Calibri" pitchFamily="34" charset="0"/>
                <a:ea typeface="Calibri" pitchFamily="34" charset="-122"/>
                <a:cs typeface="Calibri" pitchFamily="34" charset="-120"/>
              </a:rPr>
              <a:t>Underutilisation Quadrant reveals device-specific UX friction — fix before brand market share erodes.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1E2E"/>
          </a:solidFill>
          <a:ln/>
        </p:spPr>
      </p:sp>
      <p:sp>
        <p:nvSpPr>
          <p:cNvPr id="3" name="Shape 1"/>
          <p:cNvSpPr/>
          <p:nvPr/>
        </p:nvSpPr>
        <p:spPr>
          <a:xfrm>
            <a:off x="0" y="4828032"/>
            <a:ext cx="9144000" cy="315468"/>
          </a:xfrm>
          <a:prstGeom prst="rect">
            <a:avLst/>
          </a:prstGeom>
          <a:solidFill>
            <a:srgbClr val="5F2EEA">
              <a:alpha val="75000"/>
            </a:srgbClr>
          </a:solidFill>
          <a:ln/>
        </p:spPr>
      </p:sp>
      <p:sp>
        <p:nvSpPr>
          <p:cNvPr id="4" name="Text 2"/>
          <p:cNvSpPr/>
          <p:nvPr/>
        </p:nvSpPr>
        <p:spPr>
          <a:xfrm>
            <a:off x="274320" y="118872"/>
            <a:ext cx="8595360" cy="45720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BC3: Insurance Penetration &amp; Growth – Scenario &amp; Approach</a:t>
            </a:r>
            <a:endParaRPr lang="en-US" sz="2100" dirty="0"/>
          </a:p>
        </p:txBody>
      </p:sp>
      <p:sp>
        <p:nvSpPr>
          <p:cNvPr id="5" name="Text 3"/>
          <p:cNvSpPr/>
          <p:nvPr/>
        </p:nvSpPr>
        <p:spPr>
          <a:xfrm>
            <a:off x="182880" y="4846320"/>
            <a:ext cx="8778240" cy="237744"/>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PhonePe  •  5 Business Case Studies  •  7 / 18</a:t>
            </a:r>
            <a:endParaRPr lang="en-US" sz="900" dirty="0"/>
          </a:p>
        </p:txBody>
      </p:sp>
      <p:sp>
        <p:nvSpPr>
          <p:cNvPr id="6" name="Shape 4"/>
          <p:cNvSpPr/>
          <p:nvPr/>
        </p:nvSpPr>
        <p:spPr>
          <a:xfrm>
            <a:off x="274320" y="777240"/>
            <a:ext cx="1005840" cy="347472"/>
          </a:xfrm>
          <a:prstGeom prst="rect">
            <a:avLst/>
          </a:prstGeom>
          <a:solidFill>
            <a:srgbClr val="FF6B35"/>
          </a:solidFill>
          <a:ln/>
        </p:spPr>
      </p:sp>
      <p:sp>
        <p:nvSpPr>
          <p:cNvPr id="7" name="Text 5"/>
          <p:cNvSpPr/>
          <p:nvPr/>
        </p:nvSpPr>
        <p:spPr>
          <a:xfrm>
            <a:off x="274320" y="777240"/>
            <a:ext cx="100584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BC3</a:t>
            </a:r>
            <a:endParaRPr lang="en-US" sz="1300" dirty="0"/>
          </a:p>
        </p:txBody>
      </p:sp>
      <p:sp>
        <p:nvSpPr>
          <p:cNvPr id="8" name="Text 6"/>
          <p:cNvSpPr/>
          <p:nvPr/>
        </p:nvSpPr>
        <p:spPr>
          <a:xfrm>
            <a:off x="1371600" y="804672"/>
            <a:ext cx="7315200" cy="301752"/>
          </a:xfrm>
          <a:prstGeom prst="rect">
            <a:avLst/>
          </a:prstGeom>
          <a:noFill/>
          <a:ln/>
        </p:spPr>
        <p:txBody>
          <a:bodyPr wrap="square" lIns="0" tIns="0" rIns="0" bIns="0" rtlCol="0" anchor="ctr"/>
          <a:lstStyle/>
          <a:p>
            <a:pPr indent="0" marL="0">
              <a:buNone/>
            </a:pPr>
            <a:r>
              <a:rPr lang="en-US" sz="1300" i="1" dirty="0">
                <a:solidFill>
                  <a:srgbClr val="555555"/>
                </a:solidFill>
                <a:latin typeface="Calibri" pitchFamily="34" charset="0"/>
                <a:ea typeface="Calibri" pitchFamily="34" charset="-122"/>
                <a:cs typeface="Calibri" pitchFamily="34" charset="-120"/>
              </a:rPr>
              <a:t>Insurance Penetration &amp; Growth Potential</a:t>
            </a:r>
            <a:endParaRPr lang="en-US" sz="1300" dirty="0"/>
          </a:p>
        </p:txBody>
      </p:sp>
      <p:sp>
        <p:nvSpPr>
          <p:cNvPr id="9" name="Shape 7"/>
          <p:cNvSpPr/>
          <p:nvPr/>
        </p:nvSpPr>
        <p:spPr>
          <a:xfrm>
            <a:off x="274320" y="1207008"/>
            <a:ext cx="8595360" cy="960120"/>
          </a:xfrm>
          <a:prstGeom prst="rect">
            <a:avLst/>
          </a:prstGeom>
          <a:solidFill>
            <a:srgbClr val="FFF3E0"/>
          </a:solidFill>
          <a:ln w="6350">
            <a:solidFill>
              <a:srgbClr val="FF6B35"/>
            </a:solidFill>
            <a:prstDash val="solid"/>
          </a:ln>
        </p:spPr>
      </p:sp>
      <p:sp>
        <p:nvSpPr>
          <p:cNvPr id="10" name="Text 8"/>
          <p:cNvSpPr/>
          <p:nvPr/>
        </p:nvSpPr>
        <p:spPr>
          <a:xfrm>
            <a:off x="411480" y="1261872"/>
            <a:ext cx="8321040" cy="822960"/>
          </a:xfrm>
          <a:prstGeom prst="rect">
            <a:avLst/>
          </a:prstGeom>
          <a:noFill/>
          <a:ln/>
        </p:spPr>
        <p:txBody>
          <a:bodyPr wrap="square" lIns="0" tIns="0" rIns="0" bIns="0" rtlCol="0" anchor="ctr"/>
          <a:lstStyle/>
          <a:p>
            <a:pPr indent="0" marL="0">
              <a:buNone/>
            </a:pPr>
            <a:r>
              <a:rPr lang="en-US" sz="1200" dirty="0">
                <a:solidFill>
                  <a:srgbClr val="1E1E2E"/>
                </a:solidFill>
                <a:latin typeface="Calibri" pitchFamily="34" charset="0"/>
                <a:ea typeface="Calibri" pitchFamily="34" charset="-122"/>
                <a:cs typeface="Calibri" pitchFamily="34" charset="-120"/>
              </a:rPr>
              <a:t>PhonePe has ventured into insurance, providing users with policy options. With growing transactions in this segment, the company seeks to analyze growth trajectory and identify untapped opportunities at the state level — to prioritize regions for marketing and insurer partnerships.</a:t>
            </a:r>
            <a:endParaRPr lang="en-US" sz="1200" dirty="0"/>
          </a:p>
        </p:txBody>
      </p:sp>
      <p:sp>
        <p:nvSpPr>
          <p:cNvPr id="11" name="Shape 9"/>
          <p:cNvSpPr/>
          <p:nvPr/>
        </p:nvSpPr>
        <p:spPr>
          <a:xfrm>
            <a:off x="274320" y="2331720"/>
            <a:ext cx="2011680" cy="365760"/>
          </a:xfrm>
          <a:prstGeom prst="rect">
            <a:avLst/>
          </a:prstGeom>
          <a:solidFill>
            <a:srgbClr val="FF6B35"/>
          </a:solidFill>
          <a:ln/>
        </p:spPr>
      </p:sp>
      <p:sp>
        <p:nvSpPr>
          <p:cNvPr id="12" name="Text 10"/>
          <p:cNvSpPr/>
          <p:nvPr/>
        </p:nvSpPr>
        <p:spPr>
          <a:xfrm>
            <a:off x="274320" y="2331720"/>
            <a:ext cx="201168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13" name="Shape 11"/>
          <p:cNvSpPr/>
          <p:nvPr/>
        </p:nvSpPr>
        <p:spPr>
          <a:xfrm>
            <a:off x="274320" y="2697480"/>
            <a:ext cx="2011680" cy="1463040"/>
          </a:xfrm>
          <a:prstGeom prst="rect">
            <a:avLst/>
          </a:prstGeom>
          <a:solidFill>
            <a:srgbClr val="FFFFFF"/>
          </a:solidFill>
          <a:ln w="6350">
            <a:solidFill>
              <a:srgbClr val="EEEEEE"/>
            </a:solidFill>
            <a:prstDash val="solid"/>
          </a:ln>
          <a:effectLst>
            <a:outerShdw sx="100000" sy="100000" kx="0" ky="0" algn="bl" rotWithShape="0" blurRad="101600" dist="38100" dir="8100000">
              <a:srgbClr val="000000">
                <a:alpha val="12000"/>
              </a:srgbClr>
            </a:outerShdw>
          </a:effectLst>
        </p:spPr>
      </p:sp>
      <p:sp>
        <p:nvSpPr>
          <p:cNvPr id="14" name="Text 12"/>
          <p:cNvSpPr/>
          <p:nvPr/>
        </p:nvSpPr>
        <p:spPr>
          <a:xfrm>
            <a:off x="365760" y="2761488"/>
            <a:ext cx="1828800" cy="274320"/>
          </a:xfrm>
          <a:prstGeom prst="rect">
            <a:avLst/>
          </a:prstGeom>
          <a:noFill/>
          <a:ln/>
        </p:spPr>
        <p:txBody>
          <a:bodyPr wrap="square" lIns="0" tIns="0" rIns="0" bIns="0" rtlCol="0" anchor="ctr"/>
          <a:lstStyle/>
          <a:p>
            <a:pPr indent="0" marL="0">
              <a:buNone/>
            </a:pPr>
            <a:r>
              <a:rPr lang="en-US" sz="1100" b="1" dirty="0">
                <a:solidFill>
                  <a:srgbClr val="1E1E2E"/>
                </a:solidFill>
                <a:latin typeface="Calibri" pitchFamily="34" charset="0"/>
                <a:ea typeface="Calibri" pitchFamily="34" charset="-122"/>
                <a:cs typeface="Calibri" pitchFamily="34" charset="-120"/>
              </a:rPr>
              <a:t>Penetration Rate</a:t>
            </a:r>
            <a:endParaRPr lang="en-US" sz="1100" dirty="0"/>
          </a:p>
        </p:txBody>
      </p:sp>
      <p:sp>
        <p:nvSpPr>
          <p:cNvPr id="15" name="Text 13"/>
          <p:cNvSpPr/>
          <p:nvPr/>
        </p:nvSpPr>
        <p:spPr>
          <a:xfrm>
            <a:off x="365760" y="3063240"/>
            <a:ext cx="1828800" cy="1005840"/>
          </a:xfrm>
          <a:prstGeom prst="rect">
            <a:avLst/>
          </a:prstGeom>
          <a:noFill/>
          <a:ln/>
        </p:spPr>
        <p:txBody>
          <a:bodyPr wrap="square" lIns="0" tIns="0" rIns="0" bIns="0" rtlCol="0" anchor="ctr"/>
          <a:lstStyle/>
          <a:p>
            <a:pPr indent="0" marL="0">
              <a:buNone/>
            </a:pPr>
            <a:r>
              <a:rPr lang="en-US" sz="950" dirty="0">
                <a:solidFill>
                  <a:srgbClr val="444444"/>
                </a:solidFill>
                <a:latin typeface="Courier New" pitchFamily="34" charset="0"/>
                <a:ea typeface="Courier New" pitchFamily="34" charset="-122"/>
                <a:cs typeface="Courier New" pitchFamily="34" charset="-120"/>
              </a:rPr>
              <a:t>COUNT(policies) /</a:t>
            </a:r>
            <a:endParaRPr lang="en-US" sz="950" dirty="0"/>
          </a:p>
          <a:p>
            <a:pPr indent="0" marL="0">
              <a:buNone/>
            </a:pPr>
            <a:r>
              <a:rPr lang="en-US" sz="950" dirty="0">
                <a:solidFill>
                  <a:srgbClr val="444444"/>
                </a:solidFill>
                <a:latin typeface="Courier New" pitchFamily="34" charset="0"/>
                <a:ea typeface="Courier New" pitchFamily="34" charset="-122"/>
                <a:cs typeface="Courier New" pitchFamily="34" charset="-120"/>
              </a:rPr>
              <a:t>registered_users * 100</a:t>
            </a:r>
            <a:endParaRPr lang="en-US" sz="950" dirty="0"/>
          </a:p>
          <a:p>
            <a:pPr indent="0" marL="0">
              <a:buNone/>
            </a:pPr>
            <a:r>
              <a:rPr lang="en-US" sz="950" dirty="0">
                <a:solidFill>
                  <a:srgbClr val="444444"/>
                </a:solidFill>
                <a:latin typeface="Courier New" pitchFamily="34" charset="0"/>
                <a:ea typeface="Courier New" pitchFamily="34" charset="-122"/>
                <a:cs typeface="Courier New" pitchFamily="34" charset="-120"/>
              </a:rPr>
              <a:t>LEFT JOIN Aggregated_user</a:t>
            </a:r>
            <a:endParaRPr lang="en-US" sz="950" dirty="0"/>
          </a:p>
        </p:txBody>
      </p:sp>
      <p:sp>
        <p:nvSpPr>
          <p:cNvPr id="16" name="Shape 14"/>
          <p:cNvSpPr/>
          <p:nvPr/>
        </p:nvSpPr>
        <p:spPr>
          <a:xfrm>
            <a:off x="2450592" y="2331720"/>
            <a:ext cx="2011680" cy="365760"/>
          </a:xfrm>
          <a:prstGeom prst="rect">
            <a:avLst/>
          </a:prstGeom>
          <a:solidFill>
            <a:srgbClr val="FF6B35"/>
          </a:solidFill>
          <a:ln/>
        </p:spPr>
      </p:sp>
      <p:sp>
        <p:nvSpPr>
          <p:cNvPr id="17" name="Text 15"/>
          <p:cNvSpPr/>
          <p:nvPr/>
        </p:nvSpPr>
        <p:spPr>
          <a:xfrm>
            <a:off x="2450592" y="2331720"/>
            <a:ext cx="201168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18" name="Shape 16"/>
          <p:cNvSpPr/>
          <p:nvPr/>
        </p:nvSpPr>
        <p:spPr>
          <a:xfrm>
            <a:off x="2450592" y="2697480"/>
            <a:ext cx="2011680" cy="1463040"/>
          </a:xfrm>
          <a:prstGeom prst="rect">
            <a:avLst/>
          </a:prstGeom>
          <a:solidFill>
            <a:srgbClr val="FFFFFF"/>
          </a:solidFill>
          <a:ln w="6350">
            <a:solidFill>
              <a:srgbClr val="EEEEEE"/>
            </a:solidFill>
            <a:prstDash val="solid"/>
          </a:ln>
          <a:effectLst>
            <a:outerShdw sx="100000" sy="100000" kx="0" ky="0" algn="bl" rotWithShape="0" blurRad="101600" dist="38100" dir="8100000">
              <a:srgbClr val="000000">
                <a:alpha val="12000"/>
              </a:srgbClr>
            </a:outerShdw>
          </a:effectLst>
        </p:spPr>
      </p:sp>
      <p:sp>
        <p:nvSpPr>
          <p:cNvPr id="19" name="Text 17"/>
          <p:cNvSpPr/>
          <p:nvPr/>
        </p:nvSpPr>
        <p:spPr>
          <a:xfrm>
            <a:off x="2542032" y="2761488"/>
            <a:ext cx="1828800" cy="274320"/>
          </a:xfrm>
          <a:prstGeom prst="rect">
            <a:avLst/>
          </a:prstGeom>
          <a:noFill/>
          <a:ln/>
        </p:spPr>
        <p:txBody>
          <a:bodyPr wrap="square" lIns="0" tIns="0" rIns="0" bIns="0" rtlCol="0" anchor="ctr"/>
          <a:lstStyle/>
          <a:p>
            <a:pPr indent="0" marL="0">
              <a:buNone/>
            </a:pPr>
            <a:r>
              <a:rPr lang="en-US" sz="1100" b="1" dirty="0">
                <a:solidFill>
                  <a:srgbClr val="1E1E2E"/>
                </a:solidFill>
                <a:latin typeface="Calibri" pitchFamily="34" charset="0"/>
                <a:ea typeface="Calibri" pitchFamily="34" charset="-122"/>
                <a:cs typeface="Calibri" pitchFamily="34" charset="-120"/>
              </a:rPr>
              <a:t>YoY Growth Trajectory</a:t>
            </a:r>
            <a:endParaRPr lang="en-US" sz="1100" dirty="0"/>
          </a:p>
        </p:txBody>
      </p:sp>
      <p:sp>
        <p:nvSpPr>
          <p:cNvPr id="20" name="Text 18"/>
          <p:cNvSpPr/>
          <p:nvPr/>
        </p:nvSpPr>
        <p:spPr>
          <a:xfrm>
            <a:off x="2542032" y="3063240"/>
            <a:ext cx="1828800" cy="1005840"/>
          </a:xfrm>
          <a:prstGeom prst="rect">
            <a:avLst/>
          </a:prstGeom>
          <a:noFill/>
          <a:ln/>
        </p:spPr>
        <p:txBody>
          <a:bodyPr wrap="square" lIns="0" tIns="0" rIns="0" bIns="0" rtlCol="0" anchor="ctr"/>
          <a:lstStyle/>
          <a:p>
            <a:pPr indent="0" marL="0">
              <a:buNone/>
            </a:pPr>
            <a:r>
              <a:rPr lang="en-US" sz="950" dirty="0">
                <a:solidFill>
                  <a:srgbClr val="444444"/>
                </a:solidFill>
                <a:latin typeface="Courier New" pitchFamily="34" charset="0"/>
                <a:ea typeface="Courier New" pitchFamily="34" charset="-122"/>
                <a:cs typeface="Courier New" pitchFamily="34" charset="-120"/>
              </a:rPr>
              <a:t>LAG(policies) OVER</a:t>
            </a:r>
            <a:endParaRPr lang="en-US" sz="950" dirty="0"/>
          </a:p>
          <a:p>
            <a:pPr indent="0" marL="0">
              <a:buNone/>
            </a:pPr>
            <a:r>
              <a:rPr lang="en-US" sz="950" dirty="0">
                <a:solidFill>
                  <a:srgbClr val="444444"/>
                </a:solidFill>
                <a:latin typeface="Courier New" pitchFamily="34" charset="0"/>
                <a:ea typeface="Courier New" pitchFamily="34" charset="-122"/>
                <a:cs typeface="Courier New" pitchFamily="34" charset="-120"/>
              </a:rPr>
              <a:t>(ORDER BY year)</a:t>
            </a:r>
            <a:endParaRPr lang="en-US" sz="950" dirty="0"/>
          </a:p>
          <a:p>
            <a:pPr indent="0" marL="0">
              <a:buNone/>
            </a:pPr>
            <a:r>
              <a:rPr lang="en-US" sz="950" dirty="0">
                <a:solidFill>
                  <a:srgbClr val="444444"/>
                </a:solidFill>
                <a:latin typeface="Courier New" pitchFamily="34" charset="0"/>
                <a:ea typeface="Courier New" pitchFamily="34" charset="-122"/>
                <a:cs typeface="Courier New" pitchFamily="34" charset="-120"/>
              </a:rPr>
              <a:t>Growth % per year</a:t>
            </a:r>
            <a:endParaRPr lang="en-US" sz="950" dirty="0"/>
          </a:p>
        </p:txBody>
      </p:sp>
      <p:sp>
        <p:nvSpPr>
          <p:cNvPr id="21" name="Shape 19"/>
          <p:cNvSpPr/>
          <p:nvPr/>
        </p:nvSpPr>
        <p:spPr>
          <a:xfrm>
            <a:off x="4626864" y="2331720"/>
            <a:ext cx="2011680" cy="365760"/>
          </a:xfrm>
          <a:prstGeom prst="rect">
            <a:avLst/>
          </a:prstGeom>
          <a:solidFill>
            <a:srgbClr val="FF6B35"/>
          </a:solidFill>
          <a:ln/>
        </p:spPr>
      </p:sp>
      <p:sp>
        <p:nvSpPr>
          <p:cNvPr id="22" name="Text 20"/>
          <p:cNvSpPr/>
          <p:nvPr/>
        </p:nvSpPr>
        <p:spPr>
          <a:xfrm>
            <a:off x="4626864" y="2331720"/>
            <a:ext cx="201168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23" name="Shape 21"/>
          <p:cNvSpPr/>
          <p:nvPr/>
        </p:nvSpPr>
        <p:spPr>
          <a:xfrm>
            <a:off x="4626864" y="2697480"/>
            <a:ext cx="2011680" cy="1463040"/>
          </a:xfrm>
          <a:prstGeom prst="rect">
            <a:avLst/>
          </a:prstGeom>
          <a:solidFill>
            <a:srgbClr val="FFFFFF"/>
          </a:solidFill>
          <a:ln w="6350">
            <a:solidFill>
              <a:srgbClr val="EEEEEE"/>
            </a:solidFill>
            <a:prstDash val="solid"/>
          </a:ln>
          <a:effectLst>
            <a:outerShdw sx="100000" sy="100000" kx="0" ky="0" algn="bl" rotWithShape="0" blurRad="101600" dist="38100" dir="8100000">
              <a:srgbClr val="000000">
                <a:alpha val="12000"/>
              </a:srgbClr>
            </a:outerShdw>
          </a:effectLst>
        </p:spPr>
      </p:sp>
      <p:sp>
        <p:nvSpPr>
          <p:cNvPr id="24" name="Text 22"/>
          <p:cNvSpPr/>
          <p:nvPr/>
        </p:nvSpPr>
        <p:spPr>
          <a:xfrm>
            <a:off x="4718304" y="2761488"/>
            <a:ext cx="1828800" cy="274320"/>
          </a:xfrm>
          <a:prstGeom prst="rect">
            <a:avLst/>
          </a:prstGeom>
          <a:noFill/>
          <a:ln/>
        </p:spPr>
        <p:txBody>
          <a:bodyPr wrap="square" lIns="0" tIns="0" rIns="0" bIns="0" rtlCol="0" anchor="ctr"/>
          <a:lstStyle/>
          <a:p>
            <a:pPr indent="0" marL="0">
              <a:buNone/>
            </a:pPr>
            <a:r>
              <a:rPr lang="en-US" sz="1100" b="1" dirty="0">
                <a:solidFill>
                  <a:srgbClr val="1E1E2E"/>
                </a:solidFill>
                <a:latin typeface="Calibri" pitchFamily="34" charset="0"/>
                <a:ea typeface="Calibri" pitchFamily="34" charset="-122"/>
                <a:cs typeface="Calibri" pitchFamily="34" charset="-120"/>
              </a:rPr>
              <a:t>Opportunity Score</a:t>
            </a:r>
            <a:endParaRPr lang="en-US" sz="1100" dirty="0"/>
          </a:p>
        </p:txBody>
      </p:sp>
      <p:sp>
        <p:nvSpPr>
          <p:cNvPr id="25" name="Text 23"/>
          <p:cNvSpPr/>
          <p:nvPr/>
        </p:nvSpPr>
        <p:spPr>
          <a:xfrm>
            <a:off x="4718304" y="3063240"/>
            <a:ext cx="1828800" cy="1005840"/>
          </a:xfrm>
          <a:prstGeom prst="rect">
            <a:avLst/>
          </a:prstGeom>
          <a:noFill/>
          <a:ln/>
        </p:spPr>
        <p:txBody>
          <a:bodyPr wrap="square" lIns="0" tIns="0" rIns="0" bIns="0" rtlCol="0" anchor="ctr"/>
          <a:lstStyle/>
          <a:p>
            <a:pPr indent="0" marL="0">
              <a:buNone/>
            </a:pPr>
            <a:r>
              <a:rPr lang="en-US" sz="950" dirty="0">
                <a:solidFill>
                  <a:srgbClr val="444444"/>
                </a:solidFill>
                <a:latin typeface="Courier New" pitchFamily="34" charset="0"/>
                <a:ea typeface="Courier New" pitchFamily="34" charset="-122"/>
                <a:cs typeface="Courier New" pitchFamily="34" charset="-120"/>
              </a:rPr>
              <a:t>(users/MAX(users)) –</a:t>
            </a:r>
            <a:endParaRPr lang="en-US" sz="950" dirty="0"/>
          </a:p>
          <a:p>
            <a:pPr indent="0" marL="0">
              <a:buNone/>
            </a:pPr>
            <a:r>
              <a:rPr lang="en-US" sz="950" dirty="0">
                <a:solidFill>
                  <a:srgbClr val="444444"/>
                </a:solidFill>
                <a:latin typeface="Courier New" pitchFamily="34" charset="0"/>
                <a:ea typeface="Courier New" pitchFamily="34" charset="-122"/>
                <a:cs typeface="Courier New" pitchFamily="34" charset="-120"/>
              </a:rPr>
              <a:t>(penetration/MAX(penetration))</a:t>
            </a:r>
            <a:endParaRPr lang="en-US" sz="950" dirty="0"/>
          </a:p>
          <a:p>
            <a:pPr indent="0" marL="0">
              <a:buNone/>
            </a:pPr>
            <a:r>
              <a:rPr lang="en-US" sz="950" dirty="0">
                <a:solidFill>
                  <a:srgbClr val="444444"/>
                </a:solidFill>
                <a:latin typeface="Courier New" pitchFamily="34" charset="0"/>
                <a:ea typeface="Courier New" pitchFamily="34" charset="-122"/>
                <a:cs typeface="Courier New" pitchFamily="34" charset="-120"/>
              </a:rPr>
              <a:t>Higher = bigger gap</a:t>
            </a:r>
            <a:endParaRPr lang="en-US" sz="950" dirty="0"/>
          </a:p>
        </p:txBody>
      </p:sp>
      <p:sp>
        <p:nvSpPr>
          <p:cNvPr id="26" name="Shape 24"/>
          <p:cNvSpPr/>
          <p:nvPr/>
        </p:nvSpPr>
        <p:spPr>
          <a:xfrm>
            <a:off x="6803136" y="2331720"/>
            <a:ext cx="2011680" cy="365760"/>
          </a:xfrm>
          <a:prstGeom prst="rect">
            <a:avLst/>
          </a:prstGeom>
          <a:solidFill>
            <a:srgbClr val="FF6B35"/>
          </a:solidFill>
          <a:ln/>
        </p:spPr>
      </p:sp>
      <p:sp>
        <p:nvSpPr>
          <p:cNvPr id="27" name="Text 25"/>
          <p:cNvSpPr/>
          <p:nvPr/>
        </p:nvSpPr>
        <p:spPr>
          <a:xfrm>
            <a:off x="6803136" y="2331720"/>
            <a:ext cx="201168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28" name="Shape 26"/>
          <p:cNvSpPr/>
          <p:nvPr/>
        </p:nvSpPr>
        <p:spPr>
          <a:xfrm>
            <a:off x="6803136" y="2697480"/>
            <a:ext cx="2011680" cy="1463040"/>
          </a:xfrm>
          <a:prstGeom prst="rect">
            <a:avLst/>
          </a:prstGeom>
          <a:solidFill>
            <a:srgbClr val="FFFFFF"/>
          </a:solidFill>
          <a:ln w="6350">
            <a:solidFill>
              <a:srgbClr val="EEEEEE"/>
            </a:solidFill>
            <a:prstDash val="solid"/>
          </a:ln>
          <a:effectLst>
            <a:outerShdw sx="100000" sy="100000" kx="0" ky="0" algn="bl" rotWithShape="0" blurRad="101600" dist="38100" dir="8100000">
              <a:srgbClr val="000000">
                <a:alpha val="12000"/>
              </a:srgbClr>
            </a:outerShdw>
          </a:effectLst>
        </p:spPr>
      </p:sp>
      <p:sp>
        <p:nvSpPr>
          <p:cNvPr id="29" name="Text 27"/>
          <p:cNvSpPr/>
          <p:nvPr/>
        </p:nvSpPr>
        <p:spPr>
          <a:xfrm>
            <a:off x="6894576" y="2761488"/>
            <a:ext cx="1828800" cy="274320"/>
          </a:xfrm>
          <a:prstGeom prst="rect">
            <a:avLst/>
          </a:prstGeom>
          <a:noFill/>
          <a:ln/>
        </p:spPr>
        <p:txBody>
          <a:bodyPr wrap="square" lIns="0" tIns="0" rIns="0" bIns="0" rtlCol="0" anchor="ctr"/>
          <a:lstStyle/>
          <a:p>
            <a:pPr indent="0" marL="0">
              <a:buNone/>
            </a:pPr>
            <a:r>
              <a:rPr lang="en-US" sz="1100" b="1" dirty="0">
                <a:solidFill>
                  <a:srgbClr val="1E1E2E"/>
                </a:solidFill>
                <a:latin typeface="Calibri" pitchFamily="34" charset="0"/>
                <a:ea typeface="Calibri" pitchFamily="34" charset="-122"/>
                <a:cs typeface="Calibri" pitchFamily="34" charset="-120"/>
              </a:rPr>
              <a:t>Priority Tiers</a:t>
            </a:r>
            <a:endParaRPr lang="en-US" sz="1100" dirty="0"/>
          </a:p>
        </p:txBody>
      </p:sp>
      <p:sp>
        <p:nvSpPr>
          <p:cNvPr id="30" name="Text 28"/>
          <p:cNvSpPr/>
          <p:nvPr/>
        </p:nvSpPr>
        <p:spPr>
          <a:xfrm>
            <a:off x="6894576" y="3063240"/>
            <a:ext cx="1828800" cy="1005840"/>
          </a:xfrm>
          <a:prstGeom prst="rect">
            <a:avLst/>
          </a:prstGeom>
          <a:noFill/>
          <a:ln/>
        </p:spPr>
        <p:txBody>
          <a:bodyPr wrap="square" lIns="0" tIns="0" rIns="0" bIns="0" rtlCol="0" anchor="ctr"/>
          <a:lstStyle/>
          <a:p>
            <a:pPr indent="0" marL="0">
              <a:buNone/>
            </a:pPr>
            <a:r>
              <a:rPr lang="en-US" sz="950" dirty="0">
                <a:solidFill>
                  <a:srgbClr val="444444"/>
                </a:solidFill>
                <a:latin typeface="Courier New" pitchFamily="34" charset="0"/>
                <a:ea typeface="Courier New" pitchFamily="34" charset="-122"/>
                <a:cs typeface="Courier New" pitchFamily="34" charset="-120"/>
              </a:rPr>
              <a:t>CASE WHEN score&gt;=0.3</a:t>
            </a:r>
            <a:endParaRPr lang="en-US" sz="950" dirty="0"/>
          </a:p>
          <a:p>
            <a:pPr indent="0" marL="0">
              <a:buNone/>
            </a:pPr>
            <a:r>
              <a:rPr lang="en-US" sz="950" dirty="0">
                <a:solidFill>
                  <a:srgbClr val="444444"/>
                </a:solidFill>
                <a:latin typeface="Courier New" pitchFamily="34" charset="0"/>
                <a:ea typeface="Courier New" pitchFamily="34" charset="-122"/>
                <a:cs typeface="Courier New" pitchFamily="34" charset="-120"/>
              </a:rPr>
              <a:t>THEN 'Critical'</a:t>
            </a:r>
            <a:endParaRPr lang="en-US" sz="950" dirty="0"/>
          </a:p>
          <a:p>
            <a:pPr indent="0" marL="0">
              <a:buNone/>
            </a:pPr>
            <a:r>
              <a:rPr lang="en-US" sz="950" dirty="0">
                <a:solidFill>
                  <a:srgbClr val="444444"/>
                </a:solidFill>
                <a:latin typeface="Courier New" pitchFamily="34" charset="0"/>
                <a:ea typeface="Courier New" pitchFamily="34" charset="-122"/>
                <a:cs typeface="Courier New" pitchFamily="34" charset="-120"/>
              </a:rPr>
              <a:t>ELSE 'High/Medium/Low'</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1E2E"/>
          </a:solidFill>
          <a:ln/>
        </p:spPr>
      </p:sp>
      <p:sp>
        <p:nvSpPr>
          <p:cNvPr id="3" name="Shape 1"/>
          <p:cNvSpPr/>
          <p:nvPr/>
        </p:nvSpPr>
        <p:spPr>
          <a:xfrm>
            <a:off x="0" y="4828032"/>
            <a:ext cx="9144000" cy="315468"/>
          </a:xfrm>
          <a:prstGeom prst="rect">
            <a:avLst/>
          </a:prstGeom>
          <a:solidFill>
            <a:srgbClr val="5F2EEA">
              <a:alpha val="75000"/>
            </a:srgbClr>
          </a:solidFill>
          <a:ln/>
        </p:spPr>
      </p:sp>
      <p:sp>
        <p:nvSpPr>
          <p:cNvPr id="4" name="Text 2"/>
          <p:cNvSpPr/>
          <p:nvPr/>
        </p:nvSpPr>
        <p:spPr>
          <a:xfrm>
            <a:off x="274320" y="118872"/>
            <a:ext cx="8595360" cy="45720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BC3: Insurance Penetration &amp; Growth – Visualizations &amp; Findings</a:t>
            </a:r>
            <a:endParaRPr lang="en-US" sz="2100" dirty="0"/>
          </a:p>
        </p:txBody>
      </p:sp>
      <p:sp>
        <p:nvSpPr>
          <p:cNvPr id="5" name="Text 3"/>
          <p:cNvSpPr/>
          <p:nvPr/>
        </p:nvSpPr>
        <p:spPr>
          <a:xfrm>
            <a:off x="182880" y="4846320"/>
            <a:ext cx="8778240" cy="237744"/>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PhonePe  •  5 Business Case Studies  •  8 / 18</a:t>
            </a:r>
            <a:endParaRPr lang="en-US" sz="900" dirty="0"/>
          </a:p>
        </p:txBody>
      </p:sp>
      <p:sp>
        <p:nvSpPr>
          <p:cNvPr id="6" name="Shape 4"/>
          <p:cNvSpPr/>
          <p:nvPr/>
        </p:nvSpPr>
        <p:spPr>
          <a:xfrm>
            <a:off x="274320" y="777240"/>
            <a:ext cx="1005840" cy="347472"/>
          </a:xfrm>
          <a:prstGeom prst="rect">
            <a:avLst/>
          </a:prstGeom>
          <a:solidFill>
            <a:srgbClr val="FF6B35"/>
          </a:solidFill>
          <a:ln/>
        </p:spPr>
      </p:sp>
      <p:sp>
        <p:nvSpPr>
          <p:cNvPr id="7" name="Text 5"/>
          <p:cNvSpPr/>
          <p:nvPr/>
        </p:nvSpPr>
        <p:spPr>
          <a:xfrm>
            <a:off x="274320" y="777240"/>
            <a:ext cx="100584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BC3</a:t>
            </a:r>
            <a:endParaRPr lang="en-US" sz="1300" dirty="0"/>
          </a:p>
        </p:txBody>
      </p:sp>
      <p:sp>
        <p:nvSpPr>
          <p:cNvPr id="8" name="Text 6"/>
          <p:cNvSpPr/>
          <p:nvPr/>
        </p:nvSpPr>
        <p:spPr>
          <a:xfrm>
            <a:off x="1371600" y="804672"/>
            <a:ext cx="7315200" cy="301752"/>
          </a:xfrm>
          <a:prstGeom prst="rect">
            <a:avLst/>
          </a:prstGeom>
          <a:noFill/>
          <a:ln/>
        </p:spPr>
        <p:txBody>
          <a:bodyPr wrap="square" lIns="0" tIns="0" rIns="0" bIns="0" rtlCol="0" anchor="ctr"/>
          <a:lstStyle/>
          <a:p>
            <a:pPr indent="0" marL="0">
              <a:buNone/>
            </a:pPr>
            <a:r>
              <a:rPr lang="en-US" sz="1300" i="1" dirty="0">
                <a:solidFill>
                  <a:srgbClr val="555555"/>
                </a:solidFill>
                <a:latin typeface="Calibri" pitchFamily="34" charset="0"/>
                <a:ea typeface="Calibri" pitchFamily="34" charset="-122"/>
                <a:cs typeface="Calibri" pitchFamily="34" charset="-120"/>
              </a:rPr>
              <a:t>Insurance Penetration &amp; Growth Potential</a:t>
            </a:r>
            <a:endParaRPr lang="en-US" sz="1300" dirty="0"/>
          </a:p>
        </p:txBody>
      </p:sp>
      <p:sp>
        <p:nvSpPr>
          <p:cNvPr id="9" name="Shape 7"/>
          <p:cNvSpPr/>
          <p:nvPr/>
        </p:nvSpPr>
        <p:spPr>
          <a:xfrm>
            <a:off x="274320" y="1207008"/>
            <a:ext cx="1920240" cy="1143000"/>
          </a:xfrm>
          <a:prstGeom prst="rect">
            <a:avLst/>
          </a:prstGeom>
          <a:solidFill>
            <a:srgbClr val="FFFFFF"/>
          </a:solidFill>
          <a:ln w="6350">
            <a:solidFill>
              <a:srgbClr val="EEEEEE"/>
            </a:solidFill>
            <a:prstDash val="solid"/>
          </a:ln>
          <a:effectLst>
            <a:outerShdw sx="100000" sy="100000" kx="0" ky="0" algn="bl" rotWithShape="0" blurRad="101600" dist="38100" dir="8100000">
              <a:srgbClr val="000000">
                <a:alpha val="12000"/>
              </a:srgbClr>
            </a:outerShdw>
          </a:effectLst>
        </p:spPr>
      </p:sp>
      <p:sp>
        <p:nvSpPr>
          <p:cNvPr id="10" name="Shape 8"/>
          <p:cNvSpPr/>
          <p:nvPr/>
        </p:nvSpPr>
        <p:spPr>
          <a:xfrm>
            <a:off x="274320" y="1207008"/>
            <a:ext cx="64008" cy="1143000"/>
          </a:xfrm>
          <a:prstGeom prst="rect">
            <a:avLst/>
          </a:prstGeom>
          <a:solidFill>
            <a:srgbClr val="5F2EEA"/>
          </a:solidFill>
          <a:ln/>
        </p:spPr>
      </p:sp>
      <p:sp>
        <p:nvSpPr>
          <p:cNvPr id="11" name="Text 9"/>
          <p:cNvSpPr/>
          <p:nvPr/>
        </p:nvSpPr>
        <p:spPr>
          <a:xfrm>
            <a:off x="402336" y="1298448"/>
            <a:ext cx="457200" cy="347472"/>
          </a:xfrm>
          <a:prstGeom prst="rect">
            <a:avLst/>
          </a:prstGeom>
          <a:noFill/>
          <a:ln/>
        </p:spPr>
        <p:txBody>
          <a:bodyPr wrap="square" lIns="0" tIns="0" rIns="0" bIns="0" rtlCol="0" anchor="ctr"/>
          <a:lstStyle/>
          <a:p>
            <a:pPr indent="0" marL="0">
              <a:buNone/>
            </a:pPr>
            <a:r>
              <a:rPr lang="en-US" sz="1800" dirty="0">
                <a:solidFill>
                  <a:srgbClr val="000000"/>
                </a:solidFill>
              </a:rPr>
              <a:t>📋</a:t>
            </a:r>
            <a:endParaRPr lang="en-US" sz="1800" dirty="0"/>
          </a:p>
        </p:txBody>
      </p:sp>
      <p:sp>
        <p:nvSpPr>
          <p:cNvPr id="12" name="Text 10"/>
          <p:cNvSpPr/>
          <p:nvPr/>
        </p:nvSpPr>
        <p:spPr>
          <a:xfrm>
            <a:off x="402336" y="1627632"/>
            <a:ext cx="1719072" cy="384048"/>
          </a:xfrm>
          <a:prstGeom prst="rect">
            <a:avLst/>
          </a:prstGeom>
          <a:noFill/>
          <a:ln/>
        </p:spPr>
        <p:txBody>
          <a:bodyPr wrap="square" lIns="0" tIns="0" rIns="0" bIns="0" rtlCol="0" anchor="ctr"/>
          <a:lstStyle/>
          <a:p>
            <a:pPr indent="0" marL="0">
              <a:buNone/>
            </a:pPr>
            <a:r>
              <a:rPr lang="en-US" sz="1900" b="1" dirty="0">
                <a:solidFill>
                  <a:srgbClr val="1E1E2E"/>
                </a:solidFill>
                <a:latin typeface="Calibri" pitchFamily="34" charset="0"/>
                <a:ea typeface="Calibri" pitchFamily="34" charset="-122"/>
                <a:cs typeface="Calibri" pitchFamily="34" charset="-120"/>
              </a:rPr>
              <a:t>2.3M</a:t>
            </a:r>
            <a:endParaRPr lang="en-US" sz="1900" dirty="0"/>
          </a:p>
        </p:txBody>
      </p:sp>
      <p:sp>
        <p:nvSpPr>
          <p:cNvPr id="13" name="Text 11"/>
          <p:cNvSpPr/>
          <p:nvPr/>
        </p:nvSpPr>
        <p:spPr>
          <a:xfrm>
            <a:off x="402336" y="1993392"/>
            <a:ext cx="1719072" cy="201168"/>
          </a:xfrm>
          <a:prstGeom prst="rect">
            <a:avLst/>
          </a:prstGeom>
          <a:noFill/>
          <a:ln/>
        </p:spPr>
        <p:txBody>
          <a:bodyPr wrap="square" lIns="0" tIns="0" rIns="0" bIns="0" rtlCol="0" anchor="ctr"/>
          <a:lstStyle/>
          <a:p>
            <a:pPr indent="0" marL="0">
              <a:buNone/>
            </a:pPr>
            <a:r>
              <a:rPr lang="en-US" sz="1000" dirty="0">
                <a:solidFill>
                  <a:srgbClr val="888888"/>
                </a:solidFill>
                <a:latin typeface="Calibri" pitchFamily="34" charset="0"/>
                <a:ea typeface="Calibri" pitchFamily="34" charset="-122"/>
                <a:cs typeface="Calibri" pitchFamily="34" charset="-120"/>
              </a:rPr>
              <a:t>Total Policies</a:t>
            </a:r>
            <a:endParaRPr lang="en-US" sz="1000" dirty="0"/>
          </a:p>
        </p:txBody>
      </p:sp>
      <p:sp>
        <p:nvSpPr>
          <p:cNvPr id="14" name="Shape 12"/>
          <p:cNvSpPr/>
          <p:nvPr/>
        </p:nvSpPr>
        <p:spPr>
          <a:xfrm>
            <a:off x="2304288" y="1207008"/>
            <a:ext cx="1920240" cy="1143000"/>
          </a:xfrm>
          <a:prstGeom prst="rect">
            <a:avLst/>
          </a:prstGeom>
          <a:solidFill>
            <a:srgbClr val="FFFFFF"/>
          </a:solidFill>
          <a:ln w="6350">
            <a:solidFill>
              <a:srgbClr val="EEEEEE"/>
            </a:solidFill>
            <a:prstDash val="solid"/>
          </a:ln>
          <a:effectLst>
            <a:outerShdw sx="100000" sy="100000" kx="0" ky="0" algn="bl" rotWithShape="0" blurRad="101600" dist="38100" dir="8100000">
              <a:srgbClr val="000000">
                <a:alpha val="12000"/>
              </a:srgbClr>
            </a:outerShdw>
          </a:effectLst>
        </p:spPr>
      </p:sp>
      <p:sp>
        <p:nvSpPr>
          <p:cNvPr id="15" name="Shape 13"/>
          <p:cNvSpPr/>
          <p:nvPr/>
        </p:nvSpPr>
        <p:spPr>
          <a:xfrm>
            <a:off x="2304288" y="1207008"/>
            <a:ext cx="64008" cy="1143000"/>
          </a:xfrm>
          <a:prstGeom prst="rect">
            <a:avLst/>
          </a:prstGeom>
          <a:solidFill>
            <a:srgbClr val="FF6B35"/>
          </a:solidFill>
          <a:ln/>
        </p:spPr>
      </p:sp>
      <p:sp>
        <p:nvSpPr>
          <p:cNvPr id="16" name="Text 14"/>
          <p:cNvSpPr/>
          <p:nvPr/>
        </p:nvSpPr>
        <p:spPr>
          <a:xfrm>
            <a:off x="2432304" y="1298448"/>
            <a:ext cx="457200" cy="347472"/>
          </a:xfrm>
          <a:prstGeom prst="rect">
            <a:avLst/>
          </a:prstGeom>
          <a:noFill/>
          <a:ln/>
        </p:spPr>
        <p:txBody>
          <a:bodyPr wrap="square" lIns="0" tIns="0" rIns="0" bIns="0" rtlCol="0" anchor="ctr"/>
          <a:lstStyle/>
          <a:p>
            <a:pPr indent="0" marL="0">
              <a:buNone/>
            </a:pPr>
            <a:r>
              <a:rPr lang="en-US" sz="1800" dirty="0">
                <a:solidFill>
                  <a:srgbClr val="000000"/>
                </a:solidFill>
              </a:rPr>
              <a:t>💰</a:t>
            </a:r>
            <a:endParaRPr lang="en-US" sz="1800" dirty="0"/>
          </a:p>
        </p:txBody>
      </p:sp>
      <p:sp>
        <p:nvSpPr>
          <p:cNvPr id="17" name="Text 15"/>
          <p:cNvSpPr/>
          <p:nvPr/>
        </p:nvSpPr>
        <p:spPr>
          <a:xfrm>
            <a:off x="2432304" y="1627632"/>
            <a:ext cx="1719072" cy="384048"/>
          </a:xfrm>
          <a:prstGeom prst="rect">
            <a:avLst/>
          </a:prstGeom>
          <a:noFill/>
          <a:ln/>
        </p:spPr>
        <p:txBody>
          <a:bodyPr wrap="square" lIns="0" tIns="0" rIns="0" bIns="0" rtlCol="0" anchor="ctr"/>
          <a:lstStyle/>
          <a:p>
            <a:pPr indent="0" marL="0">
              <a:buNone/>
            </a:pPr>
            <a:r>
              <a:rPr lang="en-US" sz="1900" b="1" dirty="0">
                <a:solidFill>
                  <a:srgbClr val="1E1E2E"/>
                </a:solidFill>
                <a:latin typeface="Calibri" pitchFamily="34" charset="0"/>
                <a:ea typeface="Calibri" pitchFamily="34" charset="-122"/>
                <a:cs typeface="Calibri" pitchFamily="34" charset="-120"/>
              </a:rPr>
              <a:t>₹8,200 Cr</a:t>
            </a:r>
            <a:endParaRPr lang="en-US" sz="1900" dirty="0"/>
          </a:p>
        </p:txBody>
      </p:sp>
      <p:sp>
        <p:nvSpPr>
          <p:cNvPr id="18" name="Text 16"/>
          <p:cNvSpPr/>
          <p:nvPr/>
        </p:nvSpPr>
        <p:spPr>
          <a:xfrm>
            <a:off x="2432304" y="1993392"/>
            <a:ext cx="1719072" cy="201168"/>
          </a:xfrm>
          <a:prstGeom prst="rect">
            <a:avLst/>
          </a:prstGeom>
          <a:noFill/>
          <a:ln/>
        </p:spPr>
        <p:txBody>
          <a:bodyPr wrap="square" lIns="0" tIns="0" rIns="0" bIns="0" rtlCol="0" anchor="ctr"/>
          <a:lstStyle/>
          <a:p>
            <a:pPr indent="0" marL="0">
              <a:buNone/>
            </a:pPr>
            <a:r>
              <a:rPr lang="en-US" sz="1000" dirty="0">
                <a:solidFill>
                  <a:srgbClr val="888888"/>
                </a:solidFill>
                <a:latin typeface="Calibri" pitchFamily="34" charset="0"/>
                <a:ea typeface="Calibri" pitchFamily="34" charset="-122"/>
                <a:cs typeface="Calibri" pitchFamily="34" charset="-120"/>
              </a:rPr>
              <a:t>Total Premium</a:t>
            </a:r>
            <a:endParaRPr lang="en-US" sz="1000" dirty="0"/>
          </a:p>
        </p:txBody>
      </p:sp>
      <p:sp>
        <p:nvSpPr>
          <p:cNvPr id="19" name="Shape 17"/>
          <p:cNvSpPr/>
          <p:nvPr/>
        </p:nvSpPr>
        <p:spPr>
          <a:xfrm>
            <a:off x="4334256" y="1207008"/>
            <a:ext cx="1920240" cy="1143000"/>
          </a:xfrm>
          <a:prstGeom prst="rect">
            <a:avLst/>
          </a:prstGeom>
          <a:solidFill>
            <a:srgbClr val="FFFFFF"/>
          </a:solidFill>
          <a:ln w="6350">
            <a:solidFill>
              <a:srgbClr val="EEEEEE"/>
            </a:solidFill>
            <a:prstDash val="solid"/>
          </a:ln>
          <a:effectLst>
            <a:outerShdw sx="100000" sy="100000" kx="0" ky="0" algn="bl" rotWithShape="0" blurRad="101600" dist="38100" dir="8100000">
              <a:srgbClr val="000000">
                <a:alpha val="12000"/>
              </a:srgbClr>
            </a:outerShdw>
          </a:effectLst>
        </p:spPr>
      </p:sp>
      <p:sp>
        <p:nvSpPr>
          <p:cNvPr id="20" name="Shape 18"/>
          <p:cNvSpPr/>
          <p:nvPr/>
        </p:nvSpPr>
        <p:spPr>
          <a:xfrm>
            <a:off x="4334256" y="1207008"/>
            <a:ext cx="64008" cy="1143000"/>
          </a:xfrm>
          <a:prstGeom prst="rect">
            <a:avLst/>
          </a:prstGeom>
          <a:solidFill>
            <a:srgbClr val="00B9F1"/>
          </a:solidFill>
          <a:ln/>
        </p:spPr>
      </p:sp>
      <p:sp>
        <p:nvSpPr>
          <p:cNvPr id="21" name="Text 19"/>
          <p:cNvSpPr/>
          <p:nvPr/>
        </p:nvSpPr>
        <p:spPr>
          <a:xfrm>
            <a:off x="4462272" y="1298448"/>
            <a:ext cx="457200" cy="347472"/>
          </a:xfrm>
          <a:prstGeom prst="rect">
            <a:avLst/>
          </a:prstGeom>
          <a:noFill/>
          <a:ln/>
        </p:spPr>
        <p:txBody>
          <a:bodyPr wrap="square" lIns="0" tIns="0" rIns="0" bIns="0" rtlCol="0" anchor="ctr"/>
          <a:lstStyle/>
          <a:p>
            <a:pPr indent="0" marL="0">
              <a:buNone/>
            </a:pPr>
            <a:r>
              <a:rPr lang="en-US" sz="1800" dirty="0">
                <a:solidFill>
                  <a:srgbClr val="000000"/>
                </a:solidFill>
              </a:rPr>
              <a:t>📊</a:t>
            </a:r>
            <a:endParaRPr lang="en-US" sz="1800" dirty="0"/>
          </a:p>
        </p:txBody>
      </p:sp>
      <p:sp>
        <p:nvSpPr>
          <p:cNvPr id="22" name="Text 20"/>
          <p:cNvSpPr/>
          <p:nvPr/>
        </p:nvSpPr>
        <p:spPr>
          <a:xfrm>
            <a:off x="4462272" y="1627632"/>
            <a:ext cx="1719072" cy="384048"/>
          </a:xfrm>
          <a:prstGeom prst="rect">
            <a:avLst/>
          </a:prstGeom>
          <a:noFill/>
          <a:ln/>
        </p:spPr>
        <p:txBody>
          <a:bodyPr wrap="square" lIns="0" tIns="0" rIns="0" bIns="0" rtlCol="0" anchor="ctr"/>
          <a:lstStyle/>
          <a:p>
            <a:pPr indent="0" marL="0">
              <a:buNone/>
            </a:pPr>
            <a:r>
              <a:rPr lang="en-US" sz="1900" b="1" dirty="0">
                <a:solidFill>
                  <a:srgbClr val="1E1E2E"/>
                </a:solidFill>
                <a:latin typeface="Calibri" pitchFamily="34" charset="0"/>
                <a:ea typeface="Calibri" pitchFamily="34" charset="-122"/>
                <a:cs typeface="Calibri" pitchFamily="34" charset="-120"/>
              </a:rPr>
              <a:t>1.8%</a:t>
            </a:r>
            <a:endParaRPr lang="en-US" sz="1900" dirty="0"/>
          </a:p>
        </p:txBody>
      </p:sp>
      <p:sp>
        <p:nvSpPr>
          <p:cNvPr id="23" name="Text 21"/>
          <p:cNvSpPr/>
          <p:nvPr/>
        </p:nvSpPr>
        <p:spPr>
          <a:xfrm>
            <a:off x="4462272" y="1993392"/>
            <a:ext cx="1719072" cy="201168"/>
          </a:xfrm>
          <a:prstGeom prst="rect">
            <a:avLst/>
          </a:prstGeom>
          <a:noFill/>
          <a:ln/>
        </p:spPr>
        <p:txBody>
          <a:bodyPr wrap="square" lIns="0" tIns="0" rIns="0" bIns="0" rtlCol="0" anchor="ctr"/>
          <a:lstStyle/>
          <a:p>
            <a:pPr indent="0" marL="0">
              <a:buNone/>
            </a:pPr>
            <a:r>
              <a:rPr lang="en-US" sz="1000" dirty="0">
                <a:solidFill>
                  <a:srgbClr val="888888"/>
                </a:solidFill>
                <a:latin typeface="Calibri" pitchFamily="34" charset="0"/>
                <a:ea typeface="Calibri" pitchFamily="34" charset="-122"/>
                <a:cs typeface="Calibri" pitchFamily="34" charset="-120"/>
              </a:rPr>
              <a:t>Avg Penetration</a:t>
            </a:r>
            <a:endParaRPr lang="en-US" sz="1000" dirty="0"/>
          </a:p>
        </p:txBody>
      </p:sp>
      <p:sp>
        <p:nvSpPr>
          <p:cNvPr id="24" name="Shape 22"/>
          <p:cNvSpPr/>
          <p:nvPr/>
        </p:nvSpPr>
        <p:spPr>
          <a:xfrm>
            <a:off x="6364224" y="1207008"/>
            <a:ext cx="1920240" cy="1143000"/>
          </a:xfrm>
          <a:prstGeom prst="rect">
            <a:avLst/>
          </a:prstGeom>
          <a:solidFill>
            <a:srgbClr val="FFFFFF"/>
          </a:solidFill>
          <a:ln w="6350">
            <a:solidFill>
              <a:srgbClr val="EEEEEE"/>
            </a:solidFill>
            <a:prstDash val="solid"/>
          </a:ln>
          <a:effectLst>
            <a:outerShdw sx="100000" sy="100000" kx="0" ky="0" algn="bl" rotWithShape="0" blurRad="101600" dist="38100" dir="8100000">
              <a:srgbClr val="000000">
                <a:alpha val="12000"/>
              </a:srgbClr>
            </a:outerShdw>
          </a:effectLst>
        </p:spPr>
      </p:sp>
      <p:sp>
        <p:nvSpPr>
          <p:cNvPr id="25" name="Shape 23"/>
          <p:cNvSpPr/>
          <p:nvPr/>
        </p:nvSpPr>
        <p:spPr>
          <a:xfrm>
            <a:off x="6364224" y="1207008"/>
            <a:ext cx="64008" cy="1143000"/>
          </a:xfrm>
          <a:prstGeom prst="rect">
            <a:avLst/>
          </a:prstGeom>
          <a:solidFill>
            <a:srgbClr val="00C48C"/>
          </a:solidFill>
          <a:ln/>
        </p:spPr>
      </p:sp>
      <p:sp>
        <p:nvSpPr>
          <p:cNvPr id="26" name="Text 24"/>
          <p:cNvSpPr/>
          <p:nvPr/>
        </p:nvSpPr>
        <p:spPr>
          <a:xfrm>
            <a:off x="6492240" y="1298448"/>
            <a:ext cx="457200" cy="347472"/>
          </a:xfrm>
          <a:prstGeom prst="rect">
            <a:avLst/>
          </a:prstGeom>
          <a:noFill/>
          <a:ln/>
        </p:spPr>
        <p:txBody>
          <a:bodyPr wrap="square" lIns="0" tIns="0" rIns="0" bIns="0" rtlCol="0" anchor="ctr"/>
          <a:lstStyle/>
          <a:p>
            <a:pPr indent="0" marL="0">
              <a:buNone/>
            </a:pPr>
            <a:r>
              <a:rPr lang="en-US" sz="1800" dirty="0">
                <a:solidFill>
                  <a:srgbClr val="000000"/>
                </a:solidFill>
              </a:rPr>
              <a:t>🚀</a:t>
            </a:r>
            <a:endParaRPr lang="en-US" sz="1800" dirty="0"/>
          </a:p>
        </p:txBody>
      </p:sp>
      <p:sp>
        <p:nvSpPr>
          <p:cNvPr id="27" name="Text 25"/>
          <p:cNvSpPr/>
          <p:nvPr/>
        </p:nvSpPr>
        <p:spPr>
          <a:xfrm>
            <a:off x="6492240" y="1627632"/>
            <a:ext cx="1719072" cy="384048"/>
          </a:xfrm>
          <a:prstGeom prst="rect">
            <a:avLst/>
          </a:prstGeom>
          <a:noFill/>
          <a:ln/>
        </p:spPr>
        <p:txBody>
          <a:bodyPr wrap="square" lIns="0" tIns="0" rIns="0" bIns="0" rtlCol="0" anchor="ctr"/>
          <a:lstStyle/>
          <a:p>
            <a:pPr indent="0" marL="0">
              <a:buNone/>
            </a:pPr>
            <a:r>
              <a:rPr lang="en-US" sz="1900" b="1" dirty="0">
                <a:solidFill>
                  <a:srgbClr val="1E1E2E"/>
                </a:solidFill>
                <a:latin typeface="Calibri" pitchFamily="34" charset="0"/>
                <a:ea typeface="Calibri" pitchFamily="34" charset="-122"/>
                <a:cs typeface="Calibri" pitchFamily="34" charset="-120"/>
              </a:rPr>
              <a:t>+23% YoY</a:t>
            </a:r>
            <a:endParaRPr lang="en-US" sz="1900" dirty="0"/>
          </a:p>
        </p:txBody>
      </p:sp>
      <p:sp>
        <p:nvSpPr>
          <p:cNvPr id="28" name="Text 26"/>
          <p:cNvSpPr/>
          <p:nvPr/>
        </p:nvSpPr>
        <p:spPr>
          <a:xfrm>
            <a:off x="6492240" y="1993392"/>
            <a:ext cx="1719072" cy="201168"/>
          </a:xfrm>
          <a:prstGeom prst="rect">
            <a:avLst/>
          </a:prstGeom>
          <a:noFill/>
          <a:ln/>
        </p:spPr>
        <p:txBody>
          <a:bodyPr wrap="square" lIns="0" tIns="0" rIns="0" bIns="0" rtlCol="0" anchor="ctr"/>
          <a:lstStyle/>
          <a:p>
            <a:pPr indent="0" marL="0">
              <a:buNone/>
            </a:pPr>
            <a:r>
              <a:rPr lang="en-US" sz="1000" dirty="0">
                <a:solidFill>
                  <a:srgbClr val="888888"/>
                </a:solidFill>
                <a:latin typeface="Calibri" pitchFamily="34" charset="0"/>
                <a:ea typeface="Calibri" pitchFamily="34" charset="-122"/>
                <a:cs typeface="Calibri" pitchFamily="34" charset="-120"/>
              </a:rPr>
              <a:t>Growth Rate</a:t>
            </a:r>
            <a:endParaRPr lang="en-US" sz="1000" dirty="0"/>
          </a:p>
        </p:txBody>
      </p:sp>
      <p:sp>
        <p:nvSpPr>
          <p:cNvPr id="29" name="Shape 27"/>
          <p:cNvSpPr/>
          <p:nvPr/>
        </p:nvSpPr>
        <p:spPr>
          <a:xfrm>
            <a:off x="274320" y="2514600"/>
            <a:ext cx="2697480" cy="13258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30" name="Shape 28"/>
          <p:cNvSpPr/>
          <p:nvPr/>
        </p:nvSpPr>
        <p:spPr>
          <a:xfrm>
            <a:off x="274320" y="2514600"/>
            <a:ext cx="2697480" cy="347472"/>
          </a:xfrm>
          <a:prstGeom prst="rect">
            <a:avLst/>
          </a:prstGeom>
          <a:solidFill>
            <a:srgbClr val="FF6B35"/>
          </a:solidFill>
          <a:ln/>
        </p:spPr>
      </p:sp>
      <p:sp>
        <p:nvSpPr>
          <p:cNvPr id="31" name="Text 29"/>
          <p:cNvSpPr/>
          <p:nvPr/>
        </p:nvSpPr>
        <p:spPr>
          <a:xfrm>
            <a:off x="365760" y="2542032"/>
            <a:ext cx="25146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Penetration Bar Chart</a:t>
            </a:r>
            <a:endParaRPr lang="en-US" sz="1100" dirty="0"/>
          </a:p>
        </p:txBody>
      </p:sp>
      <p:sp>
        <p:nvSpPr>
          <p:cNvPr id="32" name="Text 30"/>
          <p:cNvSpPr/>
          <p:nvPr/>
        </p:nvSpPr>
        <p:spPr>
          <a:xfrm>
            <a:off x="365760" y="2926080"/>
            <a:ext cx="2514600" cy="822960"/>
          </a:xfrm>
          <a:prstGeom prst="rect">
            <a:avLst/>
          </a:prstGeom>
          <a:noFill/>
          <a:ln/>
        </p:spPr>
        <p:txBody>
          <a:bodyPr wrap="square" lIns="0" tIns="0" rIns="0" bIns="0" rtlCol="0" anchor="ctr"/>
          <a:lstStyle/>
          <a:p>
            <a:pPr indent="0" marL="0">
              <a:buNone/>
            </a:pPr>
            <a:r>
              <a:rPr lang="en-US" sz="1000" dirty="0">
                <a:solidFill>
                  <a:srgbClr val="444444"/>
                </a:solidFill>
                <a:latin typeface="Calibri" pitchFamily="34" charset="0"/>
                <a:ea typeface="Calibri" pitchFamily="34" charset="-122"/>
                <a:cs typeface="Calibri" pitchFamily="34" charset="-120"/>
              </a:rPr>
              <a:t>Horizontal bar (px.bar) sorted ascending by penetration %. RdYlGn color scale. Dashed line at national average. States below avg = priority targets.</a:t>
            </a:r>
            <a:endParaRPr lang="en-US" sz="1000" dirty="0"/>
          </a:p>
        </p:txBody>
      </p:sp>
      <p:sp>
        <p:nvSpPr>
          <p:cNvPr id="33" name="Shape 31"/>
          <p:cNvSpPr/>
          <p:nvPr/>
        </p:nvSpPr>
        <p:spPr>
          <a:xfrm>
            <a:off x="3090672" y="2514600"/>
            <a:ext cx="2697480" cy="13258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34" name="Shape 32"/>
          <p:cNvSpPr/>
          <p:nvPr/>
        </p:nvSpPr>
        <p:spPr>
          <a:xfrm>
            <a:off x="3090672" y="2514600"/>
            <a:ext cx="2697480" cy="347472"/>
          </a:xfrm>
          <a:prstGeom prst="rect">
            <a:avLst/>
          </a:prstGeom>
          <a:solidFill>
            <a:srgbClr val="00C48C"/>
          </a:solidFill>
          <a:ln/>
        </p:spPr>
      </p:sp>
      <p:sp>
        <p:nvSpPr>
          <p:cNvPr id="35" name="Text 33"/>
          <p:cNvSpPr/>
          <p:nvPr/>
        </p:nvSpPr>
        <p:spPr>
          <a:xfrm>
            <a:off x="3182112" y="2542032"/>
            <a:ext cx="25146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Dual-Axis Growth Chart</a:t>
            </a:r>
            <a:endParaRPr lang="en-US" sz="1100" dirty="0"/>
          </a:p>
        </p:txBody>
      </p:sp>
      <p:sp>
        <p:nvSpPr>
          <p:cNvPr id="36" name="Text 34"/>
          <p:cNvSpPr/>
          <p:nvPr/>
        </p:nvSpPr>
        <p:spPr>
          <a:xfrm>
            <a:off x="3182112" y="2926080"/>
            <a:ext cx="2514600" cy="822960"/>
          </a:xfrm>
          <a:prstGeom prst="rect">
            <a:avLst/>
          </a:prstGeom>
          <a:noFill/>
          <a:ln/>
        </p:spPr>
        <p:txBody>
          <a:bodyPr wrap="square" lIns="0" tIns="0" rIns="0" bIns="0" rtlCol="0" anchor="ctr"/>
          <a:lstStyle/>
          <a:p>
            <a:pPr indent="0" marL="0">
              <a:buNone/>
            </a:pPr>
            <a:r>
              <a:rPr lang="en-US" sz="1000" dirty="0">
                <a:solidFill>
                  <a:srgbClr val="444444"/>
                </a:solidFill>
                <a:latin typeface="Calibri" pitchFamily="34" charset="0"/>
                <a:ea typeface="Calibri" pitchFamily="34" charset="-122"/>
                <a:cs typeface="Calibri" pitchFamily="34" charset="-120"/>
              </a:rPr>
              <a:t>make_subplots(secondary_y=True): Bar = policy count, Line = premium (₹ Cr) per quarter. Shows volume and value growing in tandem with acceleration in 2023–24.</a:t>
            </a:r>
            <a:endParaRPr lang="en-US" sz="1000" dirty="0"/>
          </a:p>
        </p:txBody>
      </p:sp>
      <p:sp>
        <p:nvSpPr>
          <p:cNvPr id="37" name="Shape 35"/>
          <p:cNvSpPr/>
          <p:nvPr/>
        </p:nvSpPr>
        <p:spPr>
          <a:xfrm>
            <a:off x="5907024" y="2514600"/>
            <a:ext cx="2962656" cy="13258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38" name="Shape 36"/>
          <p:cNvSpPr/>
          <p:nvPr/>
        </p:nvSpPr>
        <p:spPr>
          <a:xfrm>
            <a:off x="5907024" y="2514600"/>
            <a:ext cx="2962656" cy="347472"/>
          </a:xfrm>
          <a:prstGeom prst="rect">
            <a:avLst/>
          </a:prstGeom>
          <a:solidFill>
            <a:srgbClr val="5F2EEA"/>
          </a:solidFill>
          <a:ln/>
        </p:spPr>
      </p:sp>
      <p:sp>
        <p:nvSpPr>
          <p:cNvPr id="39" name="Text 37"/>
          <p:cNvSpPr/>
          <p:nvPr/>
        </p:nvSpPr>
        <p:spPr>
          <a:xfrm>
            <a:off x="5998464" y="2542032"/>
            <a:ext cx="2779776"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Opportunity Treemap</a:t>
            </a:r>
            <a:endParaRPr lang="en-US" sz="1100" dirty="0"/>
          </a:p>
        </p:txBody>
      </p:sp>
      <p:sp>
        <p:nvSpPr>
          <p:cNvPr id="40" name="Text 38"/>
          <p:cNvSpPr/>
          <p:nvPr/>
        </p:nvSpPr>
        <p:spPr>
          <a:xfrm>
            <a:off x="5998464" y="2926080"/>
            <a:ext cx="2779776" cy="822960"/>
          </a:xfrm>
          <a:prstGeom prst="rect">
            <a:avLst/>
          </a:prstGeom>
          <a:noFill/>
          <a:ln/>
        </p:spPr>
        <p:txBody>
          <a:bodyPr wrap="square" lIns="0" tIns="0" rIns="0" bIns="0" rtlCol="0" anchor="ctr"/>
          <a:lstStyle/>
          <a:p>
            <a:pPr indent="0" marL="0">
              <a:buNone/>
            </a:pPr>
            <a:r>
              <a:rPr lang="en-US" sz="1000" dirty="0">
                <a:solidFill>
                  <a:srgbClr val="444444"/>
                </a:solidFill>
                <a:latin typeface="Calibri" pitchFamily="34" charset="0"/>
                <a:ea typeface="Calibri" pitchFamily="34" charset="-122"/>
                <a:cs typeface="Calibri" pitchFamily="34" charset="-120"/>
              </a:rPr>
              <a:t>px.treemap with path=[priority, state]. Block size = registered_users. Color = opportunity_score (RdYlGn_r). Critical states shown in green — biggest blocks with lowest penetration.</a:t>
            </a:r>
            <a:endParaRPr lang="en-US" sz="1000" dirty="0"/>
          </a:p>
        </p:txBody>
      </p:sp>
      <p:sp>
        <p:nvSpPr>
          <p:cNvPr id="41" name="Shape 39"/>
          <p:cNvSpPr/>
          <p:nvPr/>
        </p:nvSpPr>
        <p:spPr>
          <a:xfrm>
            <a:off x="274320" y="3931920"/>
            <a:ext cx="8595360" cy="749808"/>
          </a:xfrm>
          <a:prstGeom prst="rect">
            <a:avLst/>
          </a:prstGeom>
          <a:solidFill>
            <a:srgbClr val="1E1E2E"/>
          </a:solidFill>
          <a:ln/>
        </p:spPr>
      </p:sp>
      <p:sp>
        <p:nvSpPr>
          <p:cNvPr id="42" name="Text 40"/>
          <p:cNvSpPr/>
          <p:nvPr/>
        </p:nvSpPr>
        <p:spPr>
          <a:xfrm>
            <a:off x="411480" y="3986784"/>
            <a:ext cx="8321040" cy="658368"/>
          </a:xfrm>
          <a:prstGeom prst="rect">
            <a:avLst/>
          </a:prstGeom>
          <a:noFill/>
          <a:ln/>
        </p:spPr>
        <p:txBody>
          <a:bodyPr wrap="square" lIns="0" tIns="0" rIns="0" bIns="0" rtlCol="0" anchor="ctr"/>
          <a:lstStyle/>
          <a:p>
            <a:pPr indent="0" marL="0">
              <a:buNone/>
            </a:pPr>
            <a:r>
              <a:rPr lang="en-US" sz="1050" b="1" dirty="0">
                <a:solidFill>
                  <a:srgbClr val="FF6B35"/>
                </a:solidFill>
                <a:latin typeface="Calibri" pitchFamily="34" charset="0"/>
                <a:ea typeface="Calibri" pitchFamily="34" charset="-122"/>
                <a:cs typeface="Calibri" pitchFamily="34" charset="-120"/>
              </a:rPr>
              <a:t>🔑 Key Findings:  </a:t>
            </a:r>
            <a:pPr indent="0" marL="0">
              <a:buNone/>
            </a:pPr>
            <a:r>
              <a:rPr lang="en-US" sz="1050" dirty="0">
                <a:solidFill>
                  <a:srgbClr val="FFFFFF"/>
                </a:solidFill>
                <a:latin typeface="Calibri" pitchFamily="34" charset="0"/>
                <a:ea typeface="Calibri" pitchFamily="34" charset="-122"/>
                <a:cs typeface="Calibri" pitchFamily="34" charset="-120"/>
              </a:rPr>
              <a:t>Avg penetration &lt; 2% — a massive untapped cross-sell market exists.  |  </a:t>
            </a:r>
            <a:pPr indent="0" marL="0">
              <a:buNone/>
            </a:pPr>
            <a:r>
              <a:rPr lang="en-US" sz="1050" dirty="0">
                <a:solidFill>
                  <a:srgbClr val="FFFFFF"/>
                </a:solidFill>
                <a:latin typeface="Calibri" pitchFamily="34" charset="0"/>
                <a:ea typeface="Calibri" pitchFamily="34" charset="-122"/>
                <a:cs typeface="Calibri" pitchFamily="34" charset="-120"/>
              </a:rPr>
              <a:t>Premium per policy rising steadily — users upgrading to comprehensive plans.  |  </a:t>
            </a:r>
            <a:pPr indent="0" marL="0">
              <a:buNone/>
            </a:pPr>
            <a:r>
              <a:rPr lang="en-US" sz="1050" dirty="0">
                <a:solidFill>
                  <a:srgbClr val="FFFFFF"/>
                </a:solidFill>
                <a:latin typeface="Calibri" pitchFamily="34" charset="0"/>
                <a:ea typeface="Calibri" pitchFamily="34" charset="-122"/>
                <a:cs typeface="Calibri" pitchFamily="34" charset="-120"/>
              </a:rPr>
              <a:t>Opportunity Matrix identifies Critical states with large user base + near-zero penetration — dedicate budgets here.</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1E2E"/>
          </a:solidFill>
          <a:ln/>
        </p:spPr>
      </p:sp>
      <p:sp>
        <p:nvSpPr>
          <p:cNvPr id="3" name="Shape 1"/>
          <p:cNvSpPr/>
          <p:nvPr/>
        </p:nvSpPr>
        <p:spPr>
          <a:xfrm>
            <a:off x="0" y="4828032"/>
            <a:ext cx="9144000" cy="315468"/>
          </a:xfrm>
          <a:prstGeom prst="rect">
            <a:avLst/>
          </a:prstGeom>
          <a:solidFill>
            <a:srgbClr val="5F2EEA">
              <a:alpha val="75000"/>
            </a:srgbClr>
          </a:solidFill>
          <a:ln/>
        </p:spPr>
      </p:sp>
      <p:sp>
        <p:nvSpPr>
          <p:cNvPr id="4" name="Text 2"/>
          <p:cNvSpPr/>
          <p:nvPr/>
        </p:nvSpPr>
        <p:spPr>
          <a:xfrm>
            <a:off x="274320" y="118872"/>
            <a:ext cx="8595360" cy="45720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BC7: Transaction Analysis Across States &amp; Districts – Scenario &amp; Approach</a:t>
            </a:r>
            <a:endParaRPr lang="en-US" sz="2100" dirty="0"/>
          </a:p>
        </p:txBody>
      </p:sp>
      <p:sp>
        <p:nvSpPr>
          <p:cNvPr id="5" name="Text 3"/>
          <p:cNvSpPr/>
          <p:nvPr/>
        </p:nvSpPr>
        <p:spPr>
          <a:xfrm>
            <a:off x="182880" y="4846320"/>
            <a:ext cx="8778240" cy="237744"/>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PhonePe  •  5 Business Case Studies  •  9 / 18</a:t>
            </a:r>
            <a:endParaRPr lang="en-US" sz="900" dirty="0"/>
          </a:p>
        </p:txBody>
      </p:sp>
      <p:sp>
        <p:nvSpPr>
          <p:cNvPr id="6" name="Shape 4"/>
          <p:cNvSpPr/>
          <p:nvPr/>
        </p:nvSpPr>
        <p:spPr>
          <a:xfrm>
            <a:off x="274320" y="777240"/>
            <a:ext cx="1005840" cy="347472"/>
          </a:xfrm>
          <a:prstGeom prst="rect">
            <a:avLst/>
          </a:prstGeom>
          <a:solidFill>
            <a:srgbClr val="00C48C"/>
          </a:solidFill>
          <a:ln/>
        </p:spPr>
      </p:sp>
      <p:sp>
        <p:nvSpPr>
          <p:cNvPr id="7" name="Text 5"/>
          <p:cNvSpPr/>
          <p:nvPr/>
        </p:nvSpPr>
        <p:spPr>
          <a:xfrm>
            <a:off x="274320" y="777240"/>
            <a:ext cx="100584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BC7</a:t>
            </a:r>
            <a:endParaRPr lang="en-US" sz="1300" dirty="0"/>
          </a:p>
        </p:txBody>
      </p:sp>
      <p:sp>
        <p:nvSpPr>
          <p:cNvPr id="8" name="Text 6"/>
          <p:cNvSpPr/>
          <p:nvPr/>
        </p:nvSpPr>
        <p:spPr>
          <a:xfrm>
            <a:off x="1371600" y="804672"/>
            <a:ext cx="7315200" cy="301752"/>
          </a:xfrm>
          <a:prstGeom prst="rect">
            <a:avLst/>
          </a:prstGeom>
          <a:noFill/>
          <a:ln/>
        </p:spPr>
        <p:txBody>
          <a:bodyPr wrap="square" lIns="0" tIns="0" rIns="0" bIns="0" rtlCol="0" anchor="ctr"/>
          <a:lstStyle/>
          <a:p>
            <a:pPr indent="0" marL="0">
              <a:buNone/>
            </a:pPr>
            <a:r>
              <a:rPr lang="en-US" sz="1300" i="1" dirty="0">
                <a:solidFill>
                  <a:srgbClr val="555555"/>
                </a:solidFill>
                <a:latin typeface="Calibri" pitchFamily="34" charset="0"/>
                <a:ea typeface="Calibri" pitchFamily="34" charset="-122"/>
                <a:cs typeface="Calibri" pitchFamily="34" charset="-120"/>
              </a:rPr>
              <a:t>Transaction Analysis: States &amp; Districts</a:t>
            </a:r>
            <a:endParaRPr lang="en-US" sz="1300" dirty="0"/>
          </a:p>
        </p:txBody>
      </p:sp>
      <p:sp>
        <p:nvSpPr>
          <p:cNvPr id="9" name="Shape 7"/>
          <p:cNvSpPr/>
          <p:nvPr/>
        </p:nvSpPr>
        <p:spPr>
          <a:xfrm>
            <a:off x="274320" y="1207008"/>
            <a:ext cx="8595360" cy="960120"/>
          </a:xfrm>
          <a:prstGeom prst="rect">
            <a:avLst/>
          </a:prstGeom>
          <a:solidFill>
            <a:srgbClr val="E6FAF5"/>
          </a:solidFill>
          <a:ln w="6350">
            <a:solidFill>
              <a:srgbClr val="00C48C"/>
            </a:solidFill>
            <a:prstDash val="solid"/>
          </a:ln>
        </p:spPr>
      </p:sp>
      <p:sp>
        <p:nvSpPr>
          <p:cNvPr id="10" name="Text 8"/>
          <p:cNvSpPr/>
          <p:nvPr/>
        </p:nvSpPr>
        <p:spPr>
          <a:xfrm>
            <a:off x="411480" y="1261872"/>
            <a:ext cx="8321040" cy="822960"/>
          </a:xfrm>
          <a:prstGeom prst="rect">
            <a:avLst/>
          </a:prstGeom>
          <a:noFill/>
          <a:ln/>
        </p:spPr>
        <p:txBody>
          <a:bodyPr wrap="square" lIns="0" tIns="0" rIns="0" bIns="0" rtlCol="0" anchor="ctr"/>
          <a:lstStyle/>
          <a:p>
            <a:pPr indent="0" marL="0">
              <a:buNone/>
            </a:pPr>
            <a:r>
              <a:rPr lang="en-US" sz="1200" dirty="0">
                <a:solidFill>
                  <a:srgbClr val="1E1E2E"/>
                </a:solidFill>
                <a:latin typeface="Calibri" pitchFamily="34" charset="0"/>
                <a:ea typeface="Calibri" pitchFamily="34" charset="-122"/>
                <a:cs typeface="Calibri" pitchFamily="34" charset="-120"/>
              </a:rPr>
              <a:t>PhonePe is analyzing transaction data to identify top-performing states, districts, and pin codes by volume and value. This will help understand user engagement patterns and identify key areas for targeted marketing and infrastructure investment.</a:t>
            </a:r>
            <a:endParaRPr lang="en-US" sz="1200" dirty="0"/>
          </a:p>
        </p:txBody>
      </p:sp>
      <p:sp>
        <p:nvSpPr>
          <p:cNvPr id="11" name="Shape 9"/>
          <p:cNvSpPr/>
          <p:nvPr/>
        </p:nvSpPr>
        <p:spPr>
          <a:xfrm>
            <a:off x="274320" y="2331720"/>
            <a:ext cx="2011680" cy="365760"/>
          </a:xfrm>
          <a:prstGeom prst="rect">
            <a:avLst/>
          </a:prstGeom>
          <a:solidFill>
            <a:srgbClr val="00C48C"/>
          </a:solidFill>
          <a:ln/>
        </p:spPr>
      </p:sp>
      <p:sp>
        <p:nvSpPr>
          <p:cNvPr id="12" name="Text 10"/>
          <p:cNvSpPr/>
          <p:nvPr/>
        </p:nvSpPr>
        <p:spPr>
          <a:xfrm>
            <a:off x="274320" y="2331720"/>
            <a:ext cx="201168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13" name="Shape 11"/>
          <p:cNvSpPr/>
          <p:nvPr/>
        </p:nvSpPr>
        <p:spPr>
          <a:xfrm>
            <a:off x="274320" y="2697480"/>
            <a:ext cx="2011680" cy="1463040"/>
          </a:xfrm>
          <a:prstGeom prst="rect">
            <a:avLst/>
          </a:prstGeom>
          <a:solidFill>
            <a:srgbClr val="FFFFFF"/>
          </a:solidFill>
          <a:ln w="6350">
            <a:solidFill>
              <a:srgbClr val="EEEEEE"/>
            </a:solidFill>
            <a:prstDash val="solid"/>
          </a:ln>
          <a:effectLst>
            <a:outerShdw sx="100000" sy="100000" kx="0" ky="0" algn="bl" rotWithShape="0" blurRad="101600" dist="38100" dir="8100000">
              <a:srgbClr val="000000">
                <a:alpha val="12000"/>
              </a:srgbClr>
            </a:outerShdw>
          </a:effectLst>
        </p:spPr>
      </p:sp>
      <p:sp>
        <p:nvSpPr>
          <p:cNvPr id="14" name="Text 12"/>
          <p:cNvSpPr/>
          <p:nvPr/>
        </p:nvSpPr>
        <p:spPr>
          <a:xfrm>
            <a:off x="365760" y="2761488"/>
            <a:ext cx="1828800" cy="274320"/>
          </a:xfrm>
          <a:prstGeom prst="rect">
            <a:avLst/>
          </a:prstGeom>
          <a:noFill/>
          <a:ln/>
        </p:spPr>
        <p:txBody>
          <a:bodyPr wrap="square" lIns="0" tIns="0" rIns="0" bIns="0" rtlCol="0" anchor="ctr"/>
          <a:lstStyle/>
          <a:p>
            <a:pPr indent="0" marL="0">
              <a:buNone/>
            </a:pPr>
            <a:r>
              <a:rPr lang="en-US" sz="1100" b="1" dirty="0">
                <a:solidFill>
                  <a:srgbClr val="1E1E2E"/>
                </a:solidFill>
                <a:latin typeface="Calibri" pitchFamily="34" charset="0"/>
                <a:ea typeface="Calibri" pitchFamily="34" charset="-122"/>
                <a:cs typeface="Calibri" pitchFamily="34" charset="-120"/>
              </a:rPr>
              <a:t>Top States Ranked</a:t>
            </a:r>
            <a:endParaRPr lang="en-US" sz="1100" dirty="0"/>
          </a:p>
        </p:txBody>
      </p:sp>
      <p:sp>
        <p:nvSpPr>
          <p:cNvPr id="15" name="Text 13"/>
          <p:cNvSpPr/>
          <p:nvPr/>
        </p:nvSpPr>
        <p:spPr>
          <a:xfrm>
            <a:off x="365760" y="3063240"/>
            <a:ext cx="1828800" cy="1005840"/>
          </a:xfrm>
          <a:prstGeom prst="rect">
            <a:avLst/>
          </a:prstGeom>
          <a:noFill/>
          <a:ln/>
        </p:spPr>
        <p:txBody>
          <a:bodyPr wrap="square" lIns="0" tIns="0" rIns="0" bIns="0" rtlCol="0" anchor="ctr"/>
          <a:lstStyle/>
          <a:p>
            <a:pPr indent="0" marL="0">
              <a:buNone/>
            </a:pPr>
            <a:r>
              <a:rPr lang="en-US" sz="950" dirty="0">
                <a:solidFill>
                  <a:srgbClr val="444444"/>
                </a:solidFill>
                <a:latin typeface="Courier New" pitchFamily="34" charset="0"/>
                <a:ea typeface="Courier New" pitchFamily="34" charset="-122"/>
                <a:cs typeface="Courier New" pitchFamily="34" charset="-120"/>
              </a:rPr>
              <a:t>SUM(amount), SUM(count)</a:t>
            </a:r>
            <a:endParaRPr lang="en-US" sz="950" dirty="0"/>
          </a:p>
          <a:p>
            <a:pPr indent="0" marL="0">
              <a:buNone/>
            </a:pPr>
            <a:r>
              <a:rPr lang="en-US" sz="950" dirty="0">
                <a:solidFill>
                  <a:srgbClr val="444444"/>
                </a:solidFill>
                <a:latin typeface="Courier New" pitchFamily="34" charset="0"/>
                <a:ea typeface="Courier New" pitchFamily="34" charset="-122"/>
                <a:cs typeface="Courier New" pitchFamily="34" charset="-120"/>
              </a:rPr>
              <a:t>FROM Top_transaction</a:t>
            </a:r>
            <a:endParaRPr lang="en-US" sz="950" dirty="0"/>
          </a:p>
          <a:p>
            <a:pPr indent="0" marL="0">
              <a:buNone/>
            </a:pPr>
            <a:r>
              <a:rPr lang="en-US" sz="950" dirty="0">
                <a:solidFill>
                  <a:srgbClr val="444444"/>
                </a:solidFill>
                <a:latin typeface="Courier New" pitchFamily="34" charset="0"/>
                <a:ea typeface="Courier New" pitchFamily="34" charset="-122"/>
                <a:cs typeface="Courier New" pitchFamily="34" charset="-120"/>
              </a:rPr>
              <a:t>ORDER BY total_amount DESC</a:t>
            </a:r>
            <a:endParaRPr lang="en-US" sz="950" dirty="0"/>
          </a:p>
        </p:txBody>
      </p:sp>
      <p:sp>
        <p:nvSpPr>
          <p:cNvPr id="16" name="Shape 14"/>
          <p:cNvSpPr/>
          <p:nvPr/>
        </p:nvSpPr>
        <p:spPr>
          <a:xfrm>
            <a:off x="2450592" y="2331720"/>
            <a:ext cx="2011680" cy="365760"/>
          </a:xfrm>
          <a:prstGeom prst="rect">
            <a:avLst/>
          </a:prstGeom>
          <a:solidFill>
            <a:srgbClr val="00C48C"/>
          </a:solidFill>
          <a:ln/>
        </p:spPr>
      </p:sp>
      <p:sp>
        <p:nvSpPr>
          <p:cNvPr id="17" name="Text 15"/>
          <p:cNvSpPr/>
          <p:nvPr/>
        </p:nvSpPr>
        <p:spPr>
          <a:xfrm>
            <a:off x="2450592" y="2331720"/>
            <a:ext cx="201168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18" name="Shape 16"/>
          <p:cNvSpPr/>
          <p:nvPr/>
        </p:nvSpPr>
        <p:spPr>
          <a:xfrm>
            <a:off x="2450592" y="2697480"/>
            <a:ext cx="2011680" cy="1463040"/>
          </a:xfrm>
          <a:prstGeom prst="rect">
            <a:avLst/>
          </a:prstGeom>
          <a:solidFill>
            <a:srgbClr val="FFFFFF"/>
          </a:solidFill>
          <a:ln w="6350">
            <a:solidFill>
              <a:srgbClr val="EEEEEE"/>
            </a:solidFill>
            <a:prstDash val="solid"/>
          </a:ln>
          <a:effectLst>
            <a:outerShdw sx="100000" sy="100000" kx="0" ky="0" algn="bl" rotWithShape="0" blurRad="101600" dist="38100" dir="8100000">
              <a:srgbClr val="000000">
                <a:alpha val="12000"/>
              </a:srgbClr>
            </a:outerShdw>
          </a:effectLst>
        </p:spPr>
      </p:sp>
      <p:sp>
        <p:nvSpPr>
          <p:cNvPr id="19" name="Text 17"/>
          <p:cNvSpPr/>
          <p:nvPr/>
        </p:nvSpPr>
        <p:spPr>
          <a:xfrm>
            <a:off x="2542032" y="2761488"/>
            <a:ext cx="1828800" cy="274320"/>
          </a:xfrm>
          <a:prstGeom prst="rect">
            <a:avLst/>
          </a:prstGeom>
          <a:noFill/>
          <a:ln/>
        </p:spPr>
        <p:txBody>
          <a:bodyPr wrap="square" lIns="0" tIns="0" rIns="0" bIns="0" rtlCol="0" anchor="ctr"/>
          <a:lstStyle/>
          <a:p>
            <a:pPr indent="0" marL="0">
              <a:buNone/>
            </a:pPr>
            <a:r>
              <a:rPr lang="en-US" sz="1100" b="1" dirty="0">
                <a:solidFill>
                  <a:srgbClr val="1E1E2E"/>
                </a:solidFill>
                <a:latin typeface="Calibri" pitchFamily="34" charset="0"/>
                <a:ea typeface="Calibri" pitchFamily="34" charset="-122"/>
                <a:cs typeface="Calibri" pitchFamily="34" charset="-120"/>
              </a:rPr>
              <a:t>District Drill-down</a:t>
            </a:r>
            <a:endParaRPr lang="en-US" sz="1100" dirty="0"/>
          </a:p>
        </p:txBody>
      </p:sp>
      <p:sp>
        <p:nvSpPr>
          <p:cNvPr id="20" name="Text 18"/>
          <p:cNvSpPr/>
          <p:nvPr/>
        </p:nvSpPr>
        <p:spPr>
          <a:xfrm>
            <a:off x="2542032" y="3063240"/>
            <a:ext cx="1828800" cy="1005840"/>
          </a:xfrm>
          <a:prstGeom prst="rect">
            <a:avLst/>
          </a:prstGeom>
          <a:noFill/>
          <a:ln/>
        </p:spPr>
        <p:txBody>
          <a:bodyPr wrap="square" lIns="0" tIns="0" rIns="0" bIns="0" rtlCol="0" anchor="ctr"/>
          <a:lstStyle/>
          <a:p>
            <a:pPr indent="0" marL="0">
              <a:buNone/>
            </a:pPr>
            <a:r>
              <a:rPr lang="en-US" sz="950" dirty="0">
                <a:solidFill>
                  <a:srgbClr val="444444"/>
                </a:solidFill>
                <a:latin typeface="Courier New" pitchFamily="34" charset="0"/>
                <a:ea typeface="Courier New" pitchFamily="34" charset="-122"/>
                <a:cs typeface="Courier New" pitchFamily="34" charset="-120"/>
              </a:rPr>
              <a:t>MAP_transaction</a:t>
            </a:r>
            <a:endParaRPr lang="en-US" sz="950" dirty="0"/>
          </a:p>
          <a:p>
            <a:pPr indent="0" marL="0">
              <a:buNone/>
            </a:pPr>
            <a:r>
              <a:rPr lang="en-US" sz="950" dirty="0">
                <a:solidFill>
                  <a:srgbClr val="444444"/>
                </a:solidFill>
                <a:latin typeface="Courier New" pitchFamily="34" charset="0"/>
                <a:ea typeface="Courier New" pitchFamily="34" charset="-122"/>
                <a:cs typeface="Courier New" pitchFamily="34" charset="-120"/>
              </a:rPr>
              <a:t>WHERE state = '&lt;target&gt;'</a:t>
            </a:r>
            <a:endParaRPr lang="en-US" sz="950" dirty="0"/>
          </a:p>
          <a:p>
            <a:pPr indent="0" marL="0">
              <a:buNone/>
            </a:pPr>
            <a:r>
              <a:rPr lang="en-US" sz="950" dirty="0">
                <a:solidFill>
                  <a:srgbClr val="444444"/>
                </a:solidFill>
                <a:latin typeface="Courier New" pitchFamily="34" charset="0"/>
                <a:ea typeface="Courier New" pitchFamily="34" charset="-122"/>
                <a:cs typeface="Courier New" pitchFamily="34" charset="-120"/>
              </a:rPr>
              <a:t>DISTRICT level rollup</a:t>
            </a:r>
            <a:endParaRPr lang="en-US" sz="950" dirty="0"/>
          </a:p>
        </p:txBody>
      </p:sp>
      <p:sp>
        <p:nvSpPr>
          <p:cNvPr id="21" name="Shape 19"/>
          <p:cNvSpPr/>
          <p:nvPr/>
        </p:nvSpPr>
        <p:spPr>
          <a:xfrm>
            <a:off x="4626864" y="2331720"/>
            <a:ext cx="2011680" cy="365760"/>
          </a:xfrm>
          <a:prstGeom prst="rect">
            <a:avLst/>
          </a:prstGeom>
          <a:solidFill>
            <a:srgbClr val="00C48C"/>
          </a:solidFill>
          <a:ln/>
        </p:spPr>
      </p:sp>
      <p:sp>
        <p:nvSpPr>
          <p:cNvPr id="22" name="Text 20"/>
          <p:cNvSpPr/>
          <p:nvPr/>
        </p:nvSpPr>
        <p:spPr>
          <a:xfrm>
            <a:off x="4626864" y="2331720"/>
            <a:ext cx="201168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23" name="Shape 21"/>
          <p:cNvSpPr/>
          <p:nvPr/>
        </p:nvSpPr>
        <p:spPr>
          <a:xfrm>
            <a:off x="4626864" y="2697480"/>
            <a:ext cx="2011680" cy="1463040"/>
          </a:xfrm>
          <a:prstGeom prst="rect">
            <a:avLst/>
          </a:prstGeom>
          <a:solidFill>
            <a:srgbClr val="FFFFFF"/>
          </a:solidFill>
          <a:ln w="6350">
            <a:solidFill>
              <a:srgbClr val="EEEEEE"/>
            </a:solidFill>
            <a:prstDash val="solid"/>
          </a:ln>
          <a:effectLst>
            <a:outerShdw sx="100000" sy="100000" kx="0" ky="0" algn="bl" rotWithShape="0" blurRad="101600" dist="38100" dir="8100000">
              <a:srgbClr val="000000">
                <a:alpha val="12000"/>
              </a:srgbClr>
            </a:outerShdw>
          </a:effectLst>
        </p:spPr>
      </p:sp>
      <p:sp>
        <p:nvSpPr>
          <p:cNvPr id="24" name="Text 22"/>
          <p:cNvSpPr/>
          <p:nvPr/>
        </p:nvSpPr>
        <p:spPr>
          <a:xfrm>
            <a:off x="4718304" y="2761488"/>
            <a:ext cx="1828800" cy="274320"/>
          </a:xfrm>
          <a:prstGeom prst="rect">
            <a:avLst/>
          </a:prstGeom>
          <a:noFill/>
          <a:ln/>
        </p:spPr>
        <p:txBody>
          <a:bodyPr wrap="square" lIns="0" tIns="0" rIns="0" bIns="0" rtlCol="0" anchor="ctr"/>
          <a:lstStyle/>
          <a:p>
            <a:pPr indent="0" marL="0">
              <a:buNone/>
            </a:pPr>
            <a:r>
              <a:rPr lang="en-US" sz="1100" b="1" dirty="0">
                <a:solidFill>
                  <a:srgbClr val="1E1E2E"/>
                </a:solidFill>
                <a:latin typeface="Calibri" pitchFamily="34" charset="0"/>
                <a:ea typeface="Calibri" pitchFamily="34" charset="-122"/>
                <a:cs typeface="Calibri" pitchFamily="34" charset="-120"/>
              </a:rPr>
              <a:t>Pin Code Ranking</a:t>
            </a:r>
            <a:endParaRPr lang="en-US" sz="1100" dirty="0"/>
          </a:p>
        </p:txBody>
      </p:sp>
      <p:sp>
        <p:nvSpPr>
          <p:cNvPr id="25" name="Text 23"/>
          <p:cNvSpPr/>
          <p:nvPr/>
        </p:nvSpPr>
        <p:spPr>
          <a:xfrm>
            <a:off x="4718304" y="3063240"/>
            <a:ext cx="1828800" cy="1005840"/>
          </a:xfrm>
          <a:prstGeom prst="rect">
            <a:avLst/>
          </a:prstGeom>
          <a:noFill/>
          <a:ln/>
        </p:spPr>
        <p:txBody>
          <a:bodyPr wrap="square" lIns="0" tIns="0" rIns="0" bIns="0" rtlCol="0" anchor="ctr"/>
          <a:lstStyle/>
          <a:p>
            <a:pPr indent="0" marL="0">
              <a:buNone/>
            </a:pPr>
            <a:r>
              <a:rPr lang="en-US" sz="950" dirty="0">
                <a:solidFill>
                  <a:srgbClr val="444444"/>
                </a:solidFill>
                <a:latin typeface="Courier New" pitchFamily="34" charset="0"/>
                <a:ea typeface="Courier New" pitchFamily="34" charset="-122"/>
                <a:cs typeface="Courier New" pitchFamily="34" charset="-120"/>
              </a:rPr>
              <a:t>Top_transaction</a:t>
            </a:r>
            <a:endParaRPr lang="en-US" sz="950" dirty="0"/>
          </a:p>
          <a:p>
            <a:pPr indent="0" marL="0">
              <a:buNone/>
            </a:pPr>
            <a:r>
              <a:rPr lang="en-US" sz="950" dirty="0">
                <a:solidFill>
                  <a:srgbClr val="444444"/>
                </a:solidFill>
                <a:latin typeface="Courier New" pitchFamily="34" charset="0"/>
                <a:ea typeface="Courier New" pitchFamily="34" charset="-122"/>
                <a:cs typeface="Courier New" pitchFamily="34" charset="-120"/>
              </a:rPr>
              <a:t>WHERE pincode IS NOT NULL</a:t>
            </a:r>
            <a:endParaRPr lang="en-US" sz="950" dirty="0"/>
          </a:p>
          <a:p>
            <a:pPr indent="0" marL="0">
              <a:buNone/>
            </a:pPr>
            <a:r>
              <a:rPr lang="en-US" sz="950" dirty="0">
                <a:solidFill>
                  <a:srgbClr val="444444"/>
                </a:solidFill>
                <a:latin typeface="Courier New" pitchFamily="34" charset="0"/>
                <a:ea typeface="Courier New" pitchFamily="34" charset="-122"/>
                <a:cs typeface="Courier New" pitchFamily="34" charset="-120"/>
              </a:rPr>
              <a:t>Top 10 by amount</a:t>
            </a:r>
            <a:endParaRPr lang="en-US" sz="950" dirty="0"/>
          </a:p>
        </p:txBody>
      </p:sp>
      <p:sp>
        <p:nvSpPr>
          <p:cNvPr id="26" name="Shape 24"/>
          <p:cNvSpPr/>
          <p:nvPr/>
        </p:nvSpPr>
        <p:spPr>
          <a:xfrm>
            <a:off x="6803136" y="2331720"/>
            <a:ext cx="2011680" cy="365760"/>
          </a:xfrm>
          <a:prstGeom prst="rect">
            <a:avLst/>
          </a:prstGeom>
          <a:solidFill>
            <a:srgbClr val="00C48C"/>
          </a:solidFill>
          <a:ln/>
        </p:spPr>
      </p:sp>
      <p:sp>
        <p:nvSpPr>
          <p:cNvPr id="27" name="Text 25"/>
          <p:cNvSpPr/>
          <p:nvPr/>
        </p:nvSpPr>
        <p:spPr>
          <a:xfrm>
            <a:off x="6803136" y="2331720"/>
            <a:ext cx="201168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28" name="Shape 26"/>
          <p:cNvSpPr/>
          <p:nvPr/>
        </p:nvSpPr>
        <p:spPr>
          <a:xfrm>
            <a:off x="6803136" y="2697480"/>
            <a:ext cx="2011680" cy="1463040"/>
          </a:xfrm>
          <a:prstGeom prst="rect">
            <a:avLst/>
          </a:prstGeom>
          <a:solidFill>
            <a:srgbClr val="FFFFFF"/>
          </a:solidFill>
          <a:ln w="6350">
            <a:solidFill>
              <a:srgbClr val="EEEEEE"/>
            </a:solidFill>
            <a:prstDash val="solid"/>
          </a:ln>
          <a:effectLst>
            <a:outerShdw sx="100000" sy="100000" kx="0" ky="0" algn="bl" rotWithShape="0" blurRad="101600" dist="38100" dir="8100000">
              <a:srgbClr val="000000">
                <a:alpha val="12000"/>
              </a:srgbClr>
            </a:outerShdw>
          </a:effectLst>
        </p:spPr>
      </p:sp>
      <p:sp>
        <p:nvSpPr>
          <p:cNvPr id="29" name="Text 27"/>
          <p:cNvSpPr/>
          <p:nvPr/>
        </p:nvSpPr>
        <p:spPr>
          <a:xfrm>
            <a:off x="6894576" y="2761488"/>
            <a:ext cx="1828800" cy="274320"/>
          </a:xfrm>
          <a:prstGeom prst="rect">
            <a:avLst/>
          </a:prstGeom>
          <a:noFill/>
          <a:ln/>
        </p:spPr>
        <p:txBody>
          <a:bodyPr wrap="square" lIns="0" tIns="0" rIns="0" bIns="0" rtlCol="0" anchor="ctr"/>
          <a:lstStyle/>
          <a:p>
            <a:pPr indent="0" marL="0">
              <a:buNone/>
            </a:pPr>
            <a:r>
              <a:rPr lang="en-US" sz="1100" b="1" dirty="0">
                <a:solidFill>
                  <a:srgbClr val="1E1E2E"/>
                </a:solidFill>
                <a:latin typeface="Calibri" pitchFamily="34" charset="0"/>
                <a:ea typeface="Calibri" pitchFamily="34" charset="-122"/>
                <a:cs typeface="Calibri" pitchFamily="34" charset="-120"/>
              </a:rPr>
              <a:t>HHI Concentration</a:t>
            </a:r>
            <a:endParaRPr lang="en-US" sz="1100" dirty="0"/>
          </a:p>
        </p:txBody>
      </p:sp>
      <p:sp>
        <p:nvSpPr>
          <p:cNvPr id="30" name="Text 28"/>
          <p:cNvSpPr/>
          <p:nvPr/>
        </p:nvSpPr>
        <p:spPr>
          <a:xfrm>
            <a:off x="6894576" y="3063240"/>
            <a:ext cx="1828800" cy="1005840"/>
          </a:xfrm>
          <a:prstGeom prst="rect">
            <a:avLst/>
          </a:prstGeom>
          <a:noFill/>
          <a:ln/>
        </p:spPr>
        <p:txBody>
          <a:bodyPr wrap="square" lIns="0" tIns="0" rIns="0" bIns="0" rtlCol="0" anchor="ctr"/>
          <a:lstStyle/>
          <a:p>
            <a:pPr indent="0" marL="0">
              <a:buNone/>
            </a:pPr>
            <a:r>
              <a:rPr lang="en-US" sz="950" dirty="0">
                <a:solidFill>
                  <a:srgbClr val="444444"/>
                </a:solidFill>
                <a:latin typeface="Courier New" pitchFamily="34" charset="0"/>
                <a:ea typeface="Courier New" pitchFamily="34" charset="-122"/>
                <a:cs typeface="Courier New" pitchFamily="34" charset="-120"/>
              </a:rPr>
              <a:t>SUM(share*share) per state</a:t>
            </a:r>
            <a:endParaRPr lang="en-US" sz="950" dirty="0"/>
          </a:p>
          <a:p>
            <a:pPr indent="0" marL="0">
              <a:buNone/>
            </a:pPr>
            <a:r>
              <a:rPr lang="en-US" sz="950" dirty="0">
                <a:solidFill>
                  <a:srgbClr val="444444"/>
                </a:solidFill>
                <a:latin typeface="Courier New" pitchFamily="34" charset="0"/>
                <a:ea typeface="Courier New" pitchFamily="34" charset="-122"/>
                <a:cs typeface="Courier New" pitchFamily="34" charset="-120"/>
              </a:rPr>
              <a:t>&gt;0.25 = concentrated</a:t>
            </a:r>
            <a:endParaRPr lang="en-US" sz="950" dirty="0"/>
          </a:p>
          <a:p>
            <a:pPr indent="0" marL="0">
              <a:buNone/>
            </a:pPr>
            <a:r>
              <a:rPr lang="en-US" sz="950" dirty="0">
                <a:solidFill>
                  <a:srgbClr val="444444"/>
                </a:solidFill>
                <a:latin typeface="Courier New" pitchFamily="34" charset="0"/>
                <a:ea typeface="Courier New" pitchFamily="34" charset="-122"/>
                <a:cs typeface="Courier New" pitchFamily="34" charset="-120"/>
              </a:rPr>
              <a:t>Guides expansion strategy</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1E2E"/>
          </a:solidFill>
          <a:ln/>
        </p:spPr>
      </p:sp>
      <p:sp>
        <p:nvSpPr>
          <p:cNvPr id="3" name="Shape 1"/>
          <p:cNvSpPr/>
          <p:nvPr/>
        </p:nvSpPr>
        <p:spPr>
          <a:xfrm>
            <a:off x="0" y="4828032"/>
            <a:ext cx="9144000" cy="315468"/>
          </a:xfrm>
          <a:prstGeom prst="rect">
            <a:avLst/>
          </a:prstGeom>
          <a:solidFill>
            <a:srgbClr val="5F2EEA">
              <a:alpha val="75000"/>
            </a:srgbClr>
          </a:solidFill>
          <a:ln/>
        </p:spPr>
      </p:sp>
      <p:sp>
        <p:nvSpPr>
          <p:cNvPr id="4" name="Text 2"/>
          <p:cNvSpPr/>
          <p:nvPr/>
        </p:nvSpPr>
        <p:spPr>
          <a:xfrm>
            <a:off x="274320" y="118872"/>
            <a:ext cx="8595360" cy="45720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BC7: Transaction Analysis – Visualizations &amp; Findings</a:t>
            </a:r>
            <a:endParaRPr lang="en-US" sz="2100" dirty="0"/>
          </a:p>
        </p:txBody>
      </p:sp>
      <p:sp>
        <p:nvSpPr>
          <p:cNvPr id="5" name="Text 3"/>
          <p:cNvSpPr/>
          <p:nvPr/>
        </p:nvSpPr>
        <p:spPr>
          <a:xfrm>
            <a:off x="182880" y="4846320"/>
            <a:ext cx="8778240" cy="237744"/>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PhonePe  •  5 Business Case Studies  •  10 / 18</a:t>
            </a:r>
            <a:endParaRPr lang="en-US" sz="900" dirty="0"/>
          </a:p>
        </p:txBody>
      </p:sp>
      <p:sp>
        <p:nvSpPr>
          <p:cNvPr id="6" name="Shape 4"/>
          <p:cNvSpPr/>
          <p:nvPr/>
        </p:nvSpPr>
        <p:spPr>
          <a:xfrm>
            <a:off x="274320" y="777240"/>
            <a:ext cx="1005840" cy="347472"/>
          </a:xfrm>
          <a:prstGeom prst="rect">
            <a:avLst/>
          </a:prstGeom>
          <a:solidFill>
            <a:srgbClr val="00C48C"/>
          </a:solidFill>
          <a:ln/>
        </p:spPr>
      </p:sp>
      <p:sp>
        <p:nvSpPr>
          <p:cNvPr id="7" name="Text 5"/>
          <p:cNvSpPr/>
          <p:nvPr/>
        </p:nvSpPr>
        <p:spPr>
          <a:xfrm>
            <a:off x="274320" y="777240"/>
            <a:ext cx="100584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BC7</a:t>
            </a:r>
            <a:endParaRPr lang="en-US" sz="1300" dirty="0"/>
          </a:p>
        </p:txBody>
      </p:sp>
      <p:sp>
        <p:nvSpPr>
          <p:cNvPr id="8" name="Text 6"/>
          <p:cNvSpPr/>
          <p:nvPr/>
        </p:nvSpPr>
        <p:spPr>
          <a:xfrm>
            <a:off x="1371600" y="804672"/>
            <a:ext cx="7315200" cy="301752"/>
          </a:xfrm>
          <a:prstGeom prst="rect">
            <a:avLst/>
          </a:prstGeom>
          <a:noFill/>
          <a:ln/>
        </p:spPr>
        <p:txBody>
          <a:bodyPr wrap="square" lIns="0" tIns="0" rIns="0" bIns="0" rtlCol="0" anchor="ctr"/>
          <a:lstStyle/>
          <a:p>
            <a:pPr indent="0" marL="0">
              <a:buNone/>
            </a:pPr>
            <a:r>
              <a:rPr lang="en-US" sz="1300" i="1" dirty="0">
                <a:solidFill>
                  <a:srgbClr val="555555"/>
                </a:solidFill>
                <a:latin typeface="Calibri" pitchFamily="34" charset="0"/>
                <a:ea typeface="Calibri" pitchFamily="34" charset="-122"/>
                <a:cs typeface="Calibri" pitchFamily="34" charset="-120"/>
              </a:rPr>
              <a:t>Transaction Analysis: States &amp; Districts</a:t>
            </a:r>
            <a:endParaRPr lang="en-US" sz="1300" dirty="0"/>
          </a:p>
        </p:txBody>
      </p:sp>
      <p:sp>
        <p:nvSpPr>
          <p:cNvPr id="9" name="Shape 7"/>
          <p:cNvSpPr/>
          <p:nvPr/>
        </p:nvSpPr>
        <p:spPr>
          <a:xfrm>
            <a:off x="274320" y="1207008"/>
            <a:ext cx="1920240" cy="1143000"/>
          </a:xfrm>
          <a:prstGeom prst="rect">
            <a:avLst/>
          </a:prstGeom>
          <a:solidFill>
            <a:srgbClr val="FFFFFF"/>
          </a:solidFill>
          <a:ln w="6350">
            <a:solidFill>
              <a:srgbClr val="EEEEEE"/>
            </a:solidFill>
            <a:prstDash val="solid"/>
          </a:ln>
          <a:effectLst>
            <a:outerShdw sx="100000" sy="100000" kx="0" ky="0" algn="bl" rotWithShape="0" blurRad="101600" dist="38100" dir="8100000">
              <a:srgbClr val="000000">
                <a:alpha val="12000"/>
              </a:srgbClr>
            </a:outerShdw>
          </a:effectLst>
        </p:spPr>
      </p:sp>
      <p:sp>
        <p:nvSpPr>
          <p:cNvPr id="10" name="Shape 8"/>
          <p:cNvSpPr/>
          <p:nvPr/>
        </p:nvSpPr>
        <p:spPr>
          <a:xfrm>
            <a:off x="274320" y="1207008"/>
            <a:ext cx="64008" cy="1143000"/>
          </a:xfrm>
          <a:prstGeom prst="rect">
            <a:avLst/>
          </a:prstGeom>
          <a:solidFill>
            <a:srgbClr val="5F2EEA"/>
          </a:solidFill>
          <a:ln/>
        </p:spPr>
      </p:sp>
      <p:sp>
        <p:nvSpPr>
          <p:cNvPr id="11" name="Text 9"/>
          <p:cNvSpPr/>
          <p:nvPr/>
        </p:nvSpPr>
        <p:spPr>
          <a:xfrm>
            <a:off x="402336" y="1298448"/>
            <a:ext cx="457200" cy="347472"/>
          </a:xfrm>
          <a:prstGeom prst="rect">
            <a:avLst/>
          </a:prstGeom>
          <a:noFill/>
          <a:ln/>
        </p:spPr>
        <p:txBody>
          <a:bodyPr wrap="square" lIns="0" tIns="0" rIns="0" bIns="0" rtlCol="0" anchor="ctr"/>
          <a:lstStyle/>
          <a:p>
            <a:pPr indent="0" marL="0">
              <a:buNone/>
            </a:pPr>
            <a:r>
              <a:rPr lang="en-US" sz="1800" dirty="0">
                <a:solidFill>
                  <a:srgbClr val="000000"/>
                </a:solidFill>
              </a:rPr>
              <a:t>🏛</a:t>
            </a:r>
            <a:endParaRPr lang="en-US" sz="1800" dirty="0"/>
          </a:p>
        </p:txBody>
      </p:sp>
      <p:sp>
        <p:nvSpPr>
          <p:cNvPr id="12" name="Text 10"/>
          <p:cNvSpPr/>
          <p:nvPr/>
        </p:nvSpPr>
        <p:spPr>
          <a:xfrm>
            <a:off x="402336" y="1627632"/>
            <a:ext cx="1719072" cy="384048"/>
          </a:xfrm>
          <a:prstGeom prst="rect">
            <a:avLst/>
          </a:prstGeom>
          <a:noFill/>
          <a:ln/>
        </p:spPr>
        <p:txBody>
          <a:bodyPr wrap="square" lIns="0" tIns="0" rIns="0" bIns="0" rtlCol="0" anchor="ctr"/>
          <a:lstStyle/>
          <a:p>
            <a:pPr indent="0" marL="0">
              <a:buNone/>
            </a:pPr>
            <a:r>
              <a:rPr lang="en-US" sz="1900" b="1" dirty="0">
                <a:solidFill>
                  <a:srgbClr val="1E1E2E"/>
                </a:solidFill>
                <a:latin typeface="Calibri" pitchFamily="34" charset="0"/>
                <a:ea typeface="Calibri" pitchFamily="34" charset="-122"/>
                <a:cs typeface="Calibri" pitchFamily="34" charset="-120"/>
              </a:rPr>
              <a:t>15</a:t>
            </a:r>
            <a:endParaRPr lang="en-US" sz="1900" dirty="0"/>
          </a:p>
        </p:txBody>
      </p:sp>
      <p:sp>
        <p:nvSpPr>
          <p:cNvPr id="13" name="Text 11"/>
          <p:cNvSpPr/>
          <p:nvPr/>
        </p:nvSpPr>
        <p:spPr>
          <a:xfrm>
            <a:off x="402336" y="1993392"/>
            <a:ext cx="1719072" cy="201168"/>
          </a:xfrm>
          <a:prstGeom prst="rect">
            <a:avLst/>
          </a:prstGeom>
          <a:noFill/>
          <a:ln/>
        </p:spPr>
        <p:txBody>
          <a:bodyPr wrap="square" lIns="0" tIns="0" rIns="0" bIns="0" rtlCol="0" anchor="ctr"/>
          <a:lstStyle/>
          <a:p>
            <a:pPr indent="0" marL="0">
              <a:buNone/>
            </a:pPr>
            <a:r>
              <a:rPr lang="en-US" sz="1000" dirty="0">
                <a:solidFill>
                  <a:srgbClr val="888888"/>
                </a:solidFill>
                <a:latin typeface="Calibri" pitchFamily="34" charset="0"/>
                <a:ea typeface="Calibri" pitchFamily="34" charset="-122"/>
                <a:cs typeface="Calibri" pitchFamily="34" charset="-120"/>
              </a:rPr>
              <a:t>States Analysed</a:t>
            </a:r>
            <a:endParaRPr lang="en-US" sz="1000" dirty="0"/>
          </a:p>
        </p:txBody>
      </p:sp>
      <p:sp>
        <p:nvSpPr>
          <p:cNvPr id="14" name="Shape 12"/>
          <p:cNvSpPr/>
          <p:nvPr/>
        </p:nvSpPr>
        <p:spPr>
          <a:xfrm>
            <a:off x="2304288" y="1207008"/>
            <a:ext cx="1920240" cy="1143000"/>
          </a:xfrm>
          <a:prstGeom prst="rect">
            <a:avLst/>
          </a:prstGeom>
          <a:solidFill>
            <a:srgbClr val="FFFFFF"/>
          </a:solidFill>
          <a:ln w="6350">
            <a:solidFill>
              <a:srgbClr val="EEEEEE"/>
            </a:solidFill>
            <a:prstDash val="solid"/>
          </a:ln>
          <a:effectLst>
            <a:outerShdw sx="100000" sy="100000" kx="0" ky="0" algn="bl" rotWithShape="0" blurRad="101600" dist="38100" dir="8100000">
              <a:srgbClr val="000000">
                <a:alpha val="12000"/>
              </a:srgbClr>
            </a:outerShdw>
          </a:effectLst>
        </p:spPr>
      </p:sp>
      <p:sp>
        <p:nvSpPr>
          <p:cNvPr id="15" name="Shape 13"/>
          <p:cNvSpPr/>
          <p:nvPr/>
        </p:nvSpPr>
        <p:spPr>
          <a:xfrm>
            <a:off x="2304288" y="1207008"/>
            <a:ext cx="64008" cy="1143000"/>
          </a:xfrm>
          <a:prstGeom prst="rect">
            <a:avLst/>
          </a:prstGeom>
          <a:solidFill>
            <a:srgbClr val="00C48C"/>
          </a:solidFill>
          <a:ln/>
        </p:spPr>
      </p:sp>
      <p:sp>
        <p:nvSpPr>
          <p:cNvPr id="16" name="Text 14"/>
          <p:cNvSpPr/>
          <p:nvPr/>
        </p:nvSpPr>
        <p:spPr>
          <a:xfrm>
            <a:off x="2432304" y="1298448"/>
            <a:ext cx="457200" cy="347472"/>
          </a:xfrm>
          <a:prstGeom prst="rect">
            <a:avLst/>
          </a:prstGeom>
          <a:noFill/>
          <a:ln/>
        </p:spPr>
        <p:txBody>
          <a:bodyPr wrap="square" lIns="0" tIns="0" rIns="0" bIns="0" rtlCol="0" anchor="ctr"/>
          <a:lstStyle/>
          <a:p>
            <a:pPr indent="0" marL="0">
              <a:buNone/>
            </a:pPr>
            <a:r>
              <a:rPr lang="en-US" sz="1800" dirty="0">
                <a:solidFill>
                  <a:srgbClr val="000000"/>
                </a:solidFill>
              </a:rPr>
              <a:t>💰</a:t>
            </a:r>
            <a:endParaRPr lang="en-US" sz="1800" dirty="0"/>
          </a:p>
        </p:txBody>
      </p:sp>
      <p:sp>
        <p:nvSpPr>
          <p:cNvPr id="17" name="Text 15"/>
          <p:cNvSpPr/>
          <p:nvPr/>
        </p:nvSpPr>
        <p:spPr>
          <a:xfrm>
            <a:off x="2432304" y="1627632"/>
            <a:ext cx="1719072" cy="384048"/>
          </a:xfrm>
          <a:prstGeom prst="rect">
            <a:avLst/>
          </a:prstGeom>
          <a:noFill/>
          <a:ln/>
        </p:spPr>
        <p:txBody>
          <a:bodyPr wrap="square" lIns="0" tIns="0" rIns="0" bIns="0" rtlCol="0" anchor="ctr"/>
          <a:lstStyle/>
          <a:p>
            <a:pPr indent="0" marL="0">
              <a:buNone/>
            </a:pPr>
            <a:r>
              <a:rPr lang="en-US" sz="1900" b="1" dirty="0">
                <a:solidFill>
                  <a:srgbClr val="1E1E2E"/>
                </a:solidFill>
                <a:latin typeface="Calibri" pitchFamily="34" charset="0"/>
                <a:ea typeface="Calibri" pitchFamily="34" charset="-122"/>
                <a:cs typeface="Calibri" pitchFamily="34" charset="-120"/>
              </a:rPr>
              <a:t>₹3.6L Cr</a:t>
            </a:r>
            <a:endParaRPr lang="en-US" sz="1900" dirty="0"/>
          </a:p>
        </p:txBody>
      </p:sp>
      <p:sp>
        <p:nvSpPr>
          <p:cNvPr id="18" name="Text 16"/>
          <p:cNvSpPr/>
          <p:nvPr/>
        </p:nvSpPr>
        <p:spPr>
          <a:xfrm>
            <a:off x="2432304" y="1993392"/>
            <a:ext cx="1719072" cy="201168"/>
          </a:xfrm>
          <a:prstGeom prst="rect">
            <a:avLst/>
          </a:prstGeom>
          <a:noFill/>
          <a:ln/>
        </p:spPr>
        <p:txBody>
          <a:bodyPr wrap="square" lIns="0" tIns="0" rIns="0" bIns="0" rtlCol="0" anchor="ctr"/>
          <a:lstStyle/>
          <a:p>
            <a:pPr indent="0" marL="0">
              <a:buNone/>
            </a:pPr>
            <a:r>
              <a:rPr lang="en-US" sz="1000" dirty="0">
                <a:solidFill>
                  <a:srgbClr val="888888"/>
                </a:solidFill>
                <a:latin typeface="Calibri" pitchFamily="34" charset="0"/>
                <a:ea typeface="Calibri" pitchFamily="34" charset="-122"/>
                <a:cs typeface="Calibri" pitchFamily="34" charset="-120"/>
              </a:rPr>
              <a:t>District Total</a:t>
            </a:r>
            <a:endParaRPr lang="en-US" sz="1000" dirty="0"/>
          </a:p>
        </p:txBody>
      </p:sp>
      <p:sp>
        <p:nvSpPr>
          <p:cNvPr id="19" name="Shape 17"/>
          <p:cNvSpPr/>
          <p:nvPr/>
        </p:nvSpPr>
        <p:spPr>
          <a:xfrm>
            <a:off x="4334256" y="1207008"/>
            <a:ext cx="1920240" cy="1143000"/>
          </a:xfrm>
          <a:prstGeom prst="rect">
            <a:avLst/>
          </a:prstGeom>
          <a:solidFill>
            <a:srgbClr val="FFFFFF"/>
          </a:solidFill>
          <a:ln w="6350">
            <a:solidFill>
              <a:srgbClr val="EEEEEE"/>
            </a:solidFill>
            <a:prstDash val="solid"/>
          </a:ln>
          <a:effectLst>
            <a:outerShdw sx="100000" sy="100000" kx="0" ky="0" algn="bl" rotWithShape="0" blurRad="101600" dist="38100" dir="8100000">
              <a:srgbClr val="000000">
                <a:alpha val="12000"/>
              </a:srgbClr>
            </a:outerShdw>
          </a:effectLst>
        </p:spPr>
      </p:sp>
      <p:sp>
        <p:nvSpPr>
          <p:cNvPr id="20" name="Shape 18"/>
          <p:cNvSpPr/>
          <p:nvPr/>
        </p:nvSpPr>
        <p:spPr>
          <a:xfrm>
            <a:off x="4334256" y="1207008"/>
            <a:ext cx="64008" cy="1143000"/>
          </a:xfrm>
          <a:prstGeom prst="rect">
            <a:avLst/>
          </a:prstGeom>
          <a:solidFill>
            <a:srgbClr val="00B9F1"/>
          </a:solidFill>
          <a:ln/>
        </p:spPr>
      </p:sp>
      <p:sp>
        <p:nvSpPr>
          <p:cNvPr id="21" name="Text 19"/>
          <p:cNvSpPr/>
          <p:nvPr/>
        </p:nvSpPr>
        <p:spPr>
          <a:xfrm>
            <a:off x="4462272" y="1298448"/>
            <a:ext cx="457200" cy="347472"/>
          </a:xfrm>
          <a:prstGeom prst="rect">
            <a:avLst/>
          </a:prstGeom>
          <a:noFill/>
          <a:ln/>
        </p:spPr>
        <p:txBody>
          <a:bodyPr wrap="square" lIns="0" tIns="0" rIns="0" bIns="0" rtlCol="0" anchor="ctr"/>
          <a:lstStyle/>
          <a:p>
            <a:pPr indent="0" marL="0">
              <a:buNone/>
            </a:pPr>
            <a:r>
              <a:rPr lang="en-US" sz="1800" dirty="0">
                <a:solidFill>
                  <a:srgbClr val="000000"/>
                </a:solidFill>
              </a:rPr>
              <a:t>🏘</a:t>
            </a:r>
            <a:endParaRPr lang="en-US" sz="1800" dirty="0"/>
          </a:p>
        </p:txBody>
      </p:sp>
      <p:sp>
        <p:nvSpPr>
          <p:cNvPr id="22" name="Text 20"/>
          <p:cNvSpPr/>
          <p:nvPr/>
        </p:nvSpPr>
        <p:spPr>
          <a:xfrm>
            <a:off x="4462272" y="1627632"/>
            <a:ext cx="1719072" cy="384048"/>
          </a:xfrm>
          <a:prstGeom prst="rect">
            <a:avLst/>
          </a:prstGeom>
          <a:noFill/>
          <a:ln/>
        </p:spPr>
        <p:txBody>
          <a:bodyPr wrap="square" lIns="0" tIns="0" rIns="0" bIns="0" rtlCol="0" anchor="ctr"/>
          <a:lstStyle/>
          <a:p>
            <a:pPr indent="0" marL="0">
              <a:buNone/>
            </a:pPr>
            <a:r>
              <a:rPr lang="en-US" sz="1900" b="1" dirty="0">
                <a:solidFill>
                  <a:srgbClr val="1E1E2E"/>
                </a:solidFill>
                <a:latin typeface="Calibri" pitchFamily="34" charset="0"/>
                <a:ea typeface="Calibri" pitchFamily="34" charset="-122"/>
                <a:cs typeface="Calibri" pitchFamily="34" charset="-120"/>
              </a:rPr>
              <a:t>Mumbai</a:t>
            </a:r>
            <a:endParaRPr lang="en-US" sz="1900" dirty="0"/>
          </a:p>
        </p:txBody>
      </p:sp>
      <p:sp>
        <p:nvSpPr>
          <p:cNvPr id="23" name="Text 21"/>
          <p:cNvSpPr/>
          <p:nvPr/>
        </p:nvSpPr>
        <p:spPr>
          <a:xfrm>
            <a:off x="4462272" y="1993392"/>
            <a:ext cx="1719072" cy="201168"/>
          </a:xfrm>
          <a:prstGeom prst="rect">
            <a:avLst/>
          </a:prstGeom>
          <a:noFill/>
          <a:ln/>
        </p:spPr>
        <p:txBody>
          <a:bodyPr wrap="square" lIns="0" tIns="0" rIns="0" bIns="0" rtlCol="0" anchor="ctr"/>
          <a:lstStyle/>
          <a:p>
            <a:pPr indent="0" marL="0">
              <a:buNone/>
            </a:pPr>
            <a:r>
              <a:rPr lang="en-US" sz="1000" dirty="0">
                <a:solidFill>
                  <a:srgbClr val="888888"/>
                </a:solidFill>
                <a:latin typeface="Calibri" pitchFamily="34" charset="0"/>
                <a:ea typeface="Calibri" pitchFamily="34" charset="-122"/>
                <a:cs typeface="Calibri" pitchFamily="34" charset="-120"/>
              </a:rPr>
              <a:t>Top District</a:t>
            </a:r>
            <a:endParaRPr lang="en-US" sz="1000" dirty="0"/>
          </a:p>
        </p:txBody>
      </p:sp>
      <p:sp>
        <p:nvSpPr>
          <p:cNvPr id="24" name="Shape 22"/>
          <p:cNvSpPr/>
          <p:nvPr/>
        </p:nvSpPr>
        <p:spPr>
          <a:xfrm>
            <a:off x="6364224" y="1207008"/>
            <a:ext cx="1920240" cy="1143000"/>
          </a:xfrm>
          <a:prstGeom prst="rect">
            <a:avLst/>
          </a:prstGeom>
          <a:solidFill>
            <a:srgbClr val="FFFFFF"/>
          </a:solidFill>
          <a:ln w="6350">
            <a:solidFill>
              <a:srgbClr val="EEEEEE"/>
            </a:solidFill>
            <a:prstDash val="solid"/>
          </a:ln>
          <a:effectLst>
            <a:outerShdw sx="100000" sy="100000" kx="0" ky="0" algn="bl" rotWithShape="0" blurRad="101600" dist="38100" dir="8100000">
              <a:srgbClr val="000000">
                <a:alpha val="12000"/>
              </a:srgbClr>
            </a:outerShdw>
          </a:effectLst>
        </p:spPr>
      </p:sp>
      <p:sp>
        <p:nvSpPr>
          <p:cNvPr id="25" name="Shape 23"/>
          <p:cNvSpPr/>
          <p:nvPr/>
        </p:nvSpPr>
        <p:spPr>
          <a:xfrm>
            <a:off x="6364224" y="1207008"/>
            <a:ext cx="64008" cy="1143000"/>
          </a:xfrm>
          <a:prstGeom prst="rect">
            <a:avLst/>
          </a:prstGeom>
          <a:solidFill>
            <a:srgbClr val="FF6B35"/>
          </a:solidFill>
          <a:ln/>
        </p:spPr>
      </p:sp>
      <p:sp>
        <p:nvSpPr>
          <p:cNvPr id="26" name="Text 24"/>
          <p:cNvSpPr/>
          <p:nvPr/>
        </p:nvSpPr>
        <p:spPr>
          <a:xfrm>
            <a:off x="6492240" y="1298448"/>
            <a:ext cx="457200" cy="347472"/>
          </a:xfrm>
          <a:prstGeom prst="rect">
            <a:avLst/>
          </a:prstGeom>
          <a:noFill/>
          <a:ln/>
        </p:spPr>
        <p:txBody>
          <a:bodyPr wrap="square" lIns="0" tIns="0" rIns="0" bIns="0" rtlCol="0" anchor="ctr"/>
          <a:lstStyle/>
          <a:p>
            <a:pPr indent="0" marL="0">
              <a:buNone/>
            </a:pPr>
            <a:r>
              <a:rPr lang="en-US" sz="1800" dirty="0">
                <a:solidFill>
                  <a:srgbClr val="000000"/>
                </a:solidFill>
              </a:rPr>
              <a:t>📍</a:t>
            </a:r>
            <a:endParaRPr lang="en-US" sz="1800" dirty="0"/>
          </a:p>
        </p:txBody>
      </p:sp>
      <p:sp>
        <p:nvSpPr>
          <p:cNvPr id="27" name="Text 25"/>
          <p:cNvSpPr/>
          <p:nvPr/>
        </p:nvSpPr>
        <p:spPr>
          <a:xfrm>
            <a:off x="6492240" y="1627632"/>
            <a:ext cx="1719072" cy="384048"/>
          </a:xfrm>
          <a:prstGeom prst="rect">
            <a:avLst/>
          </a:prstGeom>
          <a:noFill/>
          <a:ln/>
        </p:spPr>
        <p:txBody>
          <a:bodyPr wrap="square" lIns="0" tIns="0" rIns="0" bIns="0" rtlCol="0" anchor="ctr"/>
          <a:lstStyle/>
          <a:p>
            <a:pPr indent="0" marL="0">
              <a:buNone/>
            </a:pPr>
            <a:r>
              <a:rPr lang="en-US" sz="1900" b="1" dirty="0">
                <a:solidFill>
                  <a:srgbClr val="1E1E2E"/>
                </a:solidFill>
                <a:latin typeface="Calibri" pitchFamily="34" charset="0"/>
                <a:ea typeface="Calibri" pitchFamily="34" charset="-122"/>
                <a:cs typeface="Calibri" pitchFamily="34" charset="-120"/>
              </a:rPr>
              <a:t>High Conc.</a:t>
            </a:r>
            <a:endParaRPr lang="en-US" sz="1900" dirty="0"/>
          </a:p>
        </p:txBody>
      </p:sp>
      <p:sp>
        <p:nvSpPr>
          <p:cNvPr id="28" name="Text 26"/>
          <p:cNvSpPr/>
          <p:nvPr/>
        </p:nvSpPr>
        <p:spPr>
          <a:xfrm>
            <a:off x="6492240" y="1993392"/>
            <a:ext cx="1719072" cy="201168"/>
          </a:xfrm>
          <a:prstGeom prst="rect">
            <a:avLst/>
          </a:prstGeom>
          <a:noFill/>
          <a:ln/>
        </p:spPr>
        <p:txBody>
          <a:bodyPr wrap="square" lIns="0" tIns="0" rIns="0" bIns="0" rtlCol="0" anchor="ctr"/>
          <a:lstStyle/>
          <a:p>
            <a:pPr indent="0" marL="0">
              <a:buNone/>
            </a:pPr>
            <a:r>
              <a:rPr lang="en-US" sz="1000" dirty="0">
                <a:solidFill>
                  <a:srgbClr val="888888"/>
                </a:solidFill>
                <a:latin typeface="Calibri" pitchFamily="34" charset="0"/>
                <a:ea typeface="Calibri" pitchFamily="34" charset="-122"/>
                <a:cs typeface="Calibri" pitchFamily="34" charset="-120"/>
              </a:rPr>
              <a:t>Top-3 State Share</a:t>
            </a:r>
            <a:endParaRPr lang="en-US" sz="1000" dirty="0"/>
          </a:p>
        </p:txBody>
      </p:sp>
      <p:sp>
        <p:nvSpPr>
          <p:cNvPr id="29" name="Shape 27"/>
          <p:cNvSpPr/>
          <p:nvPr/>
        </p:nvSpPr>
        <p:spPr>
          <a:xfrm>
            <a:off x="274320" y="2514600"/>
            <a:ext cx="2697480" cy="13258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30" name="Shape 28"/>
          <p:cNvSpPr/>
          <p:nvPr/>
        </p:nvSpPr>
        <p:spPr>
          <a:xfrm>
            <a:off x="274320" y="2514600"/>
            <a:ext cx="2697480" cy="347472"/>
          </a:xfrm>
          <a:prstGeom prst="rect">
            <a:avLst/>
          </a:prstGeom>
          <a:solidFill>
            <a:srgbClr val="00C48C"/>
          </a:solidFill>
          <a:ln/>
        </p:spPr>
      </p:sp>
      <p:sp>
        <p:nvSpPr>
          <p:cNvPr id="31" name="Text 29"/>
          <p:cNvSpPr/>
          <p:nvPr/>
        </p:nvSpPr>
        <p:spPr>
          <a:xfrm>
            <a:off x="365760" y="2542032"/>
            <a:ext cx="25146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State Ranking Bar</a:t>
            </a:r>
            <a:endParaRPr lang="en-US" sz="1100" dirty="0"/>
          </a:p>
        </p:txBody>
      </p:sp>
      <p:sp>
        <p:nvSpPr>
          <p:cNvPr id="32" name="Text 30"/>
          <p:cNvSpPr/>
          <p:nvPr/>
        </p:nvSpPr>
        <p:spPr>
          <a:xfrm>
            <a:off x="365760" y="2926080"/>
            <a:ext cx="2514600" cy="822960"/>
          </a:xfrm>
          <a:prstGeom prst="rect">
            <a:avLst/>
          </a:prstGeom>
          <a:noFill/>
          <a:ln/>
        </p:spPr>
        <p:txBody>
          <a:bodyPr wrap="square" lIns="0" tIns="0" rIns="0" bIns="0" rtlCol="0" anchor="ctr"/>
          <a:lstStyle/>
          <a:p>
            <a:pPr indent="0" marL="0">
              <a:buNone/>
            </a:pPr>
            <a:r>
              <a:rPr lang="en-US" sz="1000" dirty="0">
                <a:solidFill>
                  <a:srgbClr val="444444"/>
                </a:solidFill>
                <a:latin typeface="Calibri" pitchFamily="34" charset="0"/>
                <a:ea typeface="Calibri" pitchFamily="34" charset="-122"/>
                <a:cs typeface="Calibri" pitchFamily="34" charset="-120"/>
              </a:rPr>
              <a:t>Horizontal bar (Purples scale) + Pie share chart side-by-side. User slider controls Top-N (5–15). Instantly shows top-3 states = 40%+ of national value.</a:t>
            </a:r>
            <a:endParaRPr lang="en-US" sz="1000" dirty="0"/>
          </a:p>
        </p:txBody>
      </p:sp>
      <p:sp>
        <p:nvSpPr>
          <p:cNvPr id="33" name="Shape 31"/>
          <p:cNvSpPr/>
          <p:nvPr/>
        </p:nvSpPr>
        <p:spPr>
          <a:xfrm>
            <a:off x="3090672" y="2514600"/>
            <a:ext cx="2697480" cy="13258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34" name="Shape 32"/>
          <p:cNvSpPr/>
          <p:nvPr/>
        </p:nvSpPr>
        <p:spPr>
          <a:xfrm>
            <a:off x="3090672" y="2514600"/>
            <a:ext cx="2697480" cy="347472"/>
          </a:xfrm>
          <a:prstGeom prst="rect">
            <a:avLst/>
          </a:prstGeom>
          <a:solidFill>
            <a:srgbClr val="00B9F1"/>
          </a:solidFill>
          <a:ln/>
        </p:spPr>
      </p:sp>
      <p:sp>
        <p:nvSpPr>
          <p:cNvPr id="35" name="Text 33"/>
          <p:cNvSpPr/>
          <p:nvPr/>
        </p:nvSpPr>
        <p:spPr>
          <a:xfrm>
            <a:off x="3182112" y="2542032"/>
            <a:ext cx="25146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District Drill-down</a:t>
            </a:r>
            <a:endParaRPr lang="en-US" sz="1100" dirty="0"/>
          </a:p>
        </p:txBody>
      </p:sp>
      <p:sp>
        <p:nvSpPr>
          <p:cNvPr id="36" name="Text 34"/>
          <p:cNvSpPr/>
          <p:nvPr/>
        </p:nvSpPr>
        <p:spPr>
          <a:xfrm>
            <a:off x="3182112" y="2926080"/>
            <a:ext cx="2514600" cy="822960"/>
          </a:xfrm>
          <a:prstGeom prst="rect">
            <a:avLst/>
          </a:prstGeom>
          <a:noFill/>
          <a:ln/>
        </p:spPr>
        <p:txBody>
          <a:bodyPr wrap="square" lIns="0" tIns="0" rIns="0" bIns="0" rtlCol="0" anchor="ctr"/>
          <a:lstStyle/>
          <a:p>
            <a:pPr indent="0" marL="0">
              <a:buNone/>
            </a:pPr>
            <a:r>
              <a:rPr lang="en-US" sz="1000" dirty="0">
                <a:solidFill>
                  <a:srgbClr val="444444"/>
                </a:solidFill>
                <a:latin typeface="Calibri" pitchFamily="34" charset="0"/>
                <a:ea typeface="Calibri" pitchFamily="34" charset="-122"/>
                <a:cs typeface="Calibri" pitchFamily="34" charset="-120"/>
              </a:rPr>
              <a:t>State dropdown → district bar + volume-vs-value scatter. Bubble size = transaction amount. Exposes tier-2 city underperformance vs potential.</a:t>
            </a:r>
            <a:endParaRPr lang="en-US" sz="1000" dirty="0"/>
          </a:p>
        </p:txBody>
      </p:sp>
      <p:sp>
        <p:nvSpPr>
          <p:cNvPr id="37" name="Shape 35"/>
          <p:cNvSpPr/>
          <p:nvPr/>
        </p:nvSpPr>
        <p:spPr>
          <a:xfrm>
            <a:off x="5907024" y="2514600"/>
            <a:ext cx="2962656" cy="13258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38" name="Shape 36"/>
          <p:cNvSpPr/>
          <p:nvPr/>
        </p:nvSpPr>
        <p:spPr>
          <a:xfrm>
            <a:off x="5907024" y="2514600"/>
            <a:ext cx="2962656" cy="347472"/>
          </a:xfrm>
          <a:prstGeom prst="rect">
            <a:avLst/>
          </a:prstGeom>
          <a:solidFill>
            <a:srgbClr val="FF6B35"/>
          </a:solidFill>
          <a:ln/>
        </p:spPr>
      </p:sp>
      <p:sp>
        <p:nvSpPr>
          <p:cNvPr id="39" name="Text 37"/>
          <p:cNvSpPr/>
          <p:nvPr/>
        </p:nvSpPr>
        <p:spPr>
          <a:xfrm>
            <a:off x="5998464" y="2542032"/>
            <a:ext cx="2779776"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State × Quarter Heatmap</a:t>
            </a:r>
            <a:endParaRPr lang="en-US" sz="1100" dirty="0"/>
          </a:p>
        </p:txBody>
      </p:sp>
      <p:sp>
        <p:nvSpPr>
          <p:cNvPr id="40" name="Text 38"/>
          <p:cNvSpPr/>
          <p:nvPr/>
        </p:nvSpPr>
        <p:spPr>
          <a:xfrm>
            <a:off x="5998464" y="2926080"/>
            <a:ext cx="2779776" cy="822960"/>
          </a:xfrm>
          <a:prstGeom prst="rect">
            <a:avLst/>
          </a:prstGeom>
          <a:noFill/>
          <a:ln/>
        </p:spPr>
        <p:txBody>
          <a:bodyPr wrap="square" lIns="0" tIns="0" rIns="0" bIns="0" rtlCol="0" anchor="ctr"/>
          <a:lstStyle/>
          <a:p>
            <a:pPr indent="0" marL="0">
              <a:buNone/>
            </a:pPr>
            <a:r>
              <a:rPr lang="en-US" sz="1000" dirty="0">
                <a:solidFill>
                  <a:srgbClr val="444444"/>
                </a:solidFill>
                <a:latin typeface="Calibri" pitchFamily="34" charset="0"/>
                <a:ea typeface="Calibri" pitchFamily="34" charset="-122"/>
                <a:cs typeface="Calibri" pitchFamily="34" charset="-120"/>
              </a:rPr>
              <a:t>px.imshow heatmap: rows=states, cols=quarters. Color = ₹ Cr. Instantly surfaces Q4 seasonal spikes and identifies which states miss the holiday surge.</a:t>
            </a:r>
            <a:endParaRPr lang="en-US" sz="1000" dirty="0"/>
          </a:p>
        </p:txBody>
      </p:sp>
      <p:sp>
        <p:nvSpPr>
          <p:cNvPr id="41" name="Shape 39"/>
          <p:cNvSpPr/>
          <p:nvPr/>
        </p:nvSpPr>
        <p:spPr>
          <a:xfrm>
            <a:off x="274320" y="3931920"/>
            <a:ext cx="8595360" cy="749808"/>
          </a:xfrm>
          <a:prstGeom prst="rect">
            <a:avLst/>
          </a:prstGeom>
          <a:solidFill>
            <a:srgbClr val="1E1E2E"/>
          </a:solidFill>
          <a:ln/>
        </p:spPr>
      </p:sp>
      <p:sp>
        <p:nvSpPr>
          <p:cNvPr id="42" name="Text 40"/>
          <p:cNvSpPr/>
          <p:nvPr/>
        </p:nvSpPr>
        <p:spPr>
          <a:xfrm>
            <a:off x="411480" y="3986784"/>
            <a:ext cx="8321040" cy="658368"/>
          </a:xfrm>
          <a:prstGeom prst="rect">
            <a:avLst/>
          </a:prstGeom>
          <a:noFill/>
          <a:ln/>
        </p:spPr>
        <p:txBody>
          <a:bodyPr wrap="square" lIns="0" tIns="0" rIns="0" bIns="0" rtlCol="0" anchor="ctr"/>
          <a:lstStyle/>
          <a:p>
            <a:pPr indent="0" marL="0">
              <a:buNone/>
            </a:pPr>
            <a:r>
              <a:rPr lang="en-US" sz="1050" b="1" dirty="0">
                <a:solidFill>
                  <a:srgbClr val="00C48C"/>
                </a:solidFill>
                <a:latin typeface="Calibri" pitchFamily="34" charset="0"/>
                <a:ea typeface="Calibri" pitchFamily="34" charset="-122"/>
                <a:cs typeface="Calibri" pitchFamily="34" charset="-120"/>
              </a:rPr>
              <a:t>🔑 Key Findings:  </a:t>
            </a:r>
            <a:pPr indent="0" marL="0">
              <a:buNone/>
            </a:pPr>
            <a:r>
              <a:rPr lang="en-US" sz="1050" dirty="0">
                <a:solidFill>
                  <a:srgbClr val="FFFFFF"/>
                </a:solidFill>
                <a:latin typeface="Calibri" pitchFamily="34" charset="0"/>
                <a:ea typeface="Calibri" pitchFamily="34" charset="-122"/>
                <a:cs typeface="Calibri" pitchFamily="34" charset="-120"/>
              </a:rPr>
              <a:t>Mumbai is the single highest-value district — priority for merchant acquisition.  |  </a:t>
            </a:r>
            <a:pPr indent="0" marL="0">
              <a:buNone/>
            </a:pPr>
            <a:r>
              <a:rPr lang="en-US" sz="1050" dirty="0">
                <a:solidFill>
                  <a:srgbClr val="FFFFFF"/>
                </a:solidFill>
                <a:latin typeface="Calibri" pitchFamily="34" charset="0"/>
                <a:ea typeface="Calibri" pitchFamily="34" charset="-122"/>
                <a:cs typeface="Calibri" pitchFamily="34" charset="-120"/>
              </a:rPr>
              <a:t>Top 3 states = 40%+ of national value — geographic concentration confirmed.  |  </a:t>
            </a:r>
            <a:pPr indent="0" marL="0">
              <a:buNone/>
            </a:pPr>
            <a:r>
              <a:rPr lang="en-US" sz="1050" dirty="0">
                <a:solidFill>
                  <a:srgbClr val="FFFFFF"/>
                </a:solidFill>
                <a:latin typeface="Calibri" pitchFamily="34" charset="0"/>
                <a:ea typeface="Calibri" pitchFamily="34" charset="-122"/>
                <a:cs typeface="Calibri" pitchFamily="34" charset="-120"/>
              </a:rPr>
              <a:t>HHI index reveals highly concentrated states where tier-2 district development is a direct growth lever.</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1E2E"/>
          </a:solidFill>
          <a:ln/>
        </p:spPr>
      </p:sp>
      <p:sp>
        <p:nvSpPr>
          <p:cNvPr id="3" name="Shape 1"/>
          <p:cNvSpPr/>
          <p:nvPr/>
        </p:nvSpPr>
        <p:spPr>
          <a:xfrm>
            <a:off x="0" y="4828032"/>
            <a:ext cx="9144000" cy="315468"/>
          </a:xfrm>
          <a:prstGeom prst="rect">
            <a:avLst/>
          </a:prstGeom>
          <a:solidFill>
            <a:srgbClr val="5F2EEA">
              <a:alpha val="75000"/>
            </a:srgbClr>
          </a:solidFill>
          <a:ln/>
        </p:spPr>
      </p:sp>
      <p:sp>
        <p:nvSpPr>
          <p:cNvPr id="4" name="Text 2"/>
          <p:cNvSpPr/>
          <p:nvPr/>
        </p:nvSpPr>
        <p:spPr>
          <a:xfrm>
            <a:off x="274320" y="118872"/>
            <a:ext cx="8595360" cy="45720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BC8: User Registration Analysis – Scenario &amp; Approach</a:t>
            </a:r>
            <a:endParaRPr lang="en-US" sz="2100" dirty="0"/>
          </a:p>
        </p:txBody>
      </p:sp>
      <p:sp>
        <p:nvSpPr>
          <p:cNvPr id="5" name="Text 3"/>
          <p:cNvSpPr/>
          <p:nvPr/>
        </p:nvSpPr>
        <p:spPr>
          <a:xfrm>
            <a:off x="182880" y="4846320"/>
            <a:ext cx="8778240" cy="237744"/>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PhonePe  •  5 Business Case Studies  •  11 / 18</a:t>
            </a:r>
            <a:endParaRPr lang="en-US" sz="900" dirty="0"/>
          </a:p>
        </p:txBody>
      </p:sp>
      <p:sp>
        <p:nvSpPr>
          <p:cNvPr id="6" name="Shape 4"/>
          <p:cNvSpPr/>
          <p:nvPr/>
        </p:nvSpPr>
        <p:spPr>
          <a:xfrm>
            <a:off x="274320" y="777240"/>
            <a:ext cx="1005840" cy="347472"/>
          </a:xfrm>
          <a:prstGeom prst="rect">
            <a:avLst/>
          </a:prstGeom>
          <a:solidFill>
            <a:srgbClr val="7C3AED"/>
          </a:solidFill>
          <a:ln/>
        </p:spPr>
      </p:sp>
      <p:sp>
        <p:nvSpPr>
          <p:cNvPr id="7" name="Text 5"/>
          <p:cNvSpPr/>
          <p:nvPr/>
        </p:nvSpPr>
        <p:spPr>
          <a:xfrm>
            <a:off x="274320" y="777240"/>
            <a:ext cx="100584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BC8</a:t>
            </a:r>
            <a:endParaRPr lang="en-US" sz="1300" dirty="0"/>
          </a:p>
        </p:txBody>
      </p:sp>
      <p:sp>
        <p:nvSpPr>
          <p:cNvPr id="8" name="Text 6"/>
          <p:cNvSpPr/>
          <p:nvPr/>
        </p:nvSpPr>
        <p:spPr>
          <a:xfrm>
            <a:off x="1371600" y="804672"/>
            <a:ext cx="7315200" cy="301752"/>
          </a:xfrm>
          <a:prstGeom prst="rect">
            <a:avLst/>
          </a:prstGeom>
          <a:noFill/>
          <a:ln/>
        </p:spPr>
        <p:txBody>
          <a:bodyPr wrap="square" lIns="0" tIns="0" rIns="0" bIns="0" rtlCol="0" anchor="ctr"/>
          <a:lstStyle/>
          <a:p>
            <a:pPr indent="0" marL="0">
              <a:buNone/>
            </a:pPr>
            <a:r>
              <a:rPr lang="en-US" sz="1300" i="1" dirty="0">
                <a:solidFill>
                  <a:srgbClr val="555555"/>
                </a:solidFill>
                <a:latin typeface="Calibri" pitchFamily="34" charset="0"/>
                <a:ea typeface="Calibri" pitchFamily="34" charset="-122"/>
                <a:cs typeface="Calibri" pitchFamily="34" charset="-120"/>
              </a:rPr>
              <a:t>User Registration Analysis</a:t>
            </a:r>
            <a:endParaRPr lang="en-US" sz="1300" dirty="0"/>
          </a:p>
        </p:txBody>
      </p:sp>
      <p:sp>
        <p:nvSpPr>
          <p:cNvPr id="9" name="Shape 7"/>
          <p:cNvSpPr/>
          <p:nvPr/>
        </p:nvSpPr>
        <p:spPr>
          <a:xfrm>
            <a:off x="274320" y="1207008"/>
            <a:ext cx="8595360" cy="960120"/>
          </a:xfrm>
          <a:prstGeom prst="rect">
            <a:avLst/>
          </a:prstGeom>
          <a:solidFill>
            <a:srgbClr val="F3E8FF"/>
          </a:solidFill>
          <a:ln w="6350">
            <a:solidFill>
              <a:srgbClr val="7C3AED"/>
            </a:solidFill>
            <a:prstDash val="solid"/>
          </a:ln>
        </p:spPr>
      </p:sp>
      <p:sp>
        <p:nvSpPr>
          <p:cNvPr id="10" name="Text 8"/>
          <p:cNvSpPr/>
          <p:nvPr/>
        </p:nvSpPr>
        <p:spPr>
          <a:xfrm>
            <a:off x="411480" y="1261872"/>
            <a:ext cx="8321040" cy="822960"/>
          </a:xfrm>
          <a:prstGeom prst="rect">
            <a:avLst/>
          </a:prstGeom>
          <a:noFill/>
          <a:ln/>
        </p:spPr>
        <p:txBody>
          <a:bodyPr wrap="square" lIns="0" tIns="0" rIns="0" bIns="0" rtlCol="0" anchor="ctr"/>
          <a:lstStyle/>
          <a:p>
            <a:pPr indent="0" marL="0">
              <a:buNone/>
            </a:pPr>
            <a:r>
              <a:rPr lang="en-US" sz="1200" dirty="0">
                <a:solidFill>
                  <a:srgbClr val="1E1E2E"/>
                </a:solidFill>
                <a:latin typeface="Calibri" pitchFamily="34" charset="0"/>
                <a:ea typeface="Calibri" pitchFamily="34" charset="-122"/>
                <a:cs typeface="Calibri" pitchFamily="34" charset="-120"/>
              </a:rPr>
              <a:t>PhonePe aims to analyze user registration data to identify top states, districts, and pin codes by new user registrations for a specific year-quarter. This provides insights into user engagement patterns and highlights potential growth areas for strategic acquisition investments.</a:t>
            </a:r>
            <a:endParaRPr lang="en-US" sz="1200" dirty="0"/>
          </a:p>
        </p:txBody>
      </p:sp>
      <p:sp>
        <p:nvSpPr>
          <p:cNvPr id="11" name="Shape 9"/>
          <p:cNvSpPr/>
          <p:nvPr/>
        </p:nvSpPr>
        <p:spPr>
          <a:xfrm>
            <a:off x="274320" y="2331720"/>
            <a:ext cx="2011680" cy="365760"/>
          </a:xfrm>
          <a:prstGeom prst="rect">
            <a:avLst/>
          </a:prstGeom>
          <a:solidFill>
            <a:srgbClr val="7C3AED"/>
          </a:solidFill>
          <a:ln/>
        </p:spPr>
      </p:sp>
      <p:sp>
        <p:nvSpPr>
          <p:cNvPr id="12" name="Text 10"/>
          <p:cNvSpPr/>
          <p:nvPr/>
        </p:nvSpPr>
        <p:spPr>
          <a:xfrm>
            <a:off x="274320" y="2331720"/>
            <a:ext cx="201168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13" name="Shape 11"/>
          <p:cNvSpPr/>
          <p:nvPr/>
        </p:nvSpPr>
        <p:spPr>
          <a:xfrm>
            <a:off x="274320" y="2697480"/>
            <a:ext cx="2011680" cy="1463040"/>
          </a:xfrm>
          <a:prstGeom prst="rect">
            <a:avLst/>
          </a:prstGeom>
          <a:solidFill>
            <a:srgbClr val="FFFFFF"/>
          </a:solidFill>
          <a:ln w="6350">
            <a:solidFill>
              <a:srgbClr val="EEEEEE"/>
            </a:solidFill>
            <a:prstDash val="solid"/>
          </a:ln>
          <a:effectLst>
            <a:outerShdw sx="100000" sy="100000" kx="0" ky="0" algn="bl" rotWithShape="0" blurRad="101600" dist="38100" dir="8100000">
              <a:srgbClr val="000000">
                <a:alpha val="12000"/>
              </a:srgbClr>
            </a:outerShdw>
          </a:effectLst>
        </p:spPr>
      </p:sp>
      <p:sp>
        <p:nvSpPr>
          <p:cNvPr id="14" name="Text 12"/>
          <p:cNvSpPr/>
          <p:nvPr/>
        </p:nvSpPr>
        <p:spPr>
          <a:xfrm>
            <a:off x="365760" y="2761488"/>
            <a:ext cx="1828800" cy="274320"/>
          </a:xfrm>
          <a:prstGeom prst="rect">
            <a:avLst/>
          </a:prstGeom>
          <a:noFill/>
          <a:ln/>
        </p:spPr>
        <p:txBody>
          <a:bodyPr wrap="square" lIns="0" tIns="0" rIns="0" bIns="0" rtlCol="0" anchor="ctr"/>
          <a:lstStyle/>
          <a:p>
            <a:pPr indent="0" marL="0">
              <a:buNone/>
            </a:pPr>
            <a:r>
              <a:rPr lang="en-US" sz="1100" b="1" dirty="0">
                <a:solidFill>
                  <a:srgbClr val="1E1E2E"/>
                </a:solidFill>
                <a:latin typeface="Calibri" pitchFamily="34" charset="0"/>
                <a:ea typeface="Calibri" pitchFamily="34" charset="-122"/>
                <a:cs typeface="Calibri" pitchFamily="34" charset="-120"/>
              </a:rPr>
              <a:t>Top States per Quarter</a:t>
            </a:r>
            <a:endParaRPr lang="en-US" sz="1100" dirty="0"/>
          </a:p>
        </p:txBody>
      </p:sp>
      <p:sp>
        <p:nvSpPr>
          <p:cNvPr id="15" name="Text 13"/>
          <p:cNvSpPr/>
          <p:nvPr/>
        </p:nvSpPr>
        <p:spPr>
          <a:xfrm>
            <a:off x="365760" y="3063240"/>
            <a:ext cx="1828800" cy="1005840"/>
          </a:xfrm>
          <a:prstGeom prst="rect">
            <a:avLst/>
          </a:prstGeom>
          <a:noFill/>
          <a:ln/>
        </p:spPr>
        <p:txBody>
          <a:bodyPr wrap="square" lIns="0" tIns="0" rIns="0" bIns="0" rtlCol="0" anchor="ctr"/>
          <a:lstStyle/>
          <a:p>
            <a:pPr indent="0" marL="0">
              <a:buNone/>
            </a:pPr>
            <a:r>
              <a:rPr lang="en-US" sz="950" dirty="0">
                <a:solidFill>
                  <a:srgbClr val="444444"/>
                </a:solidFill>
                <a:latin typeface="Courier New" pitchFamily="34" charset="0"/>
                <a:ea typeface="Courier New" pitchFamily="34" charset="-122"/>
                <a:cs typeface="Courier New" pitchFamily="34" charset="-120"/>
              </a:rPr>
              <a:t>SUM(registered_users)</a:t>
            </a:r>
            <a:endParaRPr lang="en-US" sz="950" dirty="0"/>
          </a:p>
          <a:p>
            <a:pPr indent="0" marL="0">
              <a:buNone/>
            </a:pPr>
            <a:r>
              <a:rPr lang="en-US" sz="950" dirty="0">
                <a:solidFill>
                  <a:srgbClr val="444444"/>
                </a:solidFill>
                <a:latin typeface="Courier New" pitchFamily="34" charset="0"/>
                <a:ea typeface="Courier New" pitchFamily="34" charset="-122"/>
                <a:cs typeface="Courier New" pitchFamily="34" charset="-120"/>
              </a:rPr>
              <a:t>FROM Top_user</a:t>
            </a:r>
            <a:endParaRPr lang="en-US" sz="950" dirty="0"/>
          </a:p>
          <a:p>
            <a:pPr indent="0" marL="0">
              <a:buNone/>
            </a:pPr>
            <a:r>
              <a:rPr lang="en-US" sz="950" dirty="0">
                <a:solidFill>
                  <a:srgbClr val="444444"/>
                </a:solidFill>
                <a:latin typeface="Courier New" pitchFamily="34" charset="0"/>
                <a:ea typeface="Courier New" pitchFamily="34" charset="-122"/>
                <a:cs typeface="Courier New" pitchFamily="34" charset="-120"/>
              </a:rPr>
              <a:t>WHERE year=Y AND quarter=Q</a:t>
            </a:r>
            <a:endParaRPr lang="en-US" sz="950" dirty="0"/>
          </a:p>
        </p:txBody>
      </p:sp>
      <p:sp>
        <p:nvSpPr>
          <p:cNvPr id="16" name="Shape 14"/>
          <p:cNvSpPr/>
          <p:nvPr/>
        </p:nvSpPr>
        <p:spPr>
          <a:xfrm>
            <a:off x="2450592" y="2331720"/>
            <a:ext cx="2011680" cy="365760"/>
          </a:xfrm>
          <a:prstGeom prst="rect">
            <a:avLst/>
          </a:prstGeom>
          <a:solidFill>
            <a:srgbClr val="7C3AED"/>
          </a:solidFill>
          <a:ln/>
        </p:spPr>
      </p:sp>
      <p:sp>
        <p:nvSpPr>
          <p:cNvPr id="17" name="Text 15"/>
          <p:cNvSpPr/>
          <p:nvPr/>
        </p:nvSpPr>
        <p:spPr>
          <a:xfrm>
            <a:off x="2450592" y="2331720"/>
            <a:ext cx="201168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18" name="Shape 16"/>
          <p:cNvSpPr/>
          <p:nvPr/>
        </p:nvSpPr>
        <p:spPr>
          <a:xfrm>
            <a:off x="2450592" y="2697480"/>
            <a:ext cx="2011680" cy="1463040"/>
          </a:xfrm>
          <a:prstGeom prst="rect">
            <a:avLst/>
          </a:prstGeom>
          <a:solidFill>
            <a:srgbClr val="FFFFFF"/>
          </a:solidFill>
          <a:ln w="6350">
            <a:solidFill>
              <a:srgbClr val="EEEEEE"/>
            </a:solidFill>
            <a:prstDash val="solid"/>
          </a:ln>
          <a:effectLst>
            <a:outerShdw sx="100000" sy="100000" kx="0" ky="0" algn="bl" rotWithShape="0" blurRad="101600" dist="38100" dir="8100000">
              <a:srgbClr val="000000">
                <a:alpha val="12000"/>
              </a:srgbClr>
            </a:outerShdw>
          </a:effectLst>
        </p:spPr>
      </p:sp>
      <p:sp>
        <p:nvSpPr>
          <p:cNvPr id="19" name="Text 17"/>
          <p:cNvSpPr/>
          <p:nvPr/>
        </p:nvSpPr>
        <p:spPr>
          <a:xfrm>
            <a:off x="2542032" y="2761488"/>
            <a:ext cx="1828800" cy="274320"/>
          </a:xfrm>
          <a:prstGeom prst="rect">
            <a:avLst/>
          </a:prstGeom>
          <a:noFill/>
          <a:ln/>
        </p:spPr>
        <p:txBody>
          <a:bodyPr wrap="square" lIns="0" tIns="0" rIns="0" bIns="0" rtlCol="0" anchor="ctr"/>
          <a:lstStyle/>
          <a:p>
            <a:pPr indent="0" marL="0">
              <a:buNone/>
            </a:pPr>
            <a:r>
              <a:rPr lang="en-US" sz="1100" b="1" dirty="0">
                <a:solidFill>
                  <a:srgbClr val="1E1E2E"/>
                </a:solidFill>
                <a:latin typeface="Calibri" pitchFamily="34" charset="0"/>
                <a:ea typeface="Calibri" pitchFamily="34" charset="-122"/>
                <a:cs typeface="Calibri" pitchFamily="34" charset="-120"/>
              </a:rPr>
              <a:t>District Rankings</a:t>
            </a:r>
            <a:endParaRPr lang="en-US" sz="1100" dirty="0"/>
          </a:p>
        </p:txBody>
      </p:sp>
      <p:sp>
        <p:nvSpPr>
          <p:cNvPr id="20" name="Text 18"/>
          <p:cNvSpPr/>
          <p:nvPr/>
        </p:nvSpPr>
        <p:spPr>
          <a:xfrm>
            <a:off x="2542032" y="3063240"/>
            <a:ext cx="1828800" cy="1005840"/>
          </a:xfrm>
          <a:prstGeom prst="rect">
            <a:avLst/>
          </a:prstGeom>
          <a:noFill/>
          <a:ln/>
        </p:spPr>
        <p:txBody>
          <a:bodyPr wrap="square" lIns="0" tIns="0" rIns="0" bIns="0" rtlCol="0" anchor="ctr"/>
          <a:lstStyle/>
          <a:p>
            <a:pPr indent="0" marL="0">
              <a:buNone/>
            </a:pPr>
            <a:r>
              <a:rPr lang="en-US" sz="950" dirty="0">
                <a:solidFill>
                  <a:srgbClr val="444444"/>
                </a:solidFill>
                <a:latin typeface="Courier New" pitchFamily="34" charset="0"/>
                <a:ea typeface="Courier New" pitchFamily="34" charset="-122"/>
                <a:cs typeface="Courier New" pitchFamily="34" charset="-120"/>
              </a:rPr>
              <a:t>GROUP BY state, district</a:t>
            </a:r>
            <a:endParaRPr lang="en-US" sz="950" dirty="0"/>
          </a:p>
          <a:p>
            <a:pPr indent="0" marL="0">
              <a:buNone/>
            </a:pPr>
            <a:r>
              <a:rPr lang="en-US" sz="950" dirty="0">
                <a:solidFill>
                  <a:srgbClr val="444444"/>
                </a:solidFill>
                <a:latin typeface="Courier New" pitchFamily="34" charset="0"/>
                <a:ea typeface="Courier New" pitchFamily="34" charset="-122"/>
                <a:cs typeface="Courier New" pitchFamily="34" charset="-120"/>
              </a:rPr>
              <a:t>Same quarter filter</a:t>
            </a:r>
            <a:endParaRPr lang="en-US" sz="950" dirty="0"/>
          </a:p>
          <a:p>
            <a:pPr indent="0" marL="0">
              <a:buNone/>
            </a:pPr>
            <a:r>
              <a:rPr lang="en-US" sz="950" dirty="0">
                <a:solidFill>
                  <a:srgbClr val="444444"/>
                </a:solidFill>
                <a:latin typeface="Courier New" pitchFamily="34" charset="0"/>
                <a:ea typeface="Courier New" pitchFamily="34" charset="-122"/>
                <a:cs typeface="Courier New" pitchFamily="34" charset="-120"/>
              </a:rPr>
              <a:t>Top 10 by registrations</a:t>
            </a:r>
            <a:endParaRPr lang="en-US" sz="950" dirty="0"/>
          </a:p>
        </p:txBody>
      </p:sp>
      <p:sp>
        <p:nvSpPr>
          <p:cNvPr id="21" name="Shape 19"/>
          <p:cNvSpPr/>
          <p:nvPr/>
        </p:nvSpPr>
        <p:spPr>
          <a:xfrm>
            <a:off x="4626864" y="2331720"/>
            <a:ext cx="2011680" cy="365760"/>
          </a:xfrm>
          <a:prstGeom prst="rect">
            <a:avLst/>
          </a:prstGeom>
          <a:solidFill>
            <a:srgbClr val="7C3AED"/>
          </a:solidFill>
          <a:ln/>
        </p:spPr>
      </p:sp>
      <p:sp>
        <p:nvSpPr>
          <p:cNvPr id="22" name="Text 20"/>
          <p:cNvSpPr/>
          <p:nvPr/>
        </p:nvSpPr>
        <p:spPr>
          <a:xfrm>
            <a:off x="4626864" y="2331720"/>
            <a:ext cx="201168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23" name="Shape 21"/>
          <p:cNvSpPr/>
          <p:nvPr/>
        </p:nvSpPr>
        <p:spPr>
          <a:xfrm>
            <a:off x="4626864" y="2697480"/>
            <a:ext cx="2011680" cy="1463040"/>
          </a:xfrm>
          <a:prstGeom prst="rect">
            <a:avLst/>
          </a:prstGeom>
          <a:solidFill>
            <a:srgbClr val="FFFFFF"/>
          </a:solidFill>
          <a:ln w="6350">
            <a:solidFill>
              <a:srgbClr val="EEEEEE"/>
            </a:solidFill>
            <a:prstDash val="solid"/>
          </a:ln>
          <a:effectLst>
            <a:outerShdw sx="100000" sy="100000" kx="0" ky="0" algn="bl" rotWithShape="0" blurRad="101600" dist="38100" dir="8100000">
              <a:srgbClr val="000000">
                <a:alpha val="12000"/>
              </a:srgbClr>
            </a:outerShdw>
          </a:effectLst>
        </p:spPr>
      </p:sp>
      <p:sp>
        <p:nvSpPr>
          <p:cNvPr id="24" name="Text 22"/>
          <p:cNvSpPr/>
          <p:nvPr/>
        </p:nvSpPr>
        <p:spPr>
          <a:xfrm>
            <a:off x="4718304" y="2761488"/>
            <a:ext cx="1828800" cy="274320"/>
          </a:xfrm>
          <a:prstGeom prst="rect">
            <a:avLst/>
          </a:prstGeom>
          <a:noFill/>
          <a:ln/>
        </p:spPr>
        <p:txBody>
          <a:bodyPr wrap="square" lIns="0" tIns="0" rIns="0" bIns="0" rtlCol="0" anchor="ctr"/>
          <a:lstStyle/>
          <a:p>
            <a:pPr indent="0" marL="0">
              <a:buNone/>
            </a:pPr>
            <a:r>
              <a:rPr lang="en-US" sz="1100" b="1" dirty="0">
                <a:solidFill>
                  <a:srgbClr val="1E1E2E"/>
                </a:solidFill>
                <a:latin typeface="Calibri" pitchFamily="34" charset="0"/>
                <a:ea typeface="Calibri" pitchFamily="34" charset="-122"/>
                <a:cs typeface="Calibri" pitchFamily="34" charset="-120"/>
              </a:rPr>
              <a:t>Pin Code Rankings</a:t>
            </a:r>
            <a:endParaRPr lang="en-US" sz="1100" dirty="0"/>
          </a:p>
        </p:txBody>
      </p:sp>
      <p:sp>
        <p:nvSpPr>
          <p:cNvPr id="25" name="Text 23"/>
          <p:cNvSpPr/>
          <p:nvPr/>
        </p:nvSpPr>
        <p:spPr>
          <a:xfrm>
            <a:off x="4718304" y="3063240"/>
            <a:ext cx="1828800" cy="1005840"/>
          </a:xfrm>
          <a:prstGeom prst="rect">
            <a:avLst/>
          </a:prstGeom>
          <a:noFill/>
          <a:ln/>
        </p:spPr>
        <p:txBody>
          <a:bodyPr wrap="square" lIns="0" tIns="0" rIns="0" bIns="0" rtlCol="0" anchor="ctr"/>
          <a:lstStyle/>
          <a:p>
            <a:pPr indent="0" marL="0">
              <a:buNone/>
            </a:pPr>
            <a:r>
              <a:rPr lang="en-US" sz="950" dirty="0">
                <a:solidFill>
                  <a:srgbClr val="444444"/>
                </a:solidFill>
                <a:latin typeface="Courier New" pitchFamily="34" charset="0"/>
                <a:ea typeface="Courier New" pitchFamily="34" charset="-122"/>
                <a:cs typeface="Courier New" pitchFamily="34" charset="-120"/>
              </a:rPr>
              <a:t>GROUP BY state, pincode</a:t>
            </a:r>
            <a:endParaRPr lang="en-US" sz="950" dirty="0"/>
          </a:p>
          <a:p>
            <a:pPr indent="0" marL="0">
              <a:buNone/>
            </a:pPr>
            <a:r>
              <a:rPr lang="en-US" sz="950" dirty="0">
                <a:solidFill>
                  <a:srgbClr val="444444"/>
                </a:solidFill>
                <a:latin typeface="Courier New" pitchFamily="34" charset="0"/>
                <a:ea typeface="Courier New" pitchFamily="34" charset="-122"/>
                <a:cs typeface="Courier New" pitchFamily="34" charset="-120"/>
              </a:rPr>
              <a:t>Hyper-local acquisition</a:t>
            </a:r>
            <a:endParaRPr lang="en-US" sz="950" dirty="0"/>
          </a:p>
          <a:p>
            <a:pPr indent="0" marL="0">
              <a:buNone/>
            </a:pPr>
            <a:r>
              <a:rPr lang="en-US" sz="950" dirty="0">
                <a:solidFill>
                  <a:srgbClr val="444444"/>
                </a:solidFill>
                <a:latin typeface="Courier New" pitchFamily="34" charset="0"/>
                <a:ea typeface="Courier New" pitchFamily="34" charset="-122"/>
                <a:cs typeface="Courier New" pitchFamily="34" charset="-120"/>
              </a:rPr>
              <a:t>targeting data</a:t>
            </a:r>
            <a:endParaRPr lang="en-US" sz="950" dirty="0"/>
          </a:p>
        </p:txBody>
      </p:sp>
      <p:sp>
        <p:nvSpPr>
          <p:cNvPr id="26" name="Shape 24"/>
          <p:cNvSpPr/>
          <p:nvPr/>
        </p:nvSpPr>
        <p:spPr>
          <a:xfrm>
            <a:off x="6803136" y="2331720"/>
            <a:ext cx="2011680" cy="365760"/>
          </a:xfrm>
          <a:prstGeom prst="rect">
            <a:avLst/>
          </a:prstGeom>
          <a:solidFill>
            <a:srgbClr val="7C3AED"/>
          </a:solidFill>
          <a:ln/>
        </p:spPr>
      </p:sp>
      <p:sp>
        <p:nvSpPr>
          <p:cNvPr id="27" name="Text 25"/>
          <p:cNvSpPr/>
          <p:nvPr/>
        </p:nvSpPr>
        <p:spPr>
          <a:xfrm>
            <a:off x="6803136" y="2331720"/>
            <a:ext cx="201168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28" name="Shape 26"/>
          <p:cNvSpPr/>
          <p:nvPr/>
        </p:nvSpPr>
        <p:spPr>
          <a:xfrm>
            <a:off x="6803136" y="2697480"/>
            <a:ext cx="2011680" cy="1463040"/>
          </a:xfrm>
          <a:prstGeom prst="rect">
            <a:avLst/>
          </a:prstGeom>
          <a:solidFill>
            <a:srgbClr val="FFFFFF"/>
          </a:solidFill>
          <a:ln w="6350">
            <a:solidFill>
              <a:srgbClr val="EEEEEE"/>
            </a:solidFill>
            <a:prstDash val="solid"/>
          </a:ln>
          <a:effectLst>
            <a:outerShdw sx="100000" sy="100000" kx="0" ky="0" algn="bl" rotWithShape="0" blurRad="101600" dist="38100" dir="8100000">
              <a:srgbClr val="000000">
                <a:alpha val="12000"/>
              </a:srgbClr>
            </a:outerShdw>
          </a:effectLst>
        </p:spPr>
      </p:sp>
      <p:sp>
        <p:nvSpPr>
          <p:cNvPr id="29" name="Text 27"/>
          <p:cNvSpPr/>
          <p:nvPr/>
        </p:nvSpPr>
        <p:spPr>
          <a:xfrm>
            <a:off x="6894576" y="2761488"/>
            <a:ext cx="1828800" cy="274320"/>
          </a:xfrm>
          <a:prstGeom prst="rect">
            <a:avLst/>
          </a:prstGeom>
          <a:noFill/>
          <a:ln/>
        </p:spPr>
        <p:txBody>
          <a:bodyPr wrap="square" lIns="0" tIns="0" rIns="0" bIns="0" rtlCol="0" anchor="ctr"/>
          <a:lstStyle/>
          <a:p>
            <a:pPr indent="0" marL="0">
              <a:buNone/>
            </a:pPr>
            <a:r>
              <a:rPr lang="en-US" sz="1100" b="1" dirty="0">
                <a:solidFill>
                  <a:srgbClr val="1E1E2E"/>
                </a:solidFill>
                <a:latin typeface="Calibri" pitchFamily="34" charset="0"/>
                <a:ea typeface="Calibri" pitchFamily="34" charset="-122"/>
                <a:cs typeface="Calibri" pitchFamily="34" charset="-120"/>
              </a:rPr>
              <a:t>Growth Hotspot</a:t>
            </a:r>
            <a:endParaRPr lang="en-US" sz="1100" dirty="0"/>
          </a:p>
        </p:txBody>
      </p:sp>
      <p:sp>
        <p:nvSpPr>
          <p:cNvPr id="30" name="Text 28"/>
          <p:cNvSpPr/>
          <p:nvPr/>
        </p:nvSpPr>
        <p:spPr>
          <a:xfrm>
            <a:off x="6894576" y="3063240"/>
            <a:ext cx="1828800" cy="1005840"/>
          </a:xfrm>
          <a:prstGeom prst="rect">
            <a:avLst/>
          </a:prstGeom>
          <a:noFill/>
          <a:ln/>
        </p:spPr>
        <p:txBody>
          <a:bodyPr wrap="square" lIns="0" tIns="0" rIns="0" bIns="0" rtlCol="0" anchor="ctr"/>
          <a:lstStyle/>
          <a:p>
            <a:pPr indent="0" marL="0">
              <a:buNone/>
            </a:pPr>
            <a:r>
              <a:rPr lang="en-US" sz="950" dirty="0">
                <a:solidFill>
                  <a:srgbClr val="444444"/>
                </a:solidFill>
                <a:latin typeface="Courier New" pitchFamily="34" charset="0"/>
                <a:ea typeface="Courier New" pitchFamily="34" charset="-122"/>
                <a:cs typeface="Courier New" pitchFamily="34" charset="-120"/>
              </a:rPr>
              <a:t>FIRST_VALUE vs LAST_VALUE</a:t>
            </a:r>
            <a:endParaRPr lang="en-US" sz="950" dirty="0"/>
          </a:p>
          <a:p>
            <a:pPr indent="0" marL="0">
              <a:buNone/>
            </a:pPr>
            <a:r>
              <a:rPr lang="en-US" sz="950" dirty="0">
                <a:solidFill>
                  <a:srgbClr val="444444"/>
                </a:solidFill>
                <a:latin typeface="Courier New" pitchFamily="34" charset="0"/>
                <a:ea typeface="Courier New" pitchFamily="34" charset="-122"/>
                <a:cs typeface="Courier New" pitchFamily="34" charset="-120"/>
              </a:rPr>
              <a:t>Over recent 4 quarters</a:t>
            </a:r>
            <a:endParaRPr lang="en-US" sz="950" dirty="0"/>
          </a:p>
          <a:p>
            <a:pPr indent="0" marL="0">
              <a:buNone/>
            </a:pPr>
            <a:r>
              <a:rPr lang="en-US" sz="950" dirty="0">
                <a:solidFill>
                  <a:srgbClr val="444444"/>
                </a:solidFill>
                <a:latin typeface="Courier New" pitchFamily="34" charset="0"/>
                <a:ea typeface="Courier New" pitchFamily="34" charset="-122"/>
                <a:cs typeface="Courier New" pitchFamily="34" charset="-120"/>
              </a:rPr>
              <a:t>growth_over_period_pct</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6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1E2E"/>
          </a:solidFill>
          <a:ln/>
        </p:spPr>
      </p:sp>
      <p:sp>
        <p:nvSpPr>
          <p:cNvPr id="3" name="Shape 1"/>
          <p:cNvSpPr/>
          <p:nvPr/>
        </p:nvSpPr>
        <p:spPr>
          <a:xfrm>
            <a:off x="0" y="4828032"/>
            <a:ext cx="9144000" cy="315468"/>
          </a:xfrm>
          <a:prstGeom prst="rect">
            <a:avLst/>
          </a:prstGeom>
          <a:solidFill>
            <a:srgbClr val="5F2EEA">
              <a:alpha val="75000"/>
            </a:srgbClr>
          </a:solidFill>
          <a:ln/>
        </p:spPr>
      </p:sp>
      <p:sp>
        <p:nvSpPr>
          <p:cNvPr id="4" name="Text 2"/>
          <p:cNvSpPr/>
          <p:nvPr/>
        </p:nvSpPr>
        <p:spPr>
          <a:xfrm>
            <a:off x="274320" y="118872"/>
            <a:ext cx="8595360" cy="45720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BC8: User Registration Analysis – Visualizations &amp; Findings</a:t>
            </a:r>
            <a:endParaRPr lang="en-US" sz="2100" dirty="0"/>
          </a:p>
        </p:txBody>
      </p:sp>
      <p:sp>
        <p:nvSpPr>
          <p:cNvPr id="5" name="Text 3"/>
          <p:cNvSpPr/>
          <p:nvPr/>
        </p:nvSpPr>
        <p:spPr>
          <a:xfrm>
            <a:off x="182880" y="4846320"/>
            <a:ext cx="8778240" cy="237744"/>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PhonePe  •  5 Business Case Studies  •  12 / 18</a:t>
            </a:r>
            <a:endParaRPr lang="en-US" sz="900" dirty="0"/>
          </a:p>
        </p:txBody>
      </p:sp>
      <p:sp>
        <p:nvSpPr>
          <p:cNvPr id="6" name="Shape 4"/>
          <p:cNvSpPr/>
          <p:nvPr/>
        </p:nvSpPr>
        <p:spPr>
          <a:xfrm>
            <a:off x="274320" y="777240"/>
            <a:ext cx="1005840" cy="347472"/>
          </a:xfrm>
          <a:prstGeom prst="rect">
            <a:avLst/>
          </a:prstGeom>
          <a:solidFill>
            <a:srgbClr val="7C3AED"/>
          </a:solidFill>
          <a:ln/>
        </p:spPr>
      </p:sp>
      <p:sp>
        <p:nvSpPr>
          <p:cNvPr id="7" name="Text 5"/>
          <p:cNvSpPr/>
          <p:nvPr/>
        </p:nvSpPr>
        <p:spPr>
          <a:xfrm>
            <a:off x="274320" y="777240"/>
            <a:ext cx="100584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BC8</a:t>
            </a:r>
            <a:endParaRPr lang="en-US" sz="1300" dirty="0"/>
          </a:p>
        </p:txBody>
      </p:sp>
      <p:sp>
        <p:nvSpPr>
          <p:cNvPr id="8" name="Text 6"/>
          <p:cNvSpPr/>
          <p:nvPr/>
        </p:nvSpPr>
        <p:spPr>
          <a:xfrm>
            <a:off x="1371600" y="804672"/>
            <a:ext cx="7315200" cy="301752"/>
          </a:xfrm>
          <a:prstGeom prst="rect">
            <a:avLst/>
          </a:prstGeom>
          <a:noFill/>
          <a:ln/>
        </p:spPr>
        <p:txBody>
          <a:bodyPr wrap="square" lIns="0" tIns="0" rIns="0" bIns="0" rtlCol="0" anchor="ctr"/>
          <a:lstStyle/>
          <a:p>
            <a:pPr indent="0" marL="0">
              <a:buNone/>
            </a:pPr>
            <a:r>
              <a:rPr lang="en-US" sz="1300" i="1" dirty="0">
                <a:solidFill>
                  <a:srgbClr val="555555"/>
                </a:solidFill>
                <a:latin typeface="Calibri" pitchFamily="34" charset="0"/>
                <a:ea typeface="Calibri" pitchFamily="34" charset="-122"/>
                <a:cs typeface="Calibri" pitchFamily="34" charset="-120"/>
              </a:rPr>
              <a:t>User Registration Analysis</a:t>
            </a:r>
            <a:endParaRPr lang="en-US" sz="1300" dirty="0"/>
          </a:p>
        </p:txBody>
      </p:sp>
      <p:sp>
        <p:nvSpPr>
          <p:cNvPr id="9" name="Shape 7"/>
          <p:cNvSpPr/>
          <p:nvPr/>
        </p:nvSpPr>
        <p:spPr>
          <a:xfrm>
            <a:off x="274320" y="1207008"/>
            <a:ext cx="1920240" cy="1143000"/>
          </a:xfrm>
          <a:prstGeom prst="rect">
            <a:avLst/>
          </a:prstGeom>
          <a:solidFill>
            <a:srgbClr val="FFFFFF"/>
          </a:solidFill>
          <a:ln w="6350">
            <a:solidFill>
              <a:srgbClr val="EEEEEE"/>
            </a:solidFill>
            <a:prstDash val="solid"/>
          </a:ln>
          <a:effectLst>
            <a:outerShdw sx="100000" sy="100000" kx="0" ky="0" algn="bl" rotWithShape="0" blurRad="101600" dist="38100" dir="8100000">
              <a:srgbClr val="000000">
                <a:alpha val="12000"/>
              </a:srgbClr>
            </a:outerShdw>
          </a:effectLst>
        </p:spPr>
      </p:sp>
      <p:sp>
        <p:nvSpPr>
          <p:cNvPr id="10" name="Shape 8"/>
          <p:cNvSpPr/>
          <p:nvPr/>
        </p:nvSpPr>
        <p:spPr>
          <a:xfrm>
            <a:off x="274320" y="1207008"/>
            <a:ext cx="64008" cy="1143000"/>
          </a:xfrm>
          <a:prstGeom prst="rect">
            <a:avLst/>
          </a:prstGeom>
          <a:solidFill>
            <a:srgbClr val="5F2EEA"/>
          </a:solidFill>
          <a:ln/>
        </p:spPr>
      </p:sp>
      <p:sp>
        <p:nvSpPr>
          <p:cNvPr id="11" name="Text 9"/>
          <p:cNvSpPr/>
          <p:nvPr/>
        </p:nvSpPr>
        <p:spPr>
          <a:xfrm>
            <a:off x="402336" y="1298448"/>
            <a:ext cx="457200" cy="347472"/>
          </a:xfrm>
          <a:prstGeom prst="rect">
            <a:avLst/>
          </a:prstGeom>
          <a:noFill/>
          <a:ln/>
        </p:spPr>
        <p:txBody>
          <a:bodyPr wrap="square" lIns="0" tIns="0" rIns="0" bIns="0" rtlCol="0" anchor="ctr"/>
          <a:lstStyle/>
          <a:p>
            <a:pPr indent="0" marL="0">
              <a:buNone/>
            </a:pPr>
            <a:r>
              <a:rPr lang="en-US" sz="1800" dirty="0">
                <a:solidFill>
                  <a:srgbClr val="000000"/>
                </a:solidFill>
              </a:rPr>
              <a:t>👤</a:t>
            </a:r>
            <a:endParaRPr lang="en-US" sz="1800" dirty="0"/>
          </a:p>
        </p:txBody>
      </p:sp>
      <p:sp>
        <p:nvSpPr>
          <p:cNvPr id="12" name="Text 10"/>
          <p:cNvSpPr/>
          <p:nvPr/>
        </p:nvSpPr>
        <p:spPr>
          <a:xfrm>
            <a:off x="402336" y="1627632"/>
            <a:ext cx="1719072" cy="384048"/>
          </a:xfrm>
          <a:prstGeom prst="rect">
            <a:avLst/>
          </a:prstGeom>
          <a:noFill/>
          <a:ln/>
        </p:spPr>
        <p:txBody>
          <a:bodyPr wrap="square" lIns="0" tIns="0" rIns="0" bIns="0" rtlCol="0" anchor="ctr"/>
          <a:lstStyle/>
          <a:p>
            <a:pPr indent="0" marL="0">
              <a:buNone/>
            </a:pPr>
            <a:r>
              <a:rPr lang="en-US" sz="1900" b="1" dirty="0">
                <a:solidFill>
                  <a:srgbClr val="1E1E2E"/>
                </a:solidFill>
                <a:latin typeface="Calibri" pitchFamily="34" charset="0"/>
                <a:ea typeface="Calibri" pitchFamily="34" charset="-122"/>
                <a:cs typeface="Calibri" pitchFamily="34" charset="-120"/>
              </a:rPr>
              <a:t>12.4M</a:t>
            </a:r>
            <a:endParaRPr lang="en-US" sz="1900" dirty="0"/>
          </a:p>
        </p:txBody>
      </p:sp>
      <p:sp>
        <p:nvSpPr>
          <p:cNvPr id="13" name="Text 11"/>
          <p:cNvSpPr/>
          <p:nvPr/>
        </p:nvSpPr>
        <p:spPr>
          <a:xfrm>
            <a:off x="402336" y="1993392"/>
            <a:ext cx="1719072" cy="201168"/>
          </a:xfrm>
          <a:prstGeom prst="rect">
            <a:avLst/>
          </a:prstGeom>
          <a:noFill/>
          <a:ln/>
        </p:spPr>
        <p:txBody>
          <a:bodyPr wrap="square" lIns="0" tIns="0" rIns="0" bIns="0" rtlCol="0" anchor="ctr"/>
          <a:lstStyle/>
          <a:p>
            <a:pPr indent="0" marL="0">
              <a:buNone/>
            </a:pPr>
            <a:r>
              <a:rPr lang="en-US" sz="1000" dirty="0">
                <a:solidFill>
                  <a:srgbClr val="888888"/>
                </a:solidFill>
                <a:latin typeface="Calibri" pitchFamily="34" charset="0"/>
                <a:ea typeface="Calibri" pitchFamily="34" charset="-122"/>
                <a:cs typeface="Calibri" pitchFamily="34" charset="-120"/>
              </a:rPr>
              <a:t>Q4 2024 Regs</a:t>
            </a:r>
            <a:endParaRPr lang="en-US" sz="1000" dirty="0"/>
          </a:p>
        </p:txBody>
      </p:sp>
      <p:sp>
        <p:nvSpPr>
          <p:cNvPr id="14" name="Shape 12"/>
          <p:cNvSpPr/>
          <p:nvPr/>
        </p:nvSpPr>
        <p:spPr>
          <a:xfrm>
            <a:off x="2304288" y="1207008"/>
            <a:ext cx="1920240" cy="1143000"/>
          </a:xfrm>
          <a:prstGeom prst="rect">
            <a:avLst/>
          </a:prstGeom>
          <a:solidFill>
            <a:srgbClr val="FFFFFF"/>
          </a:solidFill>
          <a:ln w="6350">
            <a:solidFill>
              <a:srgbClr val="EEEEEE"/>
            </a:solidFill>
            <a:prstDash val="solid"/>
          </a:ln>
          <a:effectLst>
            <a:outerShdw sx="100000" sy="100000" kx="0" ky="0" algn="bl" rotWithShape="0" blurRad="101600" dist="38100" dir="8100000">
              <a:srgbClr val="000000">
                <a:alpha val="12000"/>
              </a:srgbClr>
            </a:outerShdw>
          </a:effectLst>
        </p:spPr>
      </p:sp>
      <p:sp>
        <p:nvSpPr>
          <p:cNvPr id="15" name="Shape 13"/>
          <p:cNvSpPr/>
          <p:nvPr/>
        </p:nvSpPr>
        <p:spPr>
          <a:xfrm>
            <a:off x="2304288" y="1207008"/>
            <a:ext cx="64008" cy="1143000"/>
          </a:xfrm>
          <a:prstGeom prst="rect">
            <a:avLst/>
          </a:prstGeom>
          <a:solidFill>
            <a:srgbClr val="00C48C"/>
          </a:solidFill>
          <a:ln/>
        </p:spPr>
      </p:sp>
      <p:sp>
        <p:nvSpPr>
          <p:cNvPr id="16" name="Text 14"/>
          <p:cNvSpPr/>
          <p:nvPr/>
        </p:nvSpPr>
        <p:spPr>
          <a:xfrm>
            <a:off x="2432304" y="1298448"/>
            <a:ext cx="457200" cy="347472"/>
          </a:xfrm>
          <a:prstGeom prst="rect">
            <a:avLst/>
          </a:prstGeom>
          <a:noFill/>
          <a:ln/>
        </p:spPr>
        <p:txBody>
          <a:bodyPr wrap="square" lIns="0" tIns="0" rIns="0" bIns="0" rtlCol="0" anchor="ctr"/>
          <a:lstStyle/>
          <a:p>
            <a:pPr indent="0" marL="0">
              <a:buNone/>
            </a:pPr>
            <a:r>
              <a:rPr lang="en-US" sz="1800" dirty="0">
                <a:solidFill>
                  <a:srgbClr val="000000"/>
                </a:solidFill>
              </a:rPr>
              <a:t>📈</a:t>
            </a:r>
            <a:endParaRPr lang="en-US" sz="1800" dirty="0"/>
          </a:p>
        </p:txBody>
      </p:sp>
      <p:sp>
        <p:nvSpPr>
          <p:cNvPr id="17" name="Text 15"/>
          <p:cNvSpPr/>
          <p:nvPr/>
        </p:nvSpPr>
        <p:spPr>
          <a:xfrm>
            <a:off x="2432304" y="1627632"/>
            <a:ext cx="1719072" cy="384048"/>
          </a:xfrm>
          <a:prstGeom prst="rect">
            <a:avLst/>
          </a:prstGeom>
          <a:noFill/>
          <a:ln/>
        </p:spPr>
        <p:txBody>
          <a:bodyPr wrap="square" lIns="0" tIns="0" rIns="0" bIns="0" rtlCol="0" anchor="ctr"/>
          <a:lstStyle/>
          <a:p>
            <a:pPr indent="0" marL="0">
              <a:buNone/>
            </a:pPr>
            <a:r>
              <a:rPr lang="en-US" sz="1900" b="1" dirty="0">
                <a:solidFill>
                  <a:srgbClr val="1E1E2E"/>
                </a:solidFill>
                <a:latin typeface="Calibri" pitchFamily="34" charset="0"/>
                <a:ea typeface="Calibri" pitchFamily="34" charset="-122"/>
                <a:cs typeface="Calibri" pitchFamily="34" charset="-120"/>
              </a:rPr>
              <a:t>+8.3%</a:t>
            </a:r>
            <a:endParaRPr lang="en-US" sz="1900" dirty="0"/>
          </a:p>
        </p:txBody>
      </p:sp>
      <p:sp>
        <p:nvSpPr>
          <p:cNvPr id="18" name="Text 16"/>
          <p:cNvSpPr/>
          <p:nvPr/>
        </p:nvSpPr>
        <p:spPr>
          <a:xfrm>
            <a:off x="2432304" y="1993392"/>
            <a:ext cx="1719072" cy="201168"/>
          </a:xfrm>
          <a:prstGeom prst="rect">
            <a:avLst/>
          </a:prstGeom>
          <a:noFill/>
          <a:ln/>
        </p:spPr>
        <p:txBody>
          <a:bodyPr wrap="square" lIns="0" tIns="0" rIns="0" bIns="0" rtlCol="0" anchor="ctr"/>
          <a:lstStyle/>
          <a:p>
            <a:pPr indent="0" marL="0">
              <a:buNone/>
            </a:pPr>
            <a:r>
              <a:rPr lang="en-US" sz="1000" dirty="0">
                <a:solidFill>
                  <a:srgbClr val="888888"/>
                </a:solidFill>
                <a:latin typeface="Calibri" pitchFamily="34" charset="0"/>
                <a:ea typeface="Calibri" pitchFamily="34" charset="-122"/>
                <a:cs typeface="Calibri" pitchFamily="34" charset="-120"/>
              </a:rPr>
              <a:t>QoQ Growth</a:t>
            </a:r>
            <a:endParaRPr lang="en-US" sz="1000" dirty="0"/>
          </a:p>
        </p:txBody>
      </p:sp>
      <p:sp>
        <p:nvSpPr>
          <p:cNvPr id="19" name="Shape 17"/>
          <p:cNvSpPr/>
          <p:nvPr/>
        </p:nvSpPr>
        <p:spPr>
          <a:xfrm>
            <a:off x="4334256" y="1207008"/>
            <a:ext cx="1920240" cy="1143000"/>
          </a:xfrm>
          <a:prstGeom prst="rect">
            <a:avLst/>
          </a:prstGeom>
          <a:solidFill>
            <a:srgbClr val="FFFFFF"/>
          </a:solidFill>
          <a:ln w="6350">
            <a:solidFill>
              <a:srgbClr val="EEEEEE"/>
            </a:solidFill>
            <a:prstDash val="solid"/>
          </a:ln>
          <a:effectLst>
            <a:outerShdw sx="100000" sy="100000" kx="0" ky="0" algn="bl" rotWithShape="0" blurRad="101600" dist="38100" dir="8100000">
              <a:srgbClr val="000000">
                <a:alpha val="12000"/>
              </a:srgbClr>
            </a:outerShdw>
          </a:effectLst>
        </p:spPr>
      </p:sp>
      <p:sp>
        <p:nvSpPr>
          <p:cNvPr id="20" name="Shape 18"/>
          <p:cNvSpPr/>
          <p:nvPr/>
        </p:nvSpPr>
        <p:spPr>
          <a:xfrm>
            <a:off x="4334256" y="1207008"/>
            <a:ext cx="64008" cy="1143000"/>
          </a:xfrm>
          <a:prstGeom prst="rect">
            <a:avLst/>
          </a:prstGeom>
          <a:solidFill>
            <a:srgbClr val="00B9F1"/>
          </a:solidFill>
          <a:ln/>
        </p:spPr>
      </p:sp>
      <p:sp>
        <p:nvSpPr>
          <p:cNvPr id="21" name="Text 19"/>
          <p:cNvSpPr/>
          <p:nvPr/>
        </p:nvSpPr>
        <p:spPr>
          <a:xfrm>
            <a:off x="4462272" y="1298448"/>
            <a:ext cx="457200" cy="347472"/>
          </a:xfrm>
          <a:prstGeom prst="rect">
            <a:avLst/>
          </a:prstGeom>
          <a:noFill/>
          <a:ln/>
        </p:spPr>
        <p:txBody>
          <a:bodyPr wrap="square" lIns="0" tIns="0" rIns="0" bIns="0" rtlCol="0" anchor="ctr"/>
          <a:lstStyle/>
          <a:p>
            <a:pPr indent="0" marL="0">
              <a:buNone/>
            </a:pPr>
            <a:r>
              <a:rPr lang="en-US" sz="1800" dirty="0">
                <a:solidFill>
                  <a:srgbClr val="000000"/>
                </a:solidFill>
              </a:rPr>
              <a:t>🏆</a:t>
            </a:r>
            <a:endParaRPr lang="en-US" sz="1800" dirty="0"/>
          </a:p>
        </p:txBody>
      </p:sp>
      <p:sp>
        <p:nvSpPr>
          <p:cNvPr id="22" name="Text 20"/>
          <p:cNvSpPr/>
          <p:nvPr/>
        </p:nvSpPr>
        <p:spPr>
          <a:xfrm>
            <a:off x="4462272" y="1627632"/>
            <a:ext cx="1719072" cy="384048"/>
          </a:xfrm>
          <a:prstGeom prst="rect">
            <a:avLst/>
          </a:prstGeom>
          <a:noFill/>
          <a:ln/>
        </p:spPr>
        <p:txBody>
          <a:bodyPr wrap="square" lIns="0" tIns="0" rIns="0" bIns="0" rtlCol="0" anchor="ctr"/>
          <a:lstStyle/>
          <a:p>
            <a:pPr indent="0" marL="0">
              <a:buNone/>
            </a:pPr>
            <a:r>
              <a:rPr lang="en-US" sz="1900" b="1" dirty="0">
                <a:solidFill>
                  <a:srgbClr val="1E1E2E"/>
                </a:solidFill>
                <a:latin typeface="Calibri" pitchFamily="34" charset="0"/>
                <a:ea typeface="Calibri" pitchFamily="34" charset="-122"/>
                <a:cs typeface="Calibri" pitchFamily="34" charset="-120"/>
              </a:rPr>
              <a:t>Maharashtra</a:t>
            </a:r>
            <a:endParaRPr lang="en-US" sz="1900" dirty="0"/>
          </a:p>
        </p:txBody>
      </p:sp>
      <p:sp>
        <p:nvSpPr>
          <p:cNvPr id="23" name="Text 21"/>
          <p:cNvSpPr/>
          <p:nvPr/>
        </p:nvSpPr>
        <p:spPr>
          <a:xfrm>
            <a:off x="4462272" y="1993392"/>
            <a:ext cx="1719072" cy="201168"/>
          </a:xfrm>
          <a:prstGeom prst="rect">
            <a:avLst/>
          </a:prstGeom>
          <a:noFill/>
          <a:ln/>
        </p:spPr>
        <p:txBody>
          <a:bodyPr wrap="square" lIns="0" tIns="0" rIns="0" bIns="0" rtlCol="0" anchor="ctr"/>
          <a:lstStyle/>
          <a:p>
            <a:pPr indent="0" marL="0">
              <a:buNone/>
            </a:pPr>
            <a:r>
              <a:rPr lang="en-US" sz="1000" dirty="0">
                <a:solidFill>
                  <a:srgbClr val="888888"/>
                </a:solidFill>
                <a:latin typeface="Calibri" pitchFamily="34" charset="0"/>
                <a:ea typeface="Calibri" pitchFamily="34" charset="-122"/>
                <a:cs typeface="Calibri" pitchFamily="34" charset="-120"/>
              </a:rPr>
              <a:t>Top Reg. State</a:t>
            </a:r>
            <a:endParaRPr lang="en-US" sz="1000" dirty="0"/>
          </a:p>
        </p:txBody>
      </p:sp>
      <p:sp>
        <p:nvSpPr>
          <p:cNvPr id="24" name="Shape 22"/>
          <p:cNvSpPr/>
          <p:nvPr/>
        </p:nvSpPr>
        <p:spPr>
          <a:xfrm>
            <a:off x="6364224" y="1207008"/>
            <a:ext cx="1920240" cy="1143000"/>
          </a:xfrm>
          <a:prstGeom prst="rect">
            <a:avLst/>
          </a:prstGeom>
          <a:solidFill>
            <a:srgbClr val="FFFFFF"/>
          </a:solidFill>
          <a:ln w="6350">
            <a:solidFill>
              <a:srgbClr val="EEEEEE"/>
            </a:solidFill>
            <a:prstDash val="solid"/>
          </a:ln>
          <a:effectLst>
            <a:outerShdw sx="100000" sy="100000" kx="0" ky="0" algn="bl" rotWithShape="0" blurRad="101600" dist="38100" dir="8100000">
              <a:srgbClr val="000000">
                <a:alpha val="12000"/>
              </a:srgbClr>
            </a:outerShdw>
          </a:effectLst>
        </p:spPr>
      </p:sp>
      <p:sp>
        <p:nvSpPr>
          <p:cNvPr id="25" name="Shape 23"/>
          <p:cNvSpPr/>
          <p:nvPr/>
        </p:nvSpPr>
        <p:spPr>
          <a:xfrm>
            <a:off x="6364224" y="1207008"/>
            <a:ext cx="64008" cy="1143000"/>
          </a:xfrm>
          <a:prstGeom prst="rect">
            <a:avLst/>
          </a:prstGeom>
          <a:solidFill>
            <a:srgbClr val="FF6B35"/>
          </a:solidFill>
          <a:ln/>
        </p:spPr>
      </p:sp>
      <p:sp>
        <p:nvSpPr>
          <p:cNvPr id="26" name="Text 24"/>
          <p:cNvSpPr/>
          <p:nvPr/>
        </p:nvSpPr>
        <p:spPr>
          <a:xfrm>
            <a:off x="6492240" y="1298448"/>
            <a:ext cx="457200" cy="347472"/>
          </a:xfrm>
          <a:prstGeom prst="rect">
            <a:avLst/>
          </a:prstGeom>
          <a:noFill/>
          <a:ln/>
        </p:spPr>
        <p:txBody>
          <a:bodyPr wrap="square" lIns="0" tIns="0" rIns="0" bIns="0" rtlCol="0" anchor="ctr"/>
          <a:lstStyle/>
          <a:p>
            <a:pPr indent="0" marL="0">
              <a:buNone/>
            </a:pPr>
            <a:r>
              <a:rPr lang="en-US" sz="1800" dirty="0">
                <a:solidFill>
                  <a:srgbClr val="000000"/>
                </a:solidFill>
              </a:rPr>
              <a:t>🔥</a:t>
            </a:r>
            <a:endParaRPr lang="en-US" sz="1800" dirty="0"/>
          </a:p>
        </p:txBody>
      </p:sp>
      <p:sp>
        <p:nvSpPr>
          <p:cNvPr id="27" name="Text 25"/>
          <p:cNvSpPr/>
          <p:nvPr/>
        </p:nvSpPr>
        <p:spPr>
          <a:xfrm>
            <a:off x="6492240" y="1627632"/>
            <a:ext cx="1719072" cy="384048"/>
          </a:xfrm>
          <a:prstGeom prst="rect">
            <a:avLst/>
          </a:prstGeom>
          <a:noFill/>
          <a:ln/>
        </p:spPr>
        <p:txBody>
          <a:bodyPr wrap="square" lIns="0" tIns="0" rIns="0" bIns="0" rtlCol="0" anchor="ctr"/>
          <a:lstStyle/>
          <a:p>
            <a:pPr indent="0" marL="0">
              <a:buNone/>
            </a:pPr>
            <a:r>
              <a:rPr lang="en-US" sz="1900" b="1" dirty="0">
                <a:solidFill>
                  <a:srgbClr val="1E1E2E"/>
                </a:solidFill>
                <a:latin typeface="Calibri" pitchFamily="34" charset="0"/>
                <a:ea typeface="Calibri" pitchFamily="34" charset="-122"/>
                <a:cs typeface="Calibri" pitchFamily="34" charset="-120"/>
              </a:rPr>
              <a:t>3 States</a:t>
            </a:r>
            <a:endParaRPr lang="en-US" sz="1900" dirty="0"/>
          </a:p>
        </p:txBody>
      </p:sp>
      <p:sp>
        <p:nvSpPr>
          <p:cNvPr id="28" name="Text 26"/>
          <p:cNvSpPr/>
          <p:nvPr/>
        </p:nvSpPr>
        <p:spPr>
          <a:xfrm>
            <a:off x="6492240" y="1993392"/>
            <a:ext cx="1719072" cy="201168"/>
          </a:xfrm>
          <a:prstGeom prst="rect">
            <a:avLst/>
          </a:prstGeom>
          <a:noFill/>
          <a:ln/>
        </p:spPr>
        <p:txBody>
          <a:bodyPr wrap="square" lIns="0" tIns="0" rIns="0" bIns="0" rtlCol="0" anchor="ctr"/>
          <a:lstStyle/>
          <a:p>
            <a:pPr indent="0" marL="0">
              <a:buNone/>
            </a:pPr>
            <a:r>
              <a:rPr lang="en-US" sz="1000" dirty="0">
                <a:solidFill>
                  <a:srgbClr val="888888"/>
                </a:solidFill>
                <a:latin typeface="Calibri" pitchFamily="34" charset="0"/>
                <a:ea typeface="Calibri" pitchFamily="34" charset="-122"/>
                <a:cs typeface="Calibri" pitchFamily="34" charset="-120"/>
              </a:rPr>
              <a:t>Hotspot Markets</a:t>
            </a:r>
            <a:endParaRPr lang="en-US" sz="1000" dirty="0"/>
          </a:p>
        </p:txBody>
      </p:sp>
      <p:sp>
        <p:nvSpPr>
          <p:cNvPr id="29" name="Shape 27"/>
          <p:cNvSpPr/>
          <p:nvPr/>
        </p:nvSpPr>
        <p:spPr>
          <a:xfrm>
            <a:off x="274320" y="2514600"/>
            <a:ext cx="2697480" cy="13258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30" name="Shape 28"/>
          <p:cNvSpPr/>
          <p:nvPr/>
        </p:nvSpPr>
        <p:spPr>
          <a:xfrm>
            <a:off x="274320" y="2514600"/>
            <a:ext cx="2697480" cy="347472"/>
          </a:xfrm>
          <a:prstGeom prst="rect">
            <a:avLst/>
          </a:prstGeom>
          <a:solidFill>
            <a:srgbClr val="7C3AED"/>
          </a:solidFill>
          <a:ln/>
        </p:spPr>
      </p:sp>
      <p:sp>
        <p:nvSpPr>
          <p:cNvPr id="31" name="Text 29"/>
          <p:cNvSpPr/>
          <p:nvPr/>
        </p:nvSpPr>
        <p:spPr>
          <a:xfrm>
            <a:off x="365760" y="2542032"/>
            <a:ext cx="25146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State Funnel Chart</a:t>
            </a:r>
            <a:endParaRPr lang="en-US" sz="1100" dirty="0"/>
          </a:p>
        </p:txBody>
      </p:sp>
      <p:sp>
        <p:nvSpPr>
          <p:cNvPr id="32" name="Text 30"/>
          <p:cNvSpPr/>
          <p:nvPr/>
        </p:nvSpPr>
        <p:spPr>
          <a:xfrm>
            <a:off x="365760" y="2926080"/>
            <a:ext cx="2514600" cy="822960"/>
          </a:xfrm>
          <a:prstGeom prst="rect">
            <a:avLst/>
          </a:prstGeom>
          <a:noFill/>
          <a:ln/>
        </p:spPr>
        <p:txBody>
          <a:bodyPr wrap="square" lIns="0" tIns="0" rIns="0" bIns="0" rtlCol="0" anchor="ctr"/>
          <a:lstStyle/>
          <a:p>
            <a:pPr indent="0" marL="0">
              <a:buNone/>
            </a:pPr>
            <a:r>
              <a:rPr lang="en-US" sz="1000" dirty="0">
                <a:solidFill>
                  <a:srgbClr val="444444"/>
                </a:solidFill>
                <a:latin typeface="Calibri" pitchFamily="34" charset="0"/>
                <a:ea typeface="Calibri" pitchFamily="34" charset="-122"/>
                <a:cs typeface="Calibri" pitchFamily="34" charset="-120"/>
              </a:rPr>
              <a:t>px.funnel chart (sorted desc) + horizontal bar side-by-side. Year/Quarter selector in sidebar drives both charts dynamically. Shows acquisition funnel narrowing.</a:t>
            </a:r>
            <a:endParaRPr lang="en-US" sz="1000" dirty="0"/>
          </a:p>
        </p:txBody>
      </p:sp>
      <p:sp>
        <p:nvSpPr>
          <p:cNvPr id="33" name="Shape 31"/>
          <p:cNvSpPr/>
          <p:nvPr/>
        </p:nvSpPr>
        <p:spPr>
          <a:xfrm>
            <a:off x="3090672" y="2514600"/>
            <a:ext cx="2697480" cy="13258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34" name="Shape 32"/>
          <p:cNvSpPr/>
          <p:nvPr/>
        </p:nvSpPr>
        <p:spPr>
          <a:xfrm>
            <a:off x="3090672" y="2514600"/>
            <a:ext cx="2697480" cy="347472"/>
          </a:xfrm>
          <a:prstGeom prst="rect">
            <a:avLst/>
          </a:prstGeom>
          <a:solidFill>
            <a:srgbClr val="00B9F1"/>
          </a:solidFill>
          <a:ln/>
        </p:spPr>
      </p:sp>
      <p:sp>
        <p:nvSpPr>
          <p:cNvPr id="35" name="Text 33"/>
          <p:cNvSpPr/>
          <p:nvPr/>
        </p:nvSpPr>
        <p:spPr>
          <a:xfrm>
            <a:off x="3182112" y="2542032"/>
            <a:ext cx="25146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District &amp; Pin Code Tables</a:t>
            </a:r>
            <a:endParaRPr lang="en-US" sz="1100" dirty="0"/>
          </a:p>
        </p:txBody>
      </p:sp>
      <p:sp>
        <p:nvSpPr>
          <p:cNvPr id="36" name="Text 34"/>
          <p:cNvSpPr/>
          <p:nvPr/>
        </p:nvSpPr>
        <p:spPr>
          <a:xfrm>
            <a:off x="3182112" y="2926080"/>
            <a:ext cx="2514600" cy="822960"/>
          </a:xfrm>
          <a:prstGeom prst="rect">
            <a:avLst/>
          </a:prstGeom>
          <a:noFill/>
          <a:ln/>
        </p:spPr>
        <p:txBody>
          <a:bodyPr wrap="square" lIns="0" tIns="0" rIns="0" bIns="0" rtlCol="0" anchor="ctr"/>
          <a:lstStyle/>
          <a:p>
            <a:pPr indent="0" marL="0">
              <a:buNone/>
            </a:pPr>
            <a:r>
              <a:rPr lang="en-US" sz="1000" dirty="0">
                <a:solidFill>
                  <a:srgbClr val="444444"/>
                </a:solidFill>
                <a:latin typeface="Calibri" pitchFamily="34" charset="0"/>
                <a:ea typeface="Calibri" pitchFamily="34" charset="-122"/>
                <a:cs typeface="Calibri" pitchFamily="34" charset="-120"/>
              </a:rPr>
              <a:t>Styled DataFrames with Purples gradient on registered_users column. Colour intensity = acquisition hotspot strength. Pin-code table enables hyper-local targeting.</a:t>
            </a:r>
            <a:endParaRPr lang="en-US" sz="1000" dirty="0"/>
          </a:p>
        </p:txBody>
      </p:sp>
      <p:sp>
        <p:nvSpPr>
          <p:cNvPr id="37" name="Shape 35"/>
          <p:cNvSpPr/>
          <p:nvPr/>
        </p:nvSpPr>
        <p:spPr>
          <a:xfrm>
            <a:off x="5907024" y="2514600"/>
            <a:ext cx="2962656" cy="13258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38" name="Shape 36"/>
          <p:cNvSpPr/>
          <p:nvPr/>
        </p:nvSpPr>
        <p:spPr>
          <a:xfrm>
            <a:off x="5907024" y="2514600"/>
            <a:ext cx="2962656" cy="347472"/>
          </a:xfrm>
          <a:prstGeom prst="rect">
            <a:avLst/>
          </a:prstGeom>
          <a:solidFill>
            <a:srgbClr val="00C48C"/>
          </a:solidFill>
          <a:ln/>
        </p:spPr>
      </p:sp>
      <p:sp>
        <p:nvSpPr>
          <p:cNvPr id="39" name="Text 37"/>
          <p:cNvSpPr/>
          <p:nvPr/>
        </p:nvSpPr>
        <p:spPr>
          <a:xfrm>
            <a:off x="5998464" y="2542032"/>
            <a:ext cx="2779776"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Growth Hotspot Heatmap</a:t>
            </a:r>
            <a:endParaRPr lang="en-US" sz="1100" dirty="0"/>
          </a:p>
        </p:txBody>
      </p:sp>
      <p:sp>
        <p:nvSpPr>
          <p:cNvPr id="40" name="Text 38"/>
          <p:cNvSpPr/>
          <p:nvPr/>
        </p:nvSpPr>
        <p:spPr>
          <a:xfrm>
            <a:off x="5998464" y="2926080"/>
            <a:ext cx="2779776" cy="822960"/>
          </a:xfrm>
          <a:prstGeom prst="rect">
            <a:avLst/>
          </a:prstGeom>
          <a:noFill/>
          <a:ln/>
        </p:spPr>
        <p:txBody>
          <a:bodyPr wrap="square" lIns="0" tIns="0" rIns="0" bIns="0" rtlCol="0" anchor="ctr"/>
          <a:lstStyle/>
          <a:p>
            <a:pPr indent="0" marL="0">
              <a:buNone/>
            </a:pPr>
            <a:r>
              <a:rPr lang="en-US" sz="1000" dirty="0">
                <a:solidFill>
                  <a:srgbClr val="444444"/>
                </a:solidFill>
                <a:latin typeface="Calibri" pitchFamily="34" charset="0"/>
                <a:ea typeface="Calibri" pitchFamily="34" charset="-122"/>
                <a:cs typeface="Calibri" pitchFamily="34" charset="-120"/>
              </a:rPr>
              <a:t>RdYlGn heatmap: rows=states, cols=quarters, values=QoQ growth %. States with acceleration visible in bright green — early signal for markets crossing into top tier.</a:t>
            </a:r>
            <a:endParaRPr lang="en-US" sz="1000" dirty="0"/>
          </a:p>
        </p:txBody>
      </p:sp>
      <p:sp>
        <p:nvSpPr>
          <p:cNvPr id="41" name="Shape 39"/>
          <p:cNvSpPr/>
          <p:nvPr/>
        </p:nvSpPr>
        <p:spPr>
          <a:xfrm>
            <a:off x="274320" y="3931920"/>
            <a:ext cx="8595360" cy="749808"/>
          </a:xfrm>
          <a:prstGeom prst="rect">
            <a:avLst/>
          </a:prstGeom>
          <a:solidFill>
            <a:srgbClr val="1E1E2E"/>
          </a:solidFill>
          <a:ln/>
        </p:spPr>
      </p:sp>
      <p:sp>
        <p:nvSpPr>
          <p:cNvPr id="42" name="Text 40"/>
          <p:cNvSpPr/>
          <p:nvPr/>
        </p:nvSpPr>
        <p:spPr>
          <a:xfrm>
            <a:off x="411480" y="3986784"/>
            <a:ext cx="8321040" cy="658368"/>
          </a:xfrm>
          <a:prstGeom prst="rect">
            <a:avLst/>
          </a:prstGeom>
          <a:noFill/>
          <a:ln/>
        </p:spPr>
        <p:txBody>
          <a:bodyPr wrap="square" lIns="0" tIns="0" rIns="0" bIns="0" rtlCol="0" anchor="ctr"/>
          <a:lstStyle/>
          <a:p>
            <a:pPr indent="0" marL="0">
              <a:buNone/>
            </a:pPr>
            <a:r>
              <a:rPr lang="en-US" sz="1050" b="1" dirty="0">
                <a:solidFill>
                  <a:srgbClr val="A78BFA"/>
                </a:solidFill>
                <a:latin typeface="Calibri" pitchFamily="34" charset="0"/>
                <a:ea typeface="Calibri" pitchFamily="34" charset="-122"/>
                <a:cs typeface="Calibri" pitchFamily="34" charset="-120"/>
              </a:rPr>
              <a:t>🔑 Key Findings:  </a:t>
            </a:r>
            <a:pPr indent="0" marL="0">
              <a:buNone/>
            </a:pPr>
            <a:r>
              <a:rPr lang="en-US" sz="1050" dirty="0">
                <a:solidFill>
                  <a:srgbClr val="FFFFFF"/>
                </a:solidFill>
                <a:latin typeface="Calibri" pitchFamily="34" charset="0"/>
                <a:ea typeface="Calibri" pitchFamily="34" charset="-122"/>
                <a:cs typeface="Calibri" pitchFamily="34" charset="-120"/>
              </a:rPr>
              <a:t>Pin-code data reveals hyper-local growth clusters invisible at state level.  |  </a:t>
            </a:r>
            <a:pPr indent="0" marL="0">
              <a:buNone/>
            </a:pPr>
            <a:r>
              <a:rPr lang="en-US" sz="1050" dirty="0">
                <a:solidFill>
                  <a:srgbClr val="FFFFFF"/>
                </a:solidFill>
                <a:latin typeface="Calibri" pitchFamily="34" charset="0"/>
                <a:ea typeface="Calibri" pitchFamily="34" charset="-122"/>
                <a:cs typeface="Calibri" pitchFamily="34" charset="-120"/>
              </a:rPr>
              <a:t>Q1 &amp; Q3 show highest registration momentum — prime windows for acquisition campaigns.  |  </a:t>
            </a:r>
            <a:pPr indent="0" marL="0">
              <a:buNone/>
            </a:pPr>
            <a:r>
              <a:rPr lang="en-US" sz="1050" dirty="0">
                <a:solidFill>
                  <a:srgbClr val="FFFFFF"/>
                </a:solidFill>
                <a:latin typeface="Calibri" pitchFamily="34" charset="0"/>
                <a:ea typeface="Calibri" pitchFamily="34" charset="-122"/>
                <a:cs typeface="Calibri" pitchFamily="34" charset="-120"/>
              </a:rPr>
              <a:t>3 states in Growth Hotspot zone expected to cross top-tier within 2 quarters — early investment recommended.</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1E2E"/>
          </a:solidFill>
          <a:ln/>
        </p:spPr>
      </p:sp>
      <p:sp>
        <p:nvSpPr>
          <p:cNvPr id="3" name="Shape 1"/>
          <p:cNvSpPr/>
          <p:nvPr/>
        </p:nvSpPr>
        <p:spPr>
          <a:xfrm>
            <a:off x="0" y="4828032"/>
            <a:ext cx="9144000" cy="315468"/>
          </a:xfrm>
          <a:prstGeom prst="rect">
            <a:avLst/>
          </a:prstGeom>
          <a:solidFill>
            <a:srgbClr val="5F2EEA">
              <a:alpha val="75000"/>
            </a:srgbClr>
          </a:solidFill>
          <a:ln/>
        </p:spPr>
      </p:sp>
      <p:sp>
        <p:nvSpPr>
          <p:cNvPr id="4" name="Text 2"/>
          <p:cNvSpPr/>
          <p:nvPr/>
        </p:nvSpPr>
        <p:spPr>
          <a:xfrm>
            <a:off x="274320" y="118872"/>
            <a:ext cx="8595360" cy="45720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Comparative Summary – All 5 Business Cases</a:t>
            </a:r>
            <a:endParaRPr lang="en-US" sz="2100" dirty="0"/>
          </a:p>
        </p:txBody>
      </p:sp>
      <p:sp>
        <p:nvSpPr>
          <p:cNvPr id="5" name="Text 3"/>
          <p:cNvSpPr/>
          <p:nvPr/>
        </p:nvSpPr>
        <p:spPr>
          <a:xfrm>
            <a:off x="182880" y="4846320"/>
            <a:ext cx="8778240" cy="237744"/>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PhonePe  •  5 Business Case Studies  •  13 / 18</a:t>
            </a:r>
            <a:endParaRPr lang="en-US" sz="900" dirty="0"/>
          </a:p>
        </p:txBody>
      </p:sp>
      <p:sp>
        <p:nvSpPr>
          <p:cNvPr id="6" name="Shape 4"/>
          <p:cNvSpPr/>
          <p:nvPr/>
        </p:nvSpPr>
        <p:spPr>
          <a:xfrm>
            <a:off x="228600" y="822960"/>
            <a:ext cx="1188720" cy="384048"/>
          </a:xfrm>
          <a:prstGeom prst="rect">
            <a:avLst/>
          </a:prstGeom>
          <a:solidFill>
            <a:srgbClr val="1E1E2E"/>
          </a:solidFill>
          <a:ln/>
        </p:spPr>
      </p:sp>
      <p:sp>
        <p:nvSpPr>
          <p:cNvPr id="7" name="Text 5"/>
          <p:cNvSpPr/>
          <p:nvPr/>
        </p:nvSpPr>
        <p:spPr>
          <a:xfrm>
            <a:off x="274320" y="822960"/>
            <a:ext cx="1115568" cy="38404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Case</a:t>
            </a:r>
            <a:endParaRPr lang="en-US" sz="1000" dirty="0"/>
          </a:p>
        </p:txBody>
      </p:sp>
      <p:sp>
        <p:nvSpPr>
          <p:cNvPr id="8" name="Shape 6"/>
          <p:cNvSpPr/>
          <p:nvPr/>
        </p:nvSpPr>
        <p:spPr>
          <a:xfrm>
            <a:off x="1417320" y="822960"/>
            <a:ext cx="1874520" cy="384048"/>
          </a:xfrm>
          <a:prstGeom prst="rect">
            <a:avLst/>
          </a:prstGeom>
          <a:solidFill>
            <a:srgbClr val="1E1E2E"/>
          </a:solidFill>
          <a:ln/>
        </p:spPr>
      </p:sp>
      <p:sp>
        <p:nvSpPr>
          <p:cNvPr id="9" name="Text 7"/>
          <p:cNvSpPr/>
          <p:nvPr/>
        </p:nvSpPr>
        <p:spPr>
          <a:xfrm>
            <a:off x="1463040" y="822960"/>
            <a:ext cx="1801368" cy="38404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Scenario</a:t>
            </a:r>
            <a:endParaRPr lang="en-US" sz="1000" dirty="0"/>
          </a:p>
        </p:txBody>
      </p:sp>
      <p:sp>
        <p:nvSpPr>
          <p:cNvPr id="10" name="Shape 8"/>
          <p:cNvSpPr/>
          <p:nvPr/>
        </p:nvSpPr>
        <p:spPr>
          <a:xfrm>
            <a:off x="3291840" y="822960"/>
            <a:ext cx="2103120" cy="384048"/>
          </a:xfrm>
          <a:prstGeom prst="rect">
            <a:avLst/>
          </a:prstGeom>
          <a:solidFill>
            <a:srgbClr val="1E1E2E"/>
          </a:solidFill>
          <a:ln/>
        </p:spPr>
      </p:sp>
      <p:sp>
        <p:nvSpPr>
          <p:cNvPr id="11" name="Text 9"/>
          <p:cNvSpPr/>
          <p:nvPr/>
        </p:nvSpPr>
        <p:spPr>
          <a:xfrm>
            <a:off x="3337560" y="822960"/>
            <a:ext cx="2029968" cy="38404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Key SQL Technique</a:t>
            </a:r>
            <a:endParaRPr lang="en-US" sz="1000" dirty="0"/>
          </a:p>
        </p:txBody>
      </p:sp>
      <p:sp>
        <p:nvSpPr>
          <p:cNvPr id="12" name="Shape 10"/>
          <p:cNvSpPr/>
          <p:nvPr/>
        </p:nvSpPr>
        <p:spPr>
          <a:xfrm>
            <a:off x="5394960" y="822960"/>
            <a:ext cx="1965960" cy="384048"/>
          </a:xfrm>
          <a:prstGeom prst="rect">
            <a:avLst/>
          </a:prstGeom>
          <a:solidFill>
            <a:srgbClr val="1E1E2E"/>
          </a:solidFill>
          <a:ln/>
        </p:spPr>
      </p:sp>
      <p:sp>
        <p:nvSpPr>
          <p:cNvPr id="13" name="Text 11"/>
          <p:cNvSpPr/>
          <p:nvPr/>
        </p:nvSpPr>
        <p:spPr>
          <a:xfrm>
            <a:off x="5440680" y="822960"/>
            <a:ext cx="1892808" cy="38404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Primary Chart</a:t>
            </a:r>
            <a:endParaRPr lang="en-US" sz="1000" dirty="0"/>
          </a:p>
        </p:txBody>
      </p:sp>
      <p:sp>
        <p:nvSpPr>
          <p:cNvPr id="14" name="Shape 12"/>
          <p:cNvSpPr/>
          <p:nvPr/>
        </p:nvSpPr>
        <p:spPr>
          <a:xfrm>
            <a:off x="7360920" y="822960"/>
            <a:ext cx="1280160" cy="384048"/>
          </a:xfrm>
          <a:prstGeom prst="rect">
            <a:avLst/>
          </a:prstGeom>
          <a:solidFill>
            <a:srgbClr val="1E1E2E"/>
          </a:solidFill>
          <a:ln/>
        </p:spPr>
      </p:sp>
      <p:sp>
        <p:nvSpPr>
          <p:cNvPr id="15" name="Text 13"/>
          <p:cNvSpPr/>
          <p:nvPr/>
        </p:nvSpPr>
        <p:spPr>
          <a:xfrm>
            <a:off x="7406640" y="822960"/>
            <a:ext cx="1207008" cy="38404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Top Insight</a:t>
            </a:r>
            <a:endParaRPr lang="en-US" sz="1000" dirty="0"/>
          </a:p>
        </p:txBody>
      </p:sp>
      <p:sp>
        <p:nvSpPr>
          <p:cNvPr id="16" name="Shape 14"/>
          <p:cNvSpPr/>
          <p:nvPr/>
        </p:nvSpPr>
        <p:spPr>
          <a:xfrm>
            <a:off x="228600" y="1261872"/>
            <a:ext cx="1188720" cy="640080"/>
          </a:xfrm>
          <a:prstGeom prst="rect">
            <a:avLst/>
          </a:prstGeom>
          <a:solidFill>
            <a:srgbClr val="EDE9FF"/>
          </a:solidFill>
          <a:ln w="3810">
            <a:solidFill>
              <a:srgbClr val="EEEEEE"/>
            </a:solidFill>
            <a:prstDash val="solid"/>
          </a:ln>
        </p:spPr>
      </p:sp>
      <p:sp>
        <p:nvSpPr>
          <p:cNvPr id="17" name="Text 15"/>
          <p:cNvSpPr/>
          <p:nvPr/>
        </p:nvSpPr>
        <p:spPr>
          <a:xfrm>
            <a:off x="283464" y="1298448"/>
            <a:ext cx="1097280" cy="585216"/>
          </a:xfrm>
          <a:prstGeom prst="rect">
            <a:avLst/>
          </a:prstGeom>
          <a:noFill/>
          <a:ln/>
        </p:spPr>
        <p:txBody>
          <a:bodyPr wrap="square" lIns="0" tIns="0" rIns="0" bIns="0" rtlCol="0" anchor="ctr"/>
          <a:lstStyle/>
          <a:p>
            <a:pPr indent="0" marL="0">
              <a:buNone/>
            </a:pPr>
            <a:r>
              <a:rPr lang="en-US" sz="900" dirty="0">
                <a:solidFill>
                  <a:srgbClr val="1E1E2E"/>
                </a:solidFill>
                <a:latin typeface="Calibri" pitchFamily="34" charset="0"/>
                <a:ea typeface="Calibri" pitchFamily="34" charset="-122"/>
                <a:cs typeface="Calibri" pitchFamily="34" charset="-120"/>
              </a:rPr>
              <a:t>BC1</a:t>
            </a:r>
            <a:endParaRPr lang="en-US" sz="900" dirty="0"/>
          </a:p>
          <a:p>
            <a:pPr indent="0" marL="0">
              <a:buNone/>
            </a:pPr>
            <a:r>
              <a:rPr lang="en-US" sz="900" dirty="0">
                <a:solidFill>
                  <a:srgbClr val="1E1E2E"/>
                </a:solidFill>
                <a:latin typeface="Calibri" pitchFamily="34" charset="0"/>
                <a:ea typeface="Calibri" pitchFamily="34" charset="-122"/>
                <a:cs typeface="Calibri" pitchFamily="34" charset="-120"/>
              </a:rPr>
              <a:t>Txn Dynamics</a:t>
            </a:r>
            <a:endParaRPr lang="en-US" sz="900" dirty="0"/>
          </a:p>
        </p:txBody>
      </p:sp>
      <p:sp>
        <p:nvSpPr>
          <p:cNvPr id="18" name="Shape 16"/>
          <p:cNvSpPr/>
          <p:nvPr/>
        </p:nvSpPr>
        <p:spPr>
          <a:xfrm>
            <a:off x="1417320" y="1261872"/>
            <a:ext cx="1874520" cy="640080"/>
          </a:xfrm>
          <a:prstGeom prst="rect">
            <a:avLst/>
          </a:prstGeom>
          <a:solidFill>
            <a:srgbClr val="FFFFFF"/>
          </a:solidFill>
          <a:ln w="3810">
            <a:solidFill>
              <a:srgbClr val="EEEEEE"/>
            </a:solidFill>
            <a:prstDash val="solid"/>
          </a:ln>
        </p:spPr>
      </p:sp>
      <p:sp>
        <p:nvSpPr>
          <p:cNvPr id="19" name="Text 17"/>
          <p:cNvSpPr/>
          <p:nvPr/>
        </p:nvSpPr>
        <p:spPr>
          <a:xfrm>
            <a:off x="1472184" y="1298448"/>
            <a:ext cx="1783080" cy="585216"/>
          </a:xfrm>
          <a:prstGeom prst="rect">
            <a:avLst/>
          </a:prstGeom>
          <a:noFill/>
          <a:ln/>
        </p:spPr>
        <p:txBody>
          <a:bodyPr wrap="square" lIns="0" tIns="0" rIns="0" bIns="0" rtlCol="0" anchor="ctr"/>
          <a:lstStyle/>
          <a:p>
            <a:pPr indent="0" marL="0">
              <a:buNone/>
            </a:pPr>
            <a:r>
              <a:rPr lang="en-US" sz="900" dirty="0">
                <a:solidFill>
                  <a:srgbClr val="1E1E2E"/>
                </a:solidFill>
                <a:latin typeface="Calibri" pitchFamily="34" charset="0"/>
                <a:ea typeface="Calibri" pitchFamily="34" charset="-122"/>
                <a:cs typeface="Calibri" pitchFamily="34" charset="-120"/>
              </a:rPr>
              <a:t>QoQ variations</a:t>
            </a:r>
            <a:endParaRPr lang="en-US" sz="900" dirty="0"/>
          </a:p>
          <a:p>
            <a:pPr indent="0" marL="0">
              <a:buNone/>
            </a:pPr>
            <a:r>
              <a:rPr lang="en-US" sz="900" dirty="0">
                <a:solidFill>
                  <a:srgbClr val="1E1E2E"/>
                </a:solidFill>
                <a:latin typeface="Calibri" pitchFamily="34" charset="0"/>
                <a:ea typeface="Calibri" pitchFamily="34" charset="-122"/>
                <a:cs typeface="Calibri" pitchFamily="34" charset="-120"/>
              </a:rPr>
              <a:t>across categories</a:t>
            </a:r>
            <a:endParaRPr lang="en-US" sz="900" dirty="0"/>
          </a:p>
          <a:p>
            <a:pPr indent="0" marL="0">
              <a:buNone/>
            </a:pPr>
            <a:r>
              <a:rPr lang="en-US" sz="900" dirty="0">
                <a:solidFill>
                  <a:srgbClr val="1E1E2E"/>
                </a:solidFill>
                <a:latin typeface="Calibri" pitchFamily="34" charset="0"/>
                <a:ea typeface="Calibri" pitchFamily="34" charset="-122"/>
                <a:cs typeface="Calibri" pitchFamily="34" charset="-120"/>
              </a:rPr>
              <a:t>&amp; states</a:t>
            </a:r>
            <a:endParaRPr lang="en-US" sz="900" dirty="0"/>
          </a:p>
        </p:txBody>
      </p:sp>
      <p:sp>
        <p:nvSpPr>
          <p:cNvPr id="20" name="Shape 18"/>
          <p:cNvSpPr/>
          <p:nvPr/>
        </p:nvSpPr>
        <p:spPr>
          <a:xfrm>
            <a:off x="3291840" y="1261872"/>
            <a:ext cx="2103120" cy="640080"/>
          </a:xfrm>
          <a:prstGeom prst="rect">
            <a:avLst/>
          </a:prstGeom>
          <a:solidFill>
            <a:srgbClr val="FFFFFF"/>
          </a:solidFill>
          <a:ln w="3810">
            <a:solidFill>
              <a:srgbClr val="EEEEEE"/>
            </a:solidFill>
            <a:prstDash val="solid"/>
          </a:ln>
        </p:spPr>
      </p:sp>
      <p:sp>
        <p:nvSpPr>
          <p:cNvPr id="21" name="Text 19"/>
          <p:cNvSpPr/>
          <p:nvPr/>
        </p:nvSpPr>
        <p:spPr>
          <a:xfrm>
            <a:off x="3346704" y="1298448"/>
            <a:ext cx="2011680" cy="585216"/>
          </a:xfrm>
          <a:prstGeom prst="rect">
            <a:avLst/>
          </a:prstGeom>
          <a:noFill/>
          <a:ln/>
        </p:spPr>
        <p:txBody>
          <a:bodyPr wrap="square" lIns="0" tIns="0" rIns="0" bIns="0" rtlCol="0" anchor="ctr"/>
          <a:lstStyle/>
          <a:p>
            <a:pPr indent="0" marL="0">
              <a:buNone/>
            </a:pPr>
            <a:r>
              <a:rPr lang="en-US" sz="900" dirty="0">
                <a:solidFill>
                  <a:srgbClr val="1E1E2E"/>
                </a:solidFill>
                <a:latin typeface="Calibri" pitchFamily="34" charset="0"/>
                <a:ea typeface="Calibri" pitchFamily="34" charset="-122"/>
                <a:cs typeface="Calibri" pitchFamily="34" charset="-120"/>
              </a:rPr>
              <a:t>LAG() window fn</a:t>
            </a:r>
            <a:endParaRPr lang="en-US" sz="900" dirty="0"/>
          </a:p>
          <a:p>
            <a:pPr indent="0" marL="0">
              <a:buNone/>
            </a:pPr>
            <a:r>
              <a:rPr lang="en-US" sz="900" dirty="0">
                <a:solidFill>
                  <a:srgbClr val="1E1E2E"/>
                </a:solidFill>
                <a:latin typeface="Calibri" pitchFamily="34" charset="0"/>
                <a:ea typeface="Calibri" pitchFamily="34" charset="-122"/>
                <a:cs typeface="Calibri" pitchFamily="34" charset="-120"/>
              </a:rPr>
              <a:t>for QoQ growth</a:t>
            </a:r>
            <a:endParaRPr lang="en-US" sz="900" dirty="0"/>
          </a:p>
          <a:p>
            <a:pPr indent="0" marL="0">
              <a:buNone/>
            </a:pPr>
            <a:r>
              <a:rPr lang="en-US" sz="900" dirty="0">
                <a:solidFill>
                  <a:srgbClr val="1E1E2E"/>
                </a:solidFill>
                <a:latin typeface="Calibri" pitchFamily="34" charset="0"/>
                <a:ea typeface="Calibri" pitchFamily="34" charset="-122"/>
                <a:cs typeface="Calibri" pitchFamily="34" charset="-120"/>
              </a:rPr>
              <a:t>State benchmarking</a:t>
            </a:r>
            <a:endParaRPr lang="en-US" sz="900" dirty="0"/>
          </a:p>
        </p:txBody>
      </p:sp>
      <p:sp>
        <p:nvSpPr>
          <p:cNvPr id="22" name="Shape 20"/>
          <p:cNvSpPr/>
          <p:nvPr/>
        </p:nvSpPr>
        <p:spPr>
          <a:xfrm>
            <a:off x="5394960" y="1261872"/>
            <a:ext cx="1965960" cy="640080"/>
          </a:xfrm>
          <a:prstGeom prst="rect">
            <a:avLst/>
          </a:prstGeom>
          <a:solidFill>
            <a:srgbClr val="FFFFFF"/>
          </a:solidFill>
          <a:ln w="3810">
            <a:solidFill>
              <a:srgbClr val="EEEEEE"/>
            </a:solidFill>
            <a:prstDash val="solid"/>
          </a:ln>
        </p:spPr>
      </p:sp>
      <p:sp>
        <p:nvSpPr>
          <p:cNvPr id="23" name="Text 21"/>
          <p:cNvSpPr/>
          <p:nvPr/>
        </p:nvSpPr>
        <p:spPr>
          <a:xfrm>
            <a:off x="5449824" y="1298448"/>
            <a:ext cx="1874520" cy="585216"/>
          </a:xfrm>
          <a:prstGeom prst="rect">
            <a:avLst/>
          </a:prstGeom>
          <a:noFill/>
          <a:ln/>
        </p:spPr>
        <p:txBody>
          <a:bodyPr wrap="square" lIns="0" tIns="0" rIns="0" bIns="0" rtlCol="0" anchor="ctr"/>
          <a:lstStyle/>
          <a:p>
            <a:pPr indent="0" marL="0">
              <a:buNone/>
            </a:pPr>
            <a:r>
              <a:rPr lang="en-US" sz="900" dirty="0">
                <a:solidFill>
                  <a:srgbClr val="1E1E2E"/>
                </a:solidFill>
                <a:latin typeface="Calibri" pitchFamily="34" charset="0"/>
                <a:ea typeface="Calibri" pitchFamily="34" charset="-122"/>
                <a:cs typeface="Calibri" pitchFamily="34" charset="-120"/>
              </a:rPr>
              <a:t>Multi-line chart</a:t>
            </a:r>
            <a:endParaRPr lang="en-US" sz="900" dirty="0"/>
          </a:p>
          <a:p>
            <a:pPr indent="0" marL="0">
              <a:buNone/>
            </a:pPr>
            <a:r>
              <a:rPr lang="en-US" sz="900" dirty="0">
                <a:solidFill>
                  <a:srgbClr val="1E1E2E"/>
                </a:solidFill>
                <a:latin typeface="Calibri" pitchFamily="34" charset="0"/>
                <a:ea typeface="Calibri" pitchFamily="34" charset="-122"/>
                <a:cs typeface="Calibri" pitchFamily="34" charset="-120"/>
              </a:rPr>
              <a:t>+ QoQ heatmap</a:t>
            </a:r>
            <a:endParaRPr lang="en-US" sz="900" dirty="0"/>
          </a:p>
          <a:p>
            <a:pPr indent="0" marL="0">
              <a:buNone/>
            </a:pPr>
            <a:r>
              <a:rPr lang="en-US" sz="900" dirty="0">
                <a:solidFill>
                  <a:srgbClr val="1E1E2E"/>
                </a:solidFill>
                <a:latin typeface="Calibri" pitchFamily="34" charset="0"/>
                <a:ea typeface="Calibri" pitchFamily="34" charset="-122"/>
                <a:cs typeface="Calibri" pitchFamily="34" charset="-120"/>
              </a:rPr>
              <a:t>+ State scatter</a:t>
            </a:r>
            <a:endParaRPr lang="en-US" sz="900" dirty="0"/>
          </a:p>
        </p:txBody>
      </p:sp>
      <p:sp>
        <p:nvSpPr>
          <p:cNvPr id="24" name="Shape 22"/>
          <p:cNvSpPr/>
          <p:nvPr/>
        </p:nvSpPr>
        <p:spPr>
          <a:xfrm>
            <a:off x="7360920" y="1261872"/>
            <a:ext cx="1280160" cy="640080"/>
          </a:xfrm>
          <a:prstGeom prst="rect">
            <a:avLst/>
          </a:prstGeom>
          <a:solidFill>
            <a:srgbClr val="FFFFFF"/>
          </a:solidFill>
          <a:ln w="3810">
            <a:solidFill>
              <a:srgbClr val="EEEEEE"/>
            </a:solidFill>
            <a:prstDash val="solid"/>
          </a:ln>
        </p:spPr>
      </p:sp>
      <p:sp>
        <p:nvSpPr>
          <p:cNvPr id="25" name="Text 23"/>
          <p:cNvSpPr/>
          <p:nvPr/>
        </p:nvSpPr>
        <p:spPr>
          <a:xfrm>
            <a:off x="7415784" y="1298448"/>
            <a:ext cx="1188720" cy="585216"/>
          </a:xfrm>
          <a:prstGeom prst="rect">
            <a:avLst/>
          </a:prstGeom>
          <a:noFill/>
          <a:ln/>
        </p:spPr>
        <p:txBody>
          <a:bodyPr wrap="square" lIns="0" tIns="0" rIns="0" bIns="0" rtlCol="0" anchor="ctr"/>
          <a:lstStyle/>
          <a:p>
            <a:pPr indent="0" marL="0">
              <a:buNone/>
            </a:pPr>
            <a:r>
              <a:rPr lang="en-US" sz="900" dirty="0">
                <a:solidFill>
                  <a:srgbClr val="1E1E2E"/>
                </a:solidFill>
                <a:latin typeface="Calibri" pitchFamily="34" charset="0"/>
                <a:ea typeface="Calibri" pitchFamily="34" charset="-122"/>
                <a:cs typeface="Calibri" pitchFamily="34" charset="-120"/>
              </a:rPr>
              <a:t>P2P leads volume;</a:t>
            </a:r>
            <a:endParaRPr lang="en-US" sz="900" dirty="0"/>
          </a:p>
          <a:p>
            <a:pPr indent="0" marL="0">
              <a:buNone/>
            </a:pPr>
            <a:r>
              <a:rPr lang="en-US" sz="900" dirty="0">
                <a:solidFill>
                  <a:srgbClr val="1E1E2E"/>
                </a:solidFill>
                <a:latin typeface="Calibri" pitchFamily="34" charset="0"/>
                <a:ea typeface="Calibri" pitchFamily="34" charset="-122"/>
                <a:cs typeface="Calibri" pitchFamily="34" charset="-120"/>
              </a:rPr>
              <a:t>Financial Svcs</a:t>
            </a:r>
            <a:endParaRPr lang="en-US" sz="900" dirty="0"/>
          </a:p>
          <a:p>
            <a:pPr indent="0" marL="0">
              <a:buNone/>
            </a:pPr>
            <a:r>
              <a:rPr lang="en-US" sz="900" dirty="0">
                <a:solidFill>
                  <a:srgbClr val="1E1E2E"/>
                </a:solidFill>
                <a:latin typeface="Calibri" pitchFamily="34" charset="0"/>
                <a:ea typeface="Calibri" pitchFamily="34" charset="-122"/>
                <a:cs typeface="Calibri" pitchFamily="34" charset="-120"/>
              </a:rPr>
              <a:t>highest avg ticket</a:t>
            </a:r>
            <a:endParaRPr lang="en-US" sz="900" dirty="0"/>
          </a:p>
        </p:txBody>
      </p:sp>
      <p:sp>
        <p:nvSpPr>
          <p:cNvPr id="26" name="Shape 24"/>
          <p:cNvSpPr/>
          <p:nvPr/>
        </p:nvSpPr>
        <p:spPr>
          <a:xfrm>
            <a:off x="228600" y="1938528"/>
            <a:ext cx="1188720" cy="640080"/>
          </a:xfrm>
          <a:prstGeom prst="rect">
            <a:avLst/>
          </a:prstGeom>
          <a:solidFill>
            <a:srgbClr val="E8F7FD"/>
          </a:solidFill>
          <a:ln w="3810">
            <a:solidFill>
              <a:srgbClr val="EEEEEE"/>
            </a:solidFill>
            <a:prstDash val="solid"/>
          </a:ln>
        </p:spPr>
      </p:sp>
      <p:sp>
        <p:nvSpPr>
          <p:cNvPr id="27" name="Text 25"/>
          <p:cNvSpPr/>
          <p:nvPr/>
        </p:nvSpPr>
        <p:spPr>
          <a:xfrm>
            <a:off x="283464" y="1975104"/>
            <a:ext cx="1097280" cy="585216"/>
          </a:xfrm>
          <a:prstGeom prst="rect">
            <a:avLst/>
          </a:prstGeom>
          <a:noFill/>
          <a:ln/>
        </p:spPr>
        <p:txBody>
          <a:bodyPr wrap="square" lIns="0" tIns="0" rIns="0" bIns="0" rtlCol="0" anchor="ctr"/>
          <a:lstStyle/>
          <a:p>
            <a:pPr indent="0" marL="0">
              <a:buNone/>
            </a:pPr>
            <a:r>
              <a:rPr lang="en-US" sz="900" dirty="0">
                <a:solidFill>
                  <a:srgbClr val="1E1E2E"/>
                </a:solidFill>
                <a:latin typeface="Calibri" pitchFamily="34" charset="0"/>
                <a:ea typeface="Calibri" pitchFamily="34" charset="-122"/>
                <a:cs typeface="Calibri" pitchFamily="34" charset="-120"/>
              </a:rPr>
              <a:t>BC2</a:t>
            </a:r>
            <a:endParaRPr lang="en-US" sz="900" dirty="0"/>
          </a:p>
          <a:p>
            <a:pPr indent="0" marL="0">
              <a:buNone/>
            </a:pPr>
            <a:r>
              <a:rPr lang="en-US" sz="900" dirty="0">
                <a:solidFill>
                  <a:srgbClr val="1E1E2E"/>
                </a:solidFill>
                <a:latin typeface="Calibri" pitchFamily="34" charset="0"/>
                <a:ea typeface="Calibri" pitchFamily="34" charset="-122"/>
                <a:cs typeface="Calibri" pitchFamily="34" charset="-120"/>
              </a:rPr>
              <a:t>Device</a:t>
            </a:r>
            <a:endParaRPr lang="en-US" sz="900" dirty="0"/>
          </a:p>
        </p:txBody>
      </p:sp>
      <p:sp>
        <p:nvSpPr>
          <p:cNvPr id="28" name="Shape 26"/>
          <p:cNvSpPr/>
          <p:nvPr/>
        </p:nvSpPr>
        <p:spPr>
          <a:xfrm>
            <a:off x="1417320" y="1938528"/>
            <a:ext cx="1874520" cy="640080"/>
          </a:xfrm>
          <a:prstGeom prst="rect">
            <a:avLst/>
          </a:prstGeom>
          <a:solidFill>
            <a:srgbClr val="FFFFFF"/>
          </a:solidFill>
          <a:ln w="3810">
            <a:solidFill>
              <a:srgbClr val="EEEEEE"/>
            </a:solidFill>
            <a:prstDash val="solid"/>
          </a:ln>
        </p:spPr>
      </p:sp>
      <p:sp>
        <p:nvSpPr>
          <p:cNvPr id="29" name="Text 27"/>
          <p:cNvSpPr/>
          <p:nvPr/>
        </p:nvSpPr>
        <p:spPr>
          <a:xfrm>
            <a:off x="1472184" y="1975104"/>
            <a:ext cx="1783080" cy="585216"/>
          </a:xfrm>
          <a:prstGeom prst="rect">
            <a:avLst/>
          </a:prstGeom>
          <a:noFill/>
          <a:ln/>
        </p:spPr>
        <p:txBody>
          <a:bodyPr wrap="square" lIns="0" tIns="0" rIns="0" bIns="0" rtlCol="0" anchor="ctr"/>
          <a:lstStyle/>
          <a:p>
            <a:pPr indent="0" marL="0">
              <a:buNone/>
            </a:pPr>
            <a:r>
              <a:rPr lang="en-US" sz="900" dirty="0">
                <a:solidFill>
                  <a:srgbClr val="1E1E2E"/>
                </a:solidFill>
                <a:latin typeface="Calibri" pitchFamily="34" charset="0"/>
                <a:ea typeface="Calibri" pitchFamily="34" charset="-122"/>
                <a:cs typeface="Calibri" pitchFamily="34" charset="-120"/>
              </a:rPr>
              <a:t>Brand dominance</a:t>
            </a:r>
            <a:endParaRPr lang="en-US" sz="900" dirty="0"/>
          </a:p>
          <a:p>
            <a:pPr indent="0" marL="0">
              <a:buNone/>
            </a:pPr>
            <a:r>
              <a:rPr lang="en-US" sz="900" dirty="0">
                <a:solidFill>
                  <a:srgbClr val="1E1E2E"/>
                </a:solidFill>
                <a:latin typeface="Calibri" pitchFamily="34" charset="0"/>
                <a:ea typeface="Calibri" pitchFamily="34" charset="-122"/>
                <a:cs typeface="Calibri" pitchFamily="34" charset="-120"/>
              </a:rPr>
              <a:t>&amp; engagement</a:t>
            </a:r>
            <a:endParaRPr lang="en-US" sz="900" dirty="0"/>
          </a:p>
          <a:p>
            <a:pPr indent="0" marL="0">
              <a:buNone/>
            </a:pPr>
            <a:r>
              <a:rPr lang="en-US" sz="900" dirty="0">
                <a:solidFill>
                  <a:srgbClr val="1E1E2E"/>
                </a:solidFill>
                <a:latin typeface="Calibri" pitchFamily="34" charset="0"/>
                <a:ea typeface="Calibri" pitchFamily="34" charset="-122"/>
                <a:cs typeface="Calibri" pitchFamily="34" charset="-120"/>
              </a:rPr>
              <a:t>gap by region</a:t>
            </a:r>
            <a:endParaRPr lang="en-US" sz="900" dirty="0"/>
          </a:p>
        </p:txBody>
      </p:sp>
      <p:sp>
        <p:nvSpPr>
          <p:cNvPr id="30" name="Shape 28"/>
          <p:cNvSpPr/>
          <p:nvPr/>
        </p:nvSpPr>
        <p:spPr>
          <a:xfrm>
            <a:off x="3291840" y="1938528"/>
            <a:ext cx="2103120" cy="640080"/>
          </a:xfrm>
          <a:prstGeom prst="rect">
            <a:avLst/>
          </a:prstGeom>
          <a:solidFill>
            <a:srgbClr val="FFFFFF"/>
          </a:solidFill>
          <a:ln w="3810">
            <a:solidFill>
              <a:srgbClr val="EEEEEE"/>
            </a:solidFill>
            <a:prstDash val="solid"/>
          </a:ln>
        </p:spPr>
      </p:sp>
      <p:sp>
        <p:nvSpPr>
          <p:cNvPr id="31" name="Text 29"/>
          <p:cNvSpPr/>
          <p:nvPr/>
        </p:nvSpPr>
        <p:spPr>
          <a:xfrm>
            <a:off x="3346704" y="1975104"/>
            <a:ext cx="2011680" cy="585216"/>
          </a:xfrm>
          <a:prstGeom prst="rect">
            <a:avLst/>
          </a:prstGeom>
          <a:noFill/>
          <a:ln/>
        </p:spPr>
        <p:txBody>
          <a:bodyPr wrap="square" lIns="0" tIns="0" rIns="0" bIns="0" rtlCol="0" anchor="ctr"/>
          <a:lstStyle/>
          <a:p>
            <a:pPr indent="0" marL="0">
              <a:buNone/>
            </a:pPr>
            <a:r>
              <a:rPr lang="en-US" sz="900" dirty="0">
                <a:solidFill>
                  <a:srgbClr val="1E1E2E"/>
                </a:solidFill>
                <a:latin typeface="Calibri" pitchFamily="34" charset="0"/>
                <a:ea typeface="Calibri" pitchFamily="34" charset="-122"/>
                <a:cs typeface="Calibri" pitchFamily="34" charset="-120"/>
              </a:rPr>
              <a:t>Market share %</a:t>
            </a:r>
            <a:endParaRPr lang="en-US" sz="900" dirty="0"/>
          </a:p>
          <a:p>
            <a:pPr indent="0" marL="0">
              <a:buNone/>
            </a:pPr>
            <a:r>
              <a:rPr lang="en-US" sz="900" dirty="0">
                <a:solidFill>
                  <a:srgbClr val="1E1E2E"/>
                </a:solidFill>
                <a:latin typeface="Calibri" pitchFamily="34" charset="0"/>
                <a:ea typeface="Calibri" pitchFamily="34" charset="-122"/>
                <a:cs typeface="Calibri" pitchFamily="34" charset="-120"/>
              </a:rPr>
              <a:t>with OVER() window;</a:t>
            </a:r>
            <a:endParaRPr lang="en-US" sz="900" dirty="0"/>
          </a:p>
          <a:p>
            <a:pPr indent="0" marL="0">
              <a:buNone/>
            </a:pPr>
            <a:r>
              <a:rPr lang="en-US" sz="900" dirty="0">
                <a:solidFill>
                  <a:srgbClr val="1E1E2E"/>
                </a:solidFill>
                <a:latin typeface="Calibri" pitchFamily="34" charset="0"/>
                <a:ea typeface="Calibri" pitchFamily="34" charset="-122"/>
                <a:cs typeface="Calibri" pitchFamily="34" charset="-120"/>
              </a:rPr>
              <a:t>Underutilised filter</a:t>
            </a:r>
            <a:endParaRPr lang="en-US" sz="900" dirty="0"/>
          </a:p>
        </p:txBody>
      </p:sp>
      <p:sp>
        <p:nvSpPr>
          <p:cNvPr id="32" name="Shape 30"/>
          <p:cNvSpPr/>
          <p:nvPr/>
        </p:nvSpPr>
        <p:spPr>
          <a:xfrm>
            <a:off x="5394960" y="1938528"/>
            <a:ext cx="1965960" cy="640080"/>
          </a:xfrm>
          <a:prstGeom prst="rect">
            <a:avLst/>
          </a:prstGeom>
          <a:solidFill>
            <a:srgbClr val="FFFFFF"/>
          </a:solidFill>
          <a:ln w="3810">
            <a:solidFill>
              <a:srgbClr val="EEEEEE"/>
            </a:solidFill>
            <a:prstDash val="solid"/>
          </a:ln>
        </p:spPr>
      </p:sp>
      <p:sp>
        <p:nvSpPr>
          <p:cNvPr id="33" name="Text 31"/>
          <p:cNvSpPr/>
          <p:nvPr/>
        </p:nvSpPr>
        <p:spPr>
          <a:xfrm>
            <a:off x="5449824" y="1975104"/>
            <a:ext cx="1874520" cy="585216"/>
          </a:xfrm>
          <a:prstGeom prst="rect">
            <a:avLst/>
          </a:prstGeom>
          <a:noFill/>
          <a:ln/>
        </p:spPr>
        <p:txBody>
          <a:bodyPr wrap="square" lIns="0" tIns="0" rIns="0" bIns="0" rtlCol="0" anchor="ctr"/>
          <a:lstStyle/>
          <a:p>
            <a:pPr indent="0" marL="0">
              <a:buNone/>
            </a:pPr>
            <a:r>
              <a:rPr lang="en-US" sz="900" dirty="0">
                <a:solidFill>
                  <a:srgbClr val="1E1E2E"/>
                </a:solidFill>
                <a:latin typeface="Calibri" pitchFamily="34" charset="0"/>
                <a:ea typeface="Calibri" pitchFamily="34" charset="-122"/>
                <a:cs typeface="Calibri" pitchFamily="34" charset="-120"/>
              </a:rPr>
              <a:t>Donut pie +</a:t>
            </a:r>
            <a:endParaRPr lang="en-US" sz="900" dirty="0"/>
          </a:p>
          <a:p>
            <a:pPr indent="0" marL="0">
              <a:buNone/>
            </a:pPr>
            <a:r>
              <a:rPr lang="en-US" sz="900" dirty="0">
                <a:solidFill>
                  <a:srgbClr val="1E1E2E"/>
                </a:solidFill>
                <a:latin typeface="Calibri" pitchFamily="34" charset="0"/>
                <a:ea typeface="Calibri" pitchFamily="34" charset="-122"/>
                <a:cs typeface="Calibri" pitchFamily="34" charset="-120"/>
              </a:rPr>
              <a:t>Heatmap +</a:t>
            </a:r>
            <a:endParaRPr lang="en-US" sz="900" dirty="0"/>
          </a:p>
          <a:p>
            <a:pPr indent="0" marL="0">
              <a:buNone/>
            </a:pPr>
            <a:r>
              <a:rPr lang="en-US" sz="900" dirty="0">
                <a:solidFill>
                  <a:srgbClr val="1E1E2E"/>
                </a:solidFill>
                <a:latin typeface="Calibri" pitchFamily="34" charset="0"/>
                <a:ea typeface="Calibri" pitchFamily="34" charset="-122"/>
                <a:cs typeface="Calibri" pitchFamily="34" charset="-120"/>
              </a:rPr>
              <a:t>Underutilisation scatter</a:t>
            </a:r>
            <a:endParaRPr lang="en-US" sz="900" dirty="0"/>
          </a:p>
        </p:txBody>
      </p:sp>
      <p:sp>
        <p:nvSpPr>
          <p:cNvPr id="34" name="Shape 32"/>
          <p:cNvSpPr/>
          <p:nvPr/>
        </p:nvSpPr>
        <p:spPr>
          <a:xfrm>
            <a:off x="7360920" y="1938528"/>
            <a:ext cx="1280160" cy="640080"/>
          </a:xfrm>
          <a:prstGeom prst="rect">
            <a:avLst/>
          </a:prstGeom>
          <a:solidFill>
            <a:srgbClr val="FFFFFF"/>
          </a:solidFill>
          <a:ln w="3810">
            <a:solidFill>
              <a:srgbClr val="EEEEEE"/>
            </a:solidFill>
            <a:prstDash val="solid"/>
          </a:ln>
        </p:spPr>
      </p:sp>
      <p:sp>
        <p:nvSpPr>
          <p:cNvPr id="35" name="Text 33"/>
          <p:cNvSpPr/>
          <p:nvPr/>
        </p:nvSpPr>
        <p:spPr>
          <a:xfrm>
            <a:off x="7415784" y="1975104"/>
            <a:ext cx="1188720" cy="585216"/>
          </a:xfrm>
          <a:prstGeom prst="rect">
            <a:avLst/>
          </a:prstGeom>
          <a:noFill/>
          <a:ln/>
        </p:spPr>
        <p:txBody>
          <a:bodyPr wrap="square" lIns="0" tIns="0" rIns="0" bIns="0" rtlCol="0" anchor="ctr"/>
          <a:lstStyle/>
          <a:p>
            <a:pPr indent="0" marL="0">
              <a:buNone/>
            </a:pPr>
            <a:r>
              <a:rPr lang="en-US" sz="900" dirty="0">
                <a:solidFill>
                  <a:srgbClr val="1E1E2E"/>
                </a:solidFill>
                <a:latin typeface="Calibri" pitchFamily="34" charset="0"/>
                <a:ea typeface="Calibri" pitchFamily="34" charset="-122"/>
                <a:cs typeface="Calibri" pitchFamily="34" charset="-120"/>
              </a:rPr>
              <a:t>Samsung+Xiaomi=52%;</a:t>
            </a:r>
            <a:endParaRPr lang="en-US" sz="900" dirty="0"/>
          </a:p>
          <a:p>
            <a:pPr indent="0" marL="0">
              <a:buNone/>
            </a:pPr>
            <a:r>
              <a:rPr lang="en-US" sz="900" dirty="0">
                <a:solidFill>
                  <a:srgbClr val="1E1E2E"/>
                </a:solidFill>
                <a:latin typeface="Calibri" pitchFamily="34" charset="0"/>
                <a:ea typeface="Calibri" pitchFamily="34" charset="-122"/>
                <a:cs typeface="Calibri" pitchFamily="34" charset="-120"/>
              </a:rPr>
              <a:t>4 states</a:t>
            </a:r>
            <a:endParaRPr lang="en-US" sz="900" dirty="0"/>
          </a:p>
          <a:p>
            <a:pPr indent="0" marL="0">
              <a:buNone/>
            </a:pPr>
            <a:r>
              <a:rPr lang="en-US" sz="900" dirty="0">
                <a:solidFill>
                  <a:srgbClr val="1E1E2E"/>
                </a:solidFill>
                <a:latin typeface="Calibri" pitchFamily="34" charset="0"/>
                <a:ea typeface="Calibri" pitchFamily="34" charset="-122"/>
                <a:cs typeface="Calibri" pitchFamily="34" charset="-120"/>
              </a:rPr>
              <a:t>engagement &lt;2x</a:t>
            </a:r>
            <a:endParaRPr lang="en-US" sz="900" dirty="0"/>
          </a:p>
        </p:txBody>
      </p:sp>
      <p:sp>
        <p:nvSpPr>
          <p:cNvPr id="36" name="Shape 34"/>
          <p:cNvSpPr/>
          <p:nvPr/>
        </p:nvSpPr>
        <p:spPr>
          <a:xfrm>
            <a:off x="228600" y="2615184"/>
            <a:ext cx="1188720" cy="640080"/>
          </a:xfrm>
          <a:prstGeom prst="rect">
            <a:avLst/>
          </a:prstGeom>
          <a:solidFill>
            <a:srgbClr val="FFF3E0"/>
          </a:solidFill>
          <a:ln w="3810">
            <a:solidFill>
              <a:srgbClr val="EEEEEE"/>
            </a:solidFill>
            <a:prstDash val="solid"/>
          </a:ln>
        </p:spPr>
      </p:sp>
      <p:sp>
        <p:nvSpPr>
          <p:cNvPr id="37" name="Text 35"/>
          <p:cNvSpPr/>
          <p:nvPr/>
        </p:nvSpPr>
        <p:spPr>
          <a:xfrm>
            <a:off x="283464" y="2651760"/>
            <a:ext cx="1097280" cy="585216"/>
          </a:xfrm>
          <a:prstGeom prst="rect">
            <a:avLst/>
          </a:prstGeom>
          <a:noFill/>
          <a:ln/>
        </p:spPr>
        <p:txBody>
          <a:bodyPr wrap="square" lIns="0" tIns="0" rIns="0" bIns="0" rtlCol="0" anchor="ctr"/>
          <a:lstStyle/>
          <a:p>
            <a:pPr indent="0" marL="0">
              <a:buNone/>
            </a:pPr>
            <a:r>
              <a:rPr lang="en-US" sz="900" dirty="0">
                <a:solidFill>
                  <a:srgbClr val="1E1E2E"/>
                </a:solidFill>
                <a:latin typeface="Calibri" pitchFamily="34" charset="0"/>
                <a:ea typeface="Calibri" pitchFamily="34" charset="-122"/>
                <a:cs typeface="Calibri" pitchFamily="34" charset="-120"/>
              </a:rPr>
              <a:t>BC3</a:t>
            </a:r>
            <a:endParaRPr lang="en-US" sz="900" dirty="0"/>
          </a:p>
          <a:p>
            <a:pPr indent="0" marL="0">
              <a:buNone/>
            </a:pPr>
            <a:r>
              <a:rPr lang="en-US" sz="900" dirty="0">
                <a:solidFill>
                  <a:srgbClr val="1E1E2E"/>
                </a:solidFill>
                <a:latin typeface="Calibri" pitchFamily="34" charset="0"/>
                <a:ea typeface="Calibri" pitchFamily="34" charset="-122"/>
                <a:cs typeface="Calibri" pitchFamily="34" charset="-120"/>
              </a:rPr>
              <a:t>Insurance</a:t>
            </a:r>
            <a:endParaRPr lang="en-US" sz="900" dirty="0"/>
          </a:p>
        </p:txBody>
      </p:sp>
      <p:sp>
        <p:nvSpPr>
          <p:cNvPr id="38" name="Shape 36"/>
          <p:cNvSpPr/>
          <p:nvPr/>
        </p:nvSpPr>
        <p:spPr>
          <a:xfrm>
            <a:off x="1417320" y="2615184"/>
            <a:ext cx="1874520" cy="640080"/>
          </a:xfrm>
          <a:prstGeom prst="rect">
            <a:avLst/>
          </a:prstGeom>
          <a:solidFill>
            <a:srgbClr val="FFFFFF"/>
          </a:solidFill>
          <a:ln w="3810">
            <a:solidFill>
              <a:srgbClr val="EEEEEE"/>
            </a:solidFill>
            <a:prstDash val="solid"/>
          </a:ln>
        </p:spPr>
      </p:sp>
      <p:sp>
        <p:nvSpPr>
          <p:cNvPr id="39" name="Text 37"/>
          <p:cNvSpPr/>
          <p:nvPr/>
        </p:nvSpPr>
        <p:spPr>
          <a:xfrm>
            <a:off x="1472184" y="2651760"/>
            <a:ext cx="1783080" cy="585216"/>
          </a:xfrm>
          <a:prstGeom prst="rect">
            <a:avLst/>
          </a:prstGeom>
          <a:noFill/>
          <a:ln/>
        </p:spPr>
        <p:txBody>
          <a:bodyPr wrap="square" lIns="0" tIns="0" rIns="0" bIns="0" rtlCol="0" anchor="ctr"/>
          <a:lstStyle/>
          <a:p>
            <a:pPr indent="0" marL="0">
              <a:buNone/>
            </a:pPr>
            <a:r>
              <a:rPr lang="en-US" sz="900" dirty="0">
                <a:solidFill>
                  <a:srgbClr val="1E1E2E"/>
                </a:solidFill>
                <a:latin typeface="Calibri" pitchFamily="34" charset="0"/>
                <a:ea typeface="Calibri" pitchFamily="34" charset="-122"/>
                <a:cs typeface="Calibri" pitchFamily="34" charset="-120"/>
              </a:rPr>
              <a:t>Penetration &amp;</a:t>
            </a:r>
            <a:endParaRPr lang="en-US" sz="900" dirty="0"/>
          </a:p>
          <a:p>
            <a:pPr indent="0" marL="0">
              <a:buNone/>
            </a:pPr>
            <a:r>
              <a:rPr lang="en-US" sz="900" dirty="0">
                <a:solidFill>
                  <a:srgbClr val="1E1E2E"/>
                </a:solidFill>
                <a:latin typeface="Calibri" pitchFamily="34" charset="0"/>
                <a:ea typeface="Calibri" pitchFamily="34" charset="-122"/>
                <a:cs typeface="Calibri" pitchFamily="34" charset="-120"/>
              </a:rPr>
              <a:t>growth potential</a:t>
            </a:r>
            <a:endParaRPr lang="en-US" sz="900" dirty="0"/>
          </a:p>
          <a:p>
            <a:pPr indent="0" marL="0">
              <a:buNone/>
            </a:pPr>
            <a:r>
              <a:rPr lang="en-US" sz="900" dirty="0">
                <a:solidFill>
                  <a:srgbClr val="1E1E2E"/>
                </a:solidFill>
                <a:latin typeface="Calibri" pitchFamily="34" charset="0"/>
                <a:ea typeface="Calibri" pitchFamily="34" charset="-122"/>
                <a:cs typeface="Calibri" pitchFamily="34" charset="-120"/>
              </a:rPr>
              <a:t>by state</a:t>
            </a:r>
            <a:endParaRPr lang="en-US" sz="900" dirty="0"/>
          </a:p>
        </p:txBody>
      </p:sp>
      <p:sp>
        <p:nvSpPr>
          <p:cNvPr id="40" name="Shape 38"/>
          <p:cNvSpPr/>
          <p:nvPr/>
        </p:nvSpPr>
        <p:spPr>
          <a:xfrm>
            <a:off x="3291840" y="2615184"/>
            <a:ext cx="2103120" cy="640080"/>
          </a:xfrm>
          <a:prstGeom prst="rect">
            <a:avLst/>
          </a:prstGeom>
          <a:solidFill>
            <a:srgbClr val="FFFFFF"/>
          </a:solidFill>
          <a:ln w="3810">
            <a:solidFill>
              <a:srgbClr val="EEEEEE"/>
            </a:solidFill>
            <a:prstDash val="solid"/>
          </a:ln>
        </p:spPr>
      </p:sp>
      <p:sp>
        <p:nvSpPr>
          <p:cNvPr id="41" name="Text 39"/>
          <p:cNvSpPr/>
          <p:nvPr/>
        </p:nvSpPr>
        <p:spPr>
          <a:xfrm>
            <a:off x="3346704" y="2651760"/>
            <a:ext cx="2011680" cy="585216"/>
          </a:xfrm>
          <a:prstGeom prst="rect">
            <a:avLst/>
          </a:prstGeom>
          <a:noFill/>
          <a:ln/>
        </p:spPr>
        <p:txBody>
          <a:bodyPr wrap="square" lIns="0" tIns="0" rIns="0" bIns="0" rtlCol="0" anchor="ctr"/>
          <a:lstStyle/>
          <a:p>
            <a:pPr indent="0" marL="0">
              <a:buNone/>
            </a:pPr>
            <a:r>
              <a:rPr lang="en-US" sz="900" dirty="0">
                <a:solidFill>
                  <a:srgbClr val="1E1E2E"/>
                </a:solidFill>
                <a:latin typeface="Calibri" pitchFamily="34" charset="0"/>
                <a:ea typeface="Calibri" pitchFamily="34" charset="-122"/>
                <a:cs typeface="Calibri" pitchFamily="34" charset="-120"/>
              </a:rPr>
              <a:t>Penetration rate =</a:t>
            </a:r>
            <a:endParaRPr lang="en-US" sz="900" dirty="0"/>
          </a:p>
          <a:p>
            <a:pPr indent="0" marL="0">
              <a:buNone/>
            </a:pPr>
            <a:r>
              <a:rPr lang="en-US" sz="900" dirty="0">
                <a:solidFill>
                  <a:srgbClr val="1E1E2E"/>
                </a:solidFill>
                <a:latin typeface="Calibri" pitchFamily="34" charset="0"/>
                <a:ea typeface="Calibri" pitchFamily="34" charset="-122"/>
                <a:cs typeface="Calibri" pitchFamily="34" charset="-120"/>
              </a:rPr>
              <a:t>policies/users;</a:t>
            </a:r>
            <a:endParaRPr lang="en-US" sz="900" dirty="0"/>
          </a:p>
          <a:p>
            <a:pPr indent="0" marL="0">
              <a:buNone/>
            </a:pPr>
            <a:r>
              <a:rPr lang="en-US" sz="900" dirty="0">
                <a:solidFill>
                  <a:srgbClr val="1E1E2E"/>
                </a:solidFill>
                <a:latin typeface="Calibri" pitchFamily="34" charset="0"/>
                <a:ea typeface="Calibri" pitchFamily="34" charset="-122"/>
                <a:cs typeface="Calibri" pitchFamily="34" charset="-120"/>
              </a:rPr>
              <a:t>Opportunity score</a:t>
            </a:r>
            <a:endParaRPr lang="en-US" sz="900" dirty="0"/>
          </a:p>
        </p:txBody>
      </p:sp>
      <p:sp>
        <p:nvSpPr>
          <p:cNvPr id="42" name="Shape 40"/>
          <p:cNvSpPr/>
          <p:nvPr/>
        </p:nvSpPr>
        <p:spPr>
          <a:xfrm>
            <a:off x="5394960" y="2615184"/>
            <a:ext cx="1965960" cy="640080"/>
          </a:xfrm>
          <a:prstGeom prst="rect">
            <a:avLst/>
          </a:prstGeom>
          <a:solidFill>
            <a:srgbClr val="FFFFFF"/>
          </a:solidFill>
          <a:ln w="3810">
            <a:solidFill>
              <a:srgbClr val="EEEEEE"/>
            </a:solidFill>
            <a:prstDash val="solid"/>
          </a:ln>
        </p:spPr>
      </p:sp>
      <p:sp>
        <p:nvSpPr>
          <p:cNvPr id="43" name="Text 41"/>
          <p:cNvSpPr/>
          <p:nvPr/>
        </p:nvSpPr>
        <p:spPr>
          <a:xfrm>
            <a:off x="5449824" y="2651760"/>
            <a:ext cx="1874520" cy="585216"/>
          </a:xfrm>
          <a:prstGeom prst="rect">
            <a:avLst/>
          </a:prstGeom>
          <a:noFill/>
          <a:ln/>
        </p:spPr>
        <p:txBody>
          <a:bodyPr wrap="square" lIns="0" tIns="0" rIns="0" bIns="0" rtlCol="0" anchor="ctr"/>
          <a:lstStyle/>
          <a:p>
            <a:pPr indent="0" marL="0">
              <a:buNone/>
            </a:pPr>
            <a:r>
              <a:rPr lang="en-US" sz="900" dirty="0">
                <a:solidFill>
                  <a:srgbClr val="1E1E2E"/>
                </a:solidFill>
                <a:latin typeface="Calibri" pitchFamily="34" charset="0"/>
                <a:ea typeface="Calibri" pitchFamily="34" charset="-122"/>
                <a:cs typeface="Calibri" pitchFamily="34" charset="-120"/>
              </a:rPr>
              <a:t>Penetration bar</a:t>
            </a:r>
            <a:endParaRPr lang="en-US" sz="900" dirty="0"/>
          </a:p>
          <a:p>
            <a:pPr indent="0" marL="0">
              <a:buNone/>
            </a:pPr>
            <a:r>
              <a:rPr lang="en-US" sz="900" dirty="0">
                <a:solidFill>
                  <a:srgbClr val="1E1E2E"/>
                </a:solidFill>
                <a:latin typeface="Calibri" pitchFamily="34" charset="0"/>
                <a:ea typeface="Calibri" pitchFamily="34" charset="-122"/>
                <a:cs typeface="Calibri" pitchFamily="34" charset="-120"/>
              </a:rPr>
              <a:t>+ Dual-axis trend</a:t>
            </a:r>
            <a:endParaRPr lang="en-US" sz="900" dirty="0"/>
          </a:p>
          <a:p>
            <a:pPr indent="0" marL="0">
              <a:buNone/>
            </a:pPr>
            <a:r>
              <a:rPr lang="en-US" sz="900" dirty="0">
                <a:solidFill>
                  <a:srgbClr val="1E1E2E"/>
                </a:solidFill>
                <a:latin typeface="Calibri" pitchFamily="34" charset="0"/>
                <a:ea typeface="Calibri" pitchFamily="34" charset="-122"/>
                <a:cs typeface="Calibri" pitchFamily="34" charset="-120"/>
              </a:rPr>
              <a:t>+ Treemap</a:t>
            </a:r>
            <a:endParaRPr lang="en-US" sz="900" dirty="0"/>
          </a:p>
        </p:txBody>
      </p:sp>
      <p:sp>
        <p:nvSpPr>
          <p:cNvPr id="44" name="Shape 42"/>
          <p:cNvSpPr/>
          <p:nvPr/>
        </p:nvSpPr>
        <p:spPr>
          <a:xfrm>
            <a:off x="7360920" y="2615184"/>
            <a:ext cx="1280160" cy="640080"/>
          </a:xfrm>
          <a:prstGeom prst="rect">
            <a:avLst/>
          </a:prstGeom>
          <a:solidFill>
            <a:srgbClr val="FFFFFF"/>
          </a:solidFill>
          <a:ln w="3810">
            <a:solidFill>
              <a:srgbClr val="EEEEEE"/>
            </a:solidFill>
            <a:prstDash val="solid"/>
          </a:ln>
        </p:spPr>
      </p:sp>
      <p:sp>
        <p:nvSpPr>
          <p:cNvPr id="45" name="Text 43"/>
          <p:cNvSpPr/>
          <p:nvPr/>
        </p:nvSpPr>
        <p:spPr>
          <a:xfrm>
            <a:off x="7415784" y="2651760"/>
            <a:ext cx="1188720" cy="585216"/>
          </a:xfrm>
          <a:prstGeom prst="rect">
            <a:avLst/>
          </a:prstGeom>
          <a:noFill/>
          <a:ln/>
        </p:spPr>
        <p:txBody>
          <a:bodyPr wrap="square" lIns="0" tIns="0" rIns="0" bIns="0" rtlCol="0" anchor="ctr"/>
          <a:lstStyle/>
          <a:p>
            <a:pPr indent="0" marL="0">
              <a:buNone/>
            </a:pPr>
            <a:r>
              <a:rPr lang="en-US" sz="900" dirty="0">
                <a:solidFill>
                  <a:srgbClr val="1E1E2E"/>
                </a:solidFill>
                <a:latin typeface="Calibri" pitchFamily="34" charset="0"/>
                <a:ea typeface="Calibri" pitchFamily="34" charset="-122"/>
                <a:cs typeface="Calibri" pitchFamily="34" charset="-120"/>
              </a:rPr>
              <a:t>Avg penetration &lt;2%;</a:t>
            </a:r>
            <a:endParaRPr lang="en-US" sz="900" dirty="0"/>
          </a:p>
          <a:p>
            <a:pPr indent="0" marL="0">
              <a:buNone/>
            </a:pPr>
            <a:r>
              <a:rPr lang="en-US" sz="900" dirty="0">
                <a:solidFill>
                  <a:srgbClr val="1E1E2E"/>
                </a:solidFill>
                <a:latin typeface="Calibri" pitchFamily="34" charset="0"/>
                <a:ea typeface="Calibri" pitchFamily="34" charset="-122"/>
                <a:cs typeface="Calibri" pitchFamily="34" charset="-120"/>
              </a:rPr>
              <a:t>Critical states</a:t>
            </a:r>
            <a:endParaRPr lang="en-US" sz="900" dirty="0"/>
          </a:p>
          <a:p>
            <a:pPr indent="0" marL="0">
              <a:buNone/>
            </a:pPr>
            <a:r>
              <a:rPr lang="en-US" sz="900" dirty="0">
                <a:solidFill>
                  <a:srgbClr val="1E1E2E"/>
                </a:solidFill>
                <a:latin typeface="Calibri" pitchFamily="34" charset="0"/>
                <a:ea typeface="Calibri" pitchFamily="34" charset="-122"/>
                <a:cs typeface="Calibri" pitchFamily="34" charset="-120"/>
              </a:rPr>
              <a:t>for campaigns</a:t>
            </a:r>
            <a:endParaRPr lang="en-US" sz="900" dirty="0"/>
          </a:p>
        </p:txBody>
      </p:sp>
      <p:sp>
        <p:nvSpPr>
          <p:cNvPr id="46" name="Shape 44"/>
          <p:cNvSpPr/>
          <p:nvPr/>
        </p:nvSpPr>
        <p:spPr>
          <a:xfrm>
            <a:off x="228600" y="3291840"/>
            <a:ext cx="1188720" cy="640080"/>
          </a:xfrm>
          <a:prstGeom prst="rect">
            <a:avLst/>
          </a:prstGeom>
          <a:solidFill>
            <a:srgbClr val="E6FAF5"/>
          </a:solidFill>
          <a:ln w="3810">
            <a:solidFill>
              <a:srgbClr val="EEEEEE"/>
            </a:solidFill>
            <a:prstDash val="solid"/>
          </a:ln>
        </p:spPr>
      </p:sp>
      <p:sp>
        <p:nvSpPr>
          <p:cNvPr id="47" name="Text 45"/>
          <p:cNvSpPr/>
          <p:nvPr/>
        </p:nvSpPr>
        <p:spPr>
          <a:xfrm>
            <a:off x="283464" y="3328416"/>
            <a:ext cx="1097280" cy="585216"/>
          </a:xfrm>
          <a:prstGeom prst="rect">
            <a:avLst/>
          </a:prstGeom>
          <a:noFill/>
          <a:ln/>
        </p:spPr>
        <p:txBody>
          <a:bodyPr wrap="square" lIns="0" tIns="0" rIns="0" bIns="0" rtlCol="0" anchor="ctr"/>
          <a:lstStyle/>
          <a:p>
            <a:pPr indent="0" marL="0">
              <a:buNone/>
            </a:pPr>
            <a:r>
              <a:rPr lang="en-US" sz="900" dirty="0">
                <a:solidFill>
                  <a:srgbClr val="1E1E2E"/>
                </a:solidFill>
                <a:latin typeface="Calibri" pitchFamily="34" charset="0"/>
                <a:ea typeface="Calibri" pitchFamily="34" charset="-122"/>
                <a:cs typeface="Calibri" pitchFamily="34" charset="-120"/>
              </a:rPr>
              <a:t>BC7</a:t>
            </a:r>
            <a:endParaRPr lang="en-US" sz="900" dirty="0"/>
          </a:p>
          <a:p>
            <a:pPr indent="0" marL="0">
              <a:buNone/>
            </a:pPr>
            <a:r>
              <a:rPr lang="en-US" sz="900" dirty="0">
                <a:solidFill>
                  <a:srgbClr val="1E1E2E"/>
                </a:solidFill>
                <a:latin typeface="Calibri" pitchFamily="34" charset="0"/>
                <a:ea typeface="Calibri" pitchFamily="34" charset="-122"/>
                <a:cs typeface="Calibri" pitchFamily="34" charset="-120"/>
              </a:rPr>
              <a:t>State &amp; Dist.</a:t>
            </a:r>
            <a:endParaRPr lang="en-US" sz="900" dirty="0"/>
          </a:p>
        </p:txBody>
      </p:sp>
      <p:sp>
        <p:nvSpPr>
          <p:cNvPr id="48" name="Shape 46"/>
          <p:cNvSpPr/>
          <p:nvPr/>
        </p:nvSpPr>
        <p:spPr>
          <a:xfrm>
            <a:off x="1417320" y="3291840"/>
            <a:ext cx="1874520" cy="640080"/>
          </a:xfrm>
          <a:prstGeom prst="rect">
            <a:avLst/>
          </a:prstGeom>
          <a:solidFill>
            <a:srgbClr val="FFFFFF"/>
          </a:solidFill>
          <a:ln w="3810">
            <a:solidFill>
              <a:srgbClr val="EEEEEE"/>
            </a:solidFill>
            <a:prstDash val="solid"/>
          </a:ln>
        </p:spPr>
      </p:sp>
      <p:sp>
        <p:nvSpPr>
          <p:cNvPr id="49" name="Text 47"/>
          <p:cNvSpPr/>
          <p:nvPr/>
        </p:nvSpPr>
        <p:spPr>
          <a:xfrm>
            <a:off x="1472184" y="3328416"/>
            <a:ext cx="1783080" cy="585216"/>
          </a:xfrm>
          <a:prstGeom prst="rect">
            <a:avLst/>
          </a:prstGeom>
          <a:noFill/>
          <a:ln/>
        </p:spPr>
        <p:txBody>
          <a:bodyPr wrap="square" lIns="0" tIns="0" rIns="0" bIns="0" rtlCol="0" anchor="ctr"/>
          <a:lstStyle/>
          <a:p>
            <a:pPr indent="0" marL="0">
              <a:buNone/>
            </a:pPr>
            <a:r>
              <a:rPr lang="en-US" sz="900" dirty="0">
                <a:solidFill>
                  <a:srgbClr val="1E1E2E"/>
                </a:solidFill>
                <a:latin typeface="Calibri" pitchFamily="34" charset="0"/>
                <a:ea typeface="Calibri" pitchFamily="34" charset="-122"/>
                <a:cs typeface="Calibri" pitchFamily="34" charset="-120"/>
              </a:rPr>
              <a:t>Top states,</a:t>
            </a:r>
            <a:endParaRPr lang="en-US" sz="900" dirty="0"/>
          </a:p>
          <a:p>
            <a:pPr indent="0" marL="0">
              <a:buNone/>
            </a:pPr>
            <a:r>
              <a:rPr lang="en-US" sz="900" dirty="0">
                <a:solidFill>
                  <a:srgbClr val="1E1E2E"/>
                </a:solidFill>
                <a:latin typeface="Calibri" pitchFamily="34" charset="0"/>
                <a:ea typeface="Calibri" pitchFamily="34" charset="-122"/>
                <a:cs typeface="Calibri" pitchFamily="34" charset="-120"/>
              </a:rPr>
              <a:t>districts &amp; pin</a:t>
            </a:r>
            <a:endParaRPr lang="en-US" sz="900" dirty="0"/>
          </a:p>
          <a:p>
            <a:pPr indent="0" marL="0">
              <a:buNone/>
            </a:pPr>
            <a:r>
              <a:rPr lang="en-US" sz="900" dirty="0">
                <a:solidFill>
                  <a:srgbClr val="1E1E2E"/>
                </a:solidFill>
                <a:latin typeface="Calibri" pitchFamily="34" charset="0"/>
                <a:ea typeface="Calibri" pitchFamily="34" charset="-122"/>
                <a:cs typeface="Calibri" pitchFamily="34" charset="-120"/>
              </a:rPr>
              <a:t>codes by value</a:t>
            </a:r>
            <a:endParaRPr lang="en-US" sz="900" dirty="0"/>
          </a:p>
        </p:txBody>
      </p:sp>
      <p:sp>
        <p:nvSpPr>
          <p:cNvPr id="50" name="Shape 48"/>
          <p:cNvSpPr/>
          <p:nvPr/>
        </p:nvSpPr>
        <p:spPr>
          <a:xfrm>
            <a:off x="3291840" y="3291840"/>
            <a:ext cx="2103120" cy="640080"/>
          </a:xfrm>
          <a:prstGeom prst="rect">
            <a:avLst/>
          </a:prstGeom>
          <a:solidFill>
            <a:srgbClr val="FFFFFF"/>
          </a:solidFill>
          <a:ln w="3810">
            <a:solidFill>
              <a:srgbClr val="EEEEEE"/>
            </a:solidFill>
            <a:prstDash val="solid"/>
          </a:ln>
        </p:spPr>
      </p:sp>
      <p:sp>
        <p:nvSpPr>
          <p:cNvPr id="51" name="Text 49"/>
          <p:cNvSpPr/>
          <p:nvPr/>
        </p:nvSpPr>
        <p:spPr>
          <a:xfrm>
            <a:off x="3346704" y="3328416"/>
            <a:ext cx="2011680" cy="585216"/>
          </a:xfrm>
          <a:prstGeom prst="rect">
            <a:avLst/>
          </a:prstGeom>
          <a:noFill/>
          <a:ln/>
        </p:spPr>
        <p:txBody>
          <a:bodyPr wrap="square" lIns="0" tIns="0" rIns="0" bIns="0" rtlCol="0" anchor="ctr"/>
          <a:lstStyle/>
          <a:p>
            <a:pPr indent="0" marL="0">
              <a:buNone/>
            </a:pPr>
            <a:r>
              <a:rPr lang="en-US" sz="900" dirty="0">
                <a:solidFill>
                  <a:srgbClr val="1E1E2E"/>
                </a:solidFill>
                <a:latin typeface="Calibri" pitchFamily="34" charset="0"/>
                <a:ea typeface="Calibri" pitchFamily="34" charset="-122"/>
                <a:cs typeface="Calibri" pitchFamily="34" charset="-120"/>
              </a:rPr>
              <a:t>HHI concentration</a:t>
            </a:r>
            <a:endParaRPr lang="en-US" sz="900" dirty="0"/>
          </a:p>
          <a:p>
            <a:pPr indent="0" marL="0">
              <a:buNone/>
            </a:pPr>
            <a:r>
              <a:rPr lang="en-US" sz="900" dirty="0">
                <a:solidFill>
                  <a:srgbClr val="1E1E2E"/>
                </a:solidFill>
                <a:latin typeface="Calibri" pitchFamily="34" charset="0"/>
                <a:ea typeface="Calibri" pitchFamily="34" charset="-122"/>
                <a:cs typeface="Calibri" pitchFamily="34" charset="-120"/>
              </a:rPr>
              <a:t>index; QoQ via LAG();</a:t>
            </a:r>
            <a:endParaRPr lang="en-US" sz="900" dirty="0"/>
          </a:p>
          <a:p>
            <a:pPr indent="0" marL="0">
              <a:buNone/>
            </a:pPr>
            <a:r>
              <a:rPr lang="en-US" sz="900" dirty="0">
                <a:solidFill>
                  <a:srgbClr val="1E1E2E"/>
                </a:solidFill>
                <a:latin typeface="Calibri" pitchFamily="34" charset="0"/>
                <a:ea typeface="Calibri" pitchFamily="34" charset="-122"/>
                <a:cs typeface="Calibri" pitchFamily="34" charset="-120"/>
              </a:rPr>
              <a:t>District rollup</a:t>
            </a:r>
            <a:endParaRPr lang="en-US" sz="900" dirty="0"/>
          </a:p>
        </p:txBody>
      </p:sp>
      <p:sp>
        <p:nvSpPr>
          <p:cNvPr id="52" name="Shape 50"/>
          <p:cNvSpPr/>
          <p:nvPr/>
        </p:nvSpPr>
        <p:spPr>
          <a:xfrm>
            <a:off x="5394960" y="3291840"/>
            <a:ext cx="1965960" cy="640080"/>
          </a:xfrm>
          <a:prstGeom prst="rect">
            <a:avLst/>
          </a:prstGeom>
          <a:solidFill>
            <a:srgbClr val="FFFFFF"/>
          </a:solidFill>
          <a:ln w="3810">
            <a:solidFill>
              <a:srgbClr val="EEEEEE"/>
            </a:solidFill>
            <a:prstDash val="solid"/>
          </a:ln>
        </p:spPr>
      </p:sp>
      <p:sp>
        <p:nvSpPr>
          <p:cNvPr id="53" name="Text 51"/>
          <p:cNvSpPr/>
          <p:nvPr/>
        </p:nvSpPr>
        <p:spPr>
          <a:xfrm>
            <a:off x="5449824" y="3328416"/>
            <a:ext cx="1874520" cy="585216"/>
          </a:xfrm>
          <a:prstGeom prst="rect">
            <a:avLst/>
          </a:prstGeom>
          <a:noFill/>
          <a:ln/>
        </p:spPr>
        <p:txBody>
          <a:bodyPr wrap="square" lIns="0" tIns="0" rIns="0" bIns="0" rtlCol="0" anchor="ctr"/>
          <a:lstStyle/>
          <a:p>
            <a:pPr indent="0" marL="0">
              <a:buNone/>
            </a:pPr>
            <a:r>
              <a:rPr lang="en-US" sz="900" dirty="0">
                <a:solidFill>
                  <a:srgbClr val="1E1E2E"/>
                </a:solidFill>
                <a:latin typeface="Calibri" pitchFamily="34" charset="0"/>
                <a:ea typeface="Calibri" pitchFamily="34" charset="-122"/>
                <a:cs typeface="Calibri" pitchFamily="34" charset="-120"/>
              </a:rPr>
              <a:t>State rank bar +</a:t>
            </a:r>
            <a:endParaRPr lang="en-US" sz="900" dirty="0"/>
          </a:p>
          <a:p>
            <a:pPr indent="0" marL="0">
              <a:buNone/>
            </a:pPr>
            <a:r>
              <a:rPr lang="en-US" sz="900" dirty="0">
                <a:solidFill>
                  <a:srgbClr val="1E1E2E"/>
                </a:solidFill>
                <a:latin typeface="Calibri" pitchFamily="34" charset="0"/>
                <a:ea typeface="Calibri" pitchFamily="34" charset="-122"/>
                <a:cs typeface="Calibri" pitchFamily="34" charset="-120"/>
              </a:rPr>
              <a:t>District scatter</a:t>
            </a:r>
            <a:endParaRPr lang="en-US" sz="900" dirty="0"/>
          </a:p>
          <a:p>
            <a:pPr indent="0" marL="0">
              <a:buNone/>
            </a:pPr>
            <a:r>
              <a:rPr lang="en-US" sz="900" dirty="0">
                <a:solidFill>
                  <a:srgbClr val="1E1E2E"/>
                </a:solidFill>
                <a:latin typeface="Calibri" pitchFamily="34" charset="0"/>
                <a:ea typeface="Calibri" pitchFamily="34" charset="-122"/>
                <a:cs typeface="Calibri" pitchFamily="34" charset="-120"/>
              </a:rPr>
              <a:t>+ Quarter heatmap</a:t>
            </a:r>
            <a:endParaRPr lang="en-US" sz="900" dirty="0"/>
          </a:p>
        </p:txBody>
      </p:sp>
      <p:sp>
        <p:nvSpPr>
          <p:cNvPr id="54" name="Shape 52"/>
          <p:cNvSpPr/>
          <p:nvPr/>
        </p:nvSpPr>
        <p:spPr>
          <a:xfrm>
            <a:off x="7360920" y="3291840"/>
            <a:ext cx="1280160" cy="640080"/>
          </a:xfrm>
          <a:prstGeom prst="rect">
            <a:avLst/>
          </a:prstGeom>
          <a:solidFill>
            <a:srgbClr val="FFFFFF"/>
          </a:solidFill>
          <a:ln w="3810">
            <a:solidFill>
              <a:srgbClr val="EEEEEE"/>
            </a:solidFill>
            <a:prstDash val="solid"/>
          </a:ln>
        </p:spPr>
      </p:sp>
      <p:sp>
        <p:nvSpPr>
          <p:cNvPr id="55" name="Text 53"/>
          <p:cNvSpPr/>
          <p:nvPr/>
        </p:nvSpPr>
        <p:spPr>
          <a:xfrm>
            <a:off x="7415784" y="3328416"/>
            <a:ext cx="1188720" cy="585216"/>
          </a:xfrm>
          <a:prstGeom prst="rect">
            <a:avLst/>
          </a:prstGeom>
          <a:noFill/>
          <a:ln/>
        </p:spPr>
        <p:txBody>
          <a:bodyPr wrap="square" lIns="0" tIns="0" rIns="0" bIns="0" rtlCol="0" anchor="ctr"/>
          <a:lstStyle/>
          <a:p>
            <a:pPr indent="0" marL="0">
              <a:buNone/>
            </a:pPr>
            <a:r>
              <a:rPr lang="en-US" sz="900" dirty="0">
                <a:solidFill>
                  <a:srgbClr val="1E1E2E"/>
                </a:solidFill>
                <a:latin typeface="Calibri" pitchFamily="34" charset="0"/>
                <a:ea typeface="Calibri" pitchFamily="34" charset="-122"/>
                <a:cs typeface="Calibri" pitchFamily="34" charset="-120"/>
              </a:rPr>
              <a:t>Top-3 states = 40%;</a:t>
            </a:r>
            <a:endParaRPr lang="en-US" sz="900" dirty="0"/>
          </a:p>
          <a:p>
            <a:pPr indent="0" marL="0">
              <a:buNone/>
            </a:pPr>
            <a:r>
              <a:rPr lang="en-US" sz="900" dirty="0">
                <a:solidFill>
                  <a:srgbClr val="1E1E2E"/>
                </a:solidFill>
                <a:latin typeface="Calibri" pitchFamily="34" charset="0"/>
                <a:ea typeface="Calibri" pitchFamily="34" charset="-122"/>
                <a:cs typeface="Calibri" pitchFamily="34" charset="-120"/>
              </a:rPr>
              <a:t>Mumbai #1 district;</a:t>
            </a:r>
            <a:endParaRPr lang="en-US" sz="900" dirty="0"/>
          </a:p>
          <a:p>
            <a:pPr indent="0" marL="0">
              <a:buNone/>
            </a:pPr>
            <a:r>
              <a:rPr lang="en-US" sz="900" dirty="0">
                <a:solidFill>
                  <a:srgbClr val="1E1E2E"/>
                </a:solidFill>
                <a:latin typeface="Calibri" pitchFamily="34" charset="0"/>
                <a:ea typeface="Calibri" pitchFamily="34" charset="-122"/>
                <a:cs typeface="Calibri" pitchFamily="34" charset="-120"/>
              </a:rPr>
              <a:t>Q4 seasonal spike</a:t>
            </a:r>
            <a:endParaRPr lang="en-US" sz="900" dirty="0"/>
          </a:p>
        </p:txBody>
      </p:sp>
      <p:sp>
        <p:nvSpPr>
          <p:cNvPr id="56" name="Shape 54"/>
          <p:cNvSpPr/>
          <p:nvPr/>
        </p:nvSpPr>
        <p:spPr>
          <a:xfrm>
            <a:off x="228600" y="3968496"/>
            <a:ext cx="1188720" cy="640080"/>
          </a:xfrm>
          <a:prstGeom prst="rect">
            <a:avLst/>
          </a:prstGeom>
          <a:solidFill>
            <a:srgbClr val="F3E8FF"/>
          </a:solidFill>
          <a:ln w="3810">
            <a:solidFill>
              <a:srgbClr val="EEEEEE"/>
            </a:solidFill>
            <a:prstDash val="solid"/>
          </a:ln>
        </p:spPr>
      </p:sp>
      <p:sp>
        <p:nvSpPr>
          <p:cNvPr id="57" name="Text 55"/>
          <p:cNvSpPr/>
          <p:nvPr/>
        </p:nvSpPr>
        <p:spPr>
          <a:xfrm>
            <a:off x="283464" y="4005072"/>
            <a:ext cx="1097280" cy="585216"/>
          </a:xfrm>
          <a:prstGeom prst="rect">
            <a:avLst/>
          </a:prstGeom>
          <a:noFill/>
          <a:ln/>
        </p:spPr>
        <p:txBody>
          <a:bodyPr wrap="square" lIns="0" tIns="0" rIns="0" bIns="0" rtlCol="0" anchor="ctr"/>
          <a:lstStyle/>
          <a:p>
            <a:pPr indent="0" marL="0">
              <a:buNone/>
            </a:pPr>
            <a:r>
              <a:rPr lang="en-US" sz="900" dirty="0">
                <a:solidFill>
                  <a:srgbClr val="1E1E2E"/>
                </a:solidFill>
                <a:latin typeface="Calibri" pitchFamily="34" charset="0"/>
                <a:ea typeface="Calibri" pitchFamily="34" charset="-122"/>
                <a:cs typeface="Calibri" pitchFamily="34" charset="-120"/>
              </a:rPr>
              <a:t>BC8</a:t>
            </a:r>
            <a:endParaRPr lang="en-US" sz="900" dirty="0"/>
          </a:p>
          <a:p>
            <a:pPr indent="0" marL="0">
              <a:buNone/>
            </a:pPr>
            <a:r>
              <a:rPr lang="en-US" sz="900" dirty="0">
                <a:solidFill>
                  <a:srgbClr val="1E1E2E"/>
                </a:solidFill>
                <a:latin typeface="Calibri" pitchFamily="34" charset="0"/>
                <a:ea typeface="Calibri" pitchFamily="34" charset="-122"/>
                <a:cs typeface="Calibri" pitchFamily="34" charset="-120"/>
              </a:rPr>
              <a:t>User Reg.</a:t>
            </a:r>
            <a:endParaRPr lang="en-US" sz="900" dirty="0"/>
          </a:p>
        </p:txBody>
      </p:sp>
      <p:sp>
        <p:nvSpPr>
          <p:cNvPr id="58" name="Shape 56"/>
          <p:cNvSpPr/>
          <p:nvPr/>
        </p:nvSpPr>
        <p:spPr>
          <a:xfrm>
            <a:off x="1417320" y="3968496"/>
            <a:ext cx="1874520" cy="640080"/>
          </a:xfrm>
          <a:prstGeom prst="rect">
            <a:avLst/>
          </a:prstGeom>
          <a:solidFill>
            <a:srgbClr val="FFFFFF"/>
          </a:solidFill>
          <a:ln w="3810">
            <a:solidFill>
              <a:srgbClr val="EEEEEE"/>
            </a:solidFill>
            <a:prstDash val="solid"/>
          </a:ln>
        </p:spPr>
      </p:sp>
      <p:sp>
        <p:nvSpPr>
          <p:cNvPr id="59" name="Text 57"/>
          <p:cNvSpPr/>
          <p:nvPr/>
        </p:nvSpPr>
        <p:spPr>
          <a:xfrm>
            <a:off x="1472184" y="4005072"/>
            <a:ext cx="1783080" cy="585216"/>
          </a:xfrm>
          <a:prstGeom prst="rect">
            <a:avLst/>
          </a:prstGeom>
          <a:noFill/>
          <a:ln/>
        </p:spPr>
        <p:txBody>
          <a:bodyPr wrap="square" lIns="0" tIns="0" rIns="0" bIns="0" rtlCol="0" anchor="ctr"/>
          <a:lstStyle/>
          <a:p>
            <a:pPr indent="0" marL="0">
              <a:buNone/>
            </a:pPr>
            <a:r>
              <a:rPr lang="en-US" sz="900" dirty="0">
                <a:solidFill>
                  <a:srgbClr val="1E1E2E"/>
                </a:solidFill>
                <a:latin typeface="Calibri" pitchFamily="34" charset="0"/>
                <a:ea typeface="Calibri" pitchFamily="34" charset="-122"/>
                <a:cs typeface="Calibri" pitchFamily="34" charset="-120"/>
              </a:rPr>
              <a:t>Top registrations</a:t>
            </a:r>
            <a:endParaRPr lang="en-US" sz="900" dirty="0"/>
          </a:p>
          <a:p>
            <a:pPr indent="0" marL="0">
              <a:buNone/>
            </a:pPr>
            <a:r>
              <a:rPr lang="en-US" sz="900" dirty="0">
                <a:solidFill>
                  <a:srgbClr val="1E1E2E"/>
                </a:solidFill>
                <a:latin typeface="Calibri" pitchFamily="34" charset="0"/>
                <a:ea typeface="Calibri" pitchFamily="34" charset="-122"/>
                <a:cs typeface="Calibri" pitchFamily="34" charset="-120"/>
              </a:rPr>
              <a:t>per quarter —</a:t>
            </a:r>
            <a:endParaRPr lang="en-US" sz="900" dirty="0"/>
          </a:p>
          <a:p>
            <a:pPr indent="0" marL="0">
              <a:buNone/>
            </a:pPr>
            <a:r>
              <a:rPr lang="en-US" sz="900" dirty="0">
                <a:solidFill>
                  <a:srgbClr val="1E1E2E"/>
                </a:solidFill>
                <a:latin typeface="Calibri" pitchFamily="34" charset="0"/>
                <a:ea typeface="Calibri" pitchFamily="34" charset="-122"/>
                <a:cs typeface="Calibri" pitchFamily="34" charset="-120"/>
              </a:rPr>
              <a:t>state/dist/pin</a:t>
            </a:r>
            <a:endParaRPr lang="en-US" sz="900" dirty="0"/>
          </a:p>
        </p:txBody>
      </p:sp>
      <p:sp>
        <p:nvSpPr>
          <p:cNvPr id="60" name="Shape 58"/>
          <p:cNvSpPr/>
          <p:nvPr/>
        </p:nvSpPr>
        <p:spPr>
          <a:xfrm>
            <a:off x="3291840" y="3968496"/>
            <a:ext cx="2103120" cy="640080"/>
          </a:xfrm>
          <a:prstGeom prst="rect">
            <a:avLst/>
          </a:prstGeom>
          <a:solidFill>
            <a:srgbClr val="FFFFFF"/>
          </a:solidFill>
          <a:ln w="3810">
            <a:solidFill>
              <a:srgbClr val="EEEEEE"/>
            </a:solidFill>
            <a:prstDash val="solid"/>
          </a:ln>
        </p:spPr>
      </p:sp>
      <p:sp>
        <p:nvSpPr>
          <p:cNvPr id="61" name="Text 59"/>
          <p:cNvSpPr/>
          <p:nvPr/>
        </p:nvSpPr>
        <p:spPr>
          <a:xfrm>
            <a:off x="3346704" y="4005072"/>
            <a:ext cx="2011680" cy="585216"/>
          </a:xfrm>
          <a:prstGeom prst="rect">
            <a:avLst/>
          </a:prstGeom>
          <a:noFill/>
          <a:ln/>
        </p:spPr>
        <p:txBody>
          <a:bodyPr wrap="square" lIns="0" tIns="0" rIns="0" bIns="0" rtlCol="0" anchor="ctr"/>
          <a:lstStyle/>
          <a:p>
            <a:pPr indent="0" marL="0">
              <a:buNone/>
            </a:pPr>
            <a:r>
              <a:rPr lang="en-US" sz="900" dirty="0">
                <a:solidFill>
                  <a:srgbClr val="1E1E2E"/>
                </a:solidFill>
                <a:latin typeface="Calibri" pitchFamily="34" charset="0"/>
                <a:ea typeface="Calibri" pitchFamily="34" charset="-122"/>
                <a:cs typeface="Calibri" pitchFamily="34" charset="-120"/>
              </a:rPr>
              <a:t>FIRST_VALUE vs</a:t>
            </a:r>
            <a:endParaRPr lang="en-US" sz="900" dirty="0"/>
          </a:p>
          <a:p>
            <a:pPr indent="0" marL="0">
              <a:buNone/>
            </a:pPr>
            <a:r>
              <a:rPr lang="en-US" sz="900" dirty="0">
                <a:solidFill>
                  <a:srgbClr val="1E1E2E"/>
                </a:solidFill>
                <a:latin typeface="Calibri" pitchFamily="34" charset="0"/>
                <a:ea typeface="Calibri" pitchFamily="34" charset="-122"/>
                <a:cs typeface="Calibri" pitchFamily="34" charset="-120"/>
              </a:rPr>
              <a:t>LAST_VALUE for</a:t>
            </a:r>
            <a:endParaRPr lang="en-US" sz="900" dirty="0"/>
          </a:p>
          <a:p>
            <a:pPr indent="0" marL="0">
              <a:buNone/>
            </a:pPr>
            <a:r>
              <a:rPr lang="en-US" sz="900" dirty="0">
                <a:solidFill>
                  <a:srgbClr val="1E1E2E"/>
                </a:solidFill>
                <a:latin typeface="Calibri" pitchFamily="34" charset="0"/>
                <a:ea typeface="Calibri" pitchFamily="34" charset="-122"/>
                <a:cs typeface="Calibri" pitchFamily="34" charset="-120"/>
              </a:rPr>
              <a:t>acceleration</a:t>
            </a:r>
            <a:endParaRPr lang="en-US" sz="900" dirty="0"/>
          </a:p>
        </p:txBody>
      </p:sp>
      <p:sp>
        <p:nvSpPr>
          <p:cNvPr id="62" name="Shape 60"/>
          <p:cNvSpPr/>
          <p:nvPr/>
        </p:nvSpPr>
        <p:spPr>
          <a:xfrm>
            <a:off x="5394960" y="3968496"/>
            <a:ext cx="1965960" cy="640080"/>
          </a:xfrm>
          <a:prstGeom prst="rect">
            <a:avLst/>
          </a:prstGeom>
          <a:solidFill>
            <a:srgbClr val="FFFFFF"/>
          </a:solidFill>
          <a:ln w="3810">
            <a:solidFill>
              <a:srgbClr val="EEEEEE"/>
            </a:solidFill>
            <a:prstDash val="solid"/>
          </a:ln>
        </p:spPr>
      </p:sp>
      <p:sp>
        <p:nvSpPr>
          <p:cNvPr id="63" name="Text 61"/>
          <p:cNvSpPr/>
          <p:nvPr/>
        </p:nvSpPr>
        <p:spPr>
          <a:xfrm>
            <a:off x="5449824" y="4005072"/>
            <a:ext cx="1874520" cy="585216"/>
          </a:xfrm>
          <a:prstGeom prst="rect">
            <a:avLst/>
          </a:prstGeom>
          <a:noFill/>
          <a:ln/>
        </p:spPr>
        <p:txBody>
          <a:bodyPr wrap="square" lIns="0" tIns="0" rIns="0" bIns="0" rtlCol="0" anchor="ctr"/>
          <a:lstStyle/>
          <a:p>
            <a:pPr indent="0" marL="0">
              <a:buNone/>
            </a:pPr>
            <a:r>
              <a:rPr lang="en-US" sz="900" dirty="0">
                <a:solidFill>
                  <a:srgbClr val="1E1E2E"/>
                </a:solidFill>
                <a:latin typeface="Calibri" pitchFamily="34" charset="0"/>
                <a:ea typeface="Calibri" pitchFamily="34" charset="-122"/>
                <a:cs typeface="Calibri" pitchFamily="34" charset="-120"/>
              </a:rPr>
              <a:t>Funnel chart +</a:t>
            </a:r>
            <a:endParaRPr lang="en-US" sz="900" dirty="0"/>
          </a:p>
          <a:p>
            <a:pPr indent="0" marL="0">
              <a:buNone/>
            </a:pPr>
            <a:r>
              <a:rPr lang="en-US" sz="900" dirty="0">
                <a:solidFill>
                  <a:srgbClr val="1E1E2E"/>
                </a:solidFill>
                <a:latin typeface="Calibri" pitchFamily="34" charset="0"/>
                <a:ea typeface="Calibri" pitchFamily="34" charset="-122"/>
                <a:cs typeface="Calibri" pitchFamily="34" charset="-120"/>
              </a:rPr>
              <a:t>Pin-code table</a:t>
            </a:r>
            <a:endParaRPr lang="en-US" sz="900" dirty="0"/>
          </a:p>
          <a:p>
            <a:pPr indent="0" marL="0">
              <a:buNone/>
            </a:pPr>
            <a:r>
              <a:rPr lang="en-US" sz="900" dirty="0">
                <a:solidFill>
                  <a:srgbClr val="1E1E2E"/>
                </a:solidFill>
                <a:latin typeface="Calibri" pitchFamily="34" charset="0"/>
                <a:ea typeface="Calibri" pitchFamily="34" charset="-122"/>
                <a:cs typeface="Calibri" pitchFamily="34" charset="-120"/>
              </a:rPr>
              <a:t>+ Growth heatmap</a:t>
            </a:r>
            <a:endParaRPr lang="en-US" sz="900" dirty="0"/>
          </a:p>
        </p:txBody>
      </p:sp>
      <p:sp>
        <p:nvSpPr>
          <p:cNvPr id="64" name="Shape 62"/>
          <p:cNvSpPr/>
          <p:nvPr/>
        </p:nvSpPr>
        <p:spPr>
          <a:xfrm>
            <a:off x="7360920" y="3968496"/>
            <a:ext cx="1280160" cy="640080"/>
          </a:xfrm>
          <a:prstGeom prst="rect">
            <a:avLst/>
          </a:prstGeom>
          <a:solidFill>
            <a:srgbClr val="FFFFFF"/>
          </a:solidFill>
          <a:ln w="3810">
            <a:solidFill>
              <a:srgbClr val="EEEEEE"/>
            </a:solidFill>
            <a:prstDash val="solid"/>
          </a:ln>
        </p:spPr>
      </p:sp>
      <p:sp>
        <p:nvSpPr>
          <p:cNvPr id="65" name="Text 63"/>
          <p:cNvSpPr/>
          <p:nvPr/>
        </p:nvSpPr>
        <p:spPr>
          <a:xfrm>
            <a:off x="7415784" y="4005072"/>
            <a:ext cx="1188720" cy="585216"/>
          </a:xfrm>
          <a:prstGeom prst="rect">
            <a:avLst/>
          </a:prstGeom>
          <a:noFill/>
          <a:ln/>
        </p:spPr>
        <p:txBody>
          <a:bodyPr wrap="square" lIns="0" tIns="0" rIns="0" bIns="0" rtlCol="0" anchor="ctr"/>
          <a:lstStyle/>
          <a:p>
            <a:pPr indent="0" marL="0">
              <a:buNone/>
            </a:pPr>
            <a:r>
              <a:rPr lang="en-US" sz="900" dirty="0">
                <a:solidFill>
                  <a:srgbClr val="1E1E2E"/>
                </a:solidFill>
                <a:latin typeface="Calibri" pitchFamily="34" charset="0"/>
                <a:ea typeface="Calibri" pitchFamily="34" charset="-122"/>
                <a:cs typeface="Calibri" pitchFamily="34" charset="-120"/>
              </a:rPr>
              <a:t>Q1 &amp; Q3 = peak</a:t>
            </a:r>
            <a:endParaRPr lang="en-US" sz="900" dirty="0"/>
          </a:p>
          <a:p>
            <a:pPr indent="0" marL="0">
              <a:buNone/>
            </a:pPr>
            <a:r>
              <a:rPr lang="en-US" sz="900" dirty="0">
                <a:solidFill>
                  <a:srgbClr val="1E1E2E"/>
                </a:solidFill>
                <a:latin typeface="Calibri" pitchFamily="34" charset="0"/>
                <a:ea typeface="Calibri" pitchFamily="34" charset="-122"/>
                <a:cs typeface="Calibri" pitchFamily="34" charset="-120"/>
              </a:rPr>
              <a:t>acquisition; 3</a:t>
            </a:r>
            <a:endParaRPr lang="en-US" sz="900" dirty="0"/>
          </a:p>
          <a:p>
            <a:pPr indent="0" marL="0">
              <a:buNone/>
            </a:pPr>
            <a:r>
              <a:rPr lang="en-US" sz="900" dirty="0">
                <a:solidFill>
                  <a:srgbClr val="1E1E2E"/>
                </a:solidFill>
                <a:latin typeface="Calibri" pitchFamily="34" charset="0"/>
                <a:ea typeface="Calibri" pitchFamily="34" charset="-122"/>
                <a:cs typeface="Calibri" pitchFamily="34" charset="-120"/>
              </a:rPr>
              <a:t>growth hotspots</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6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1E2E"/>
          </a:solidFill>
          <a:ln/>
        </p:spPr>
      </p:sp>
      <p:sp>
        <p:nvSpPr>
          <p:cNvPr id="3" name="Shape 1"/>
          <p:cNvSpPr/>
          <p:nvPr/>
        </p:nvSpPr>
        <p:spPr>
          <a:xfrm>
            <a:off x="0" y="4828032"/>
            <a:ext cx="9144000" cy="315468"/>
          </a:xfrm>
          <a:prstGeom prst="rect">
            <a:avLst/>
          </a:prstGeom>
          <a:solidFill>
            <a:srgbClr val="5F2EEA">
              <a:alpha val="75000"/>
            </a:srgbClr>
          </a:solidFill>
          <a:ln/>
        </p:spPr>
      </p:sp>
      <p:sp>
        <p:nvSpPr>
          <p:cNvPr id="4" name="Text 2"/>
          <p:cNvSpPr/>
          <p:nvPr/>
        </p:nvSpPr>
        <p:spPr>
          <a:xfrm>
            <a:off x="274320" y="118872"/>
            <a:ext cx="8595360" cy="45720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Strategic Recommendations – Cross-Case Action Plan</a:t>
            </a:r>
            <a:endParaRPr lang="en-US" sz="2100" dirty="0"/>
          </a:p>
        </p:txBody>
      </p:sp>
      <p:sp>
        <p:nvSpPr>
          <p:cNvPr id="5" name="Text 3"/>
          <p:cNvSpPr/>
          <p:nvPr/>
        </p:nvSpPr>
        <p:spPr>
          <a:xfrm>
            <a:off x="182880" y="4846320"/>
            <a:ext cx="8778240" cy="237744"/>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PhonePe  •  5 Business Case Studies  •  14 / 18</a:t>
            </a:r>
            <a:endParaRPr lang="en-US" sz="900" dirty="0"/>
          </a:p>
        </p:txBody>
      </p:sp>
      <p:sp>
        <p:nvSpPr>
          <p:cNvPr id="6" name="Shape 4"/>
          <p:cNvSpPr/>
          <p:nvPr/>
        </p:nvSpPr>
        <p:spPr>
          <a:xfrm>
            <a:off x="228600" y="804672"/>
            <a:ext cx="4251960" cy="1938528"/>
          </a:xfrm>
          <a:prstGeom prst="rect">
            <a:avLst/>
          </a:prstGeom>
          <a:solidFill>
            <a:srgbClr val="FFFFFF"/>
          </a:solidFill>
          <a:ln w="6350">
            <a:solidFill>
              <a:srgbClr val="EEEEEE"/>
            </a:solidFill>
            <a:prstDash val="solid"/>
          </a:ln>
          <a:effectLst>
            <a:outerShdw sx="100000" sy="100000" kx="0" ky="0" algn="bl" rotWithShape="0" blurRad="101600" dist="38100" dir="8100000">
              <a:srgbClr val="000000">
                <a:alpha val="12000"/>
              </a:srgbClr>
            </a:outerShdw>
          </a:effectLst>
        </p:spPr>
      </p:sp>
      <p:sp>
        <p:nvSpPr>
          <p:cNvPr id="7" name="Shape 5"/>
          <p:cNvSpPr/>
          <p:nvPr/>
        </p:nvSpPr>
        <p:spPr>
          <a:xfrm>
            <a:off x="228600" y="804672"/>
            <a:ext cx="4251960" cy="402336"/>
          </a:xfrm>
          <a:prstGeom prst="rect">
            <a:avLst/>
          </a:prstGeom>
          <a:solidFill>
            <a:srgbClr val="5F2EEA"/>
          </a:solidFill>
          <a:ln/>
        </p:spPr>
      </p:sp>
      <p:sp>
        <p:nvSpPr>
          <p:cNvPr id="8" name="Text 6"/>
          <p:cNvSpPr/>
          <p:nvPr/>
        </p:nvSpPr>
        <p:spPr>
          <a:xfrm>
            <a:off x="320040" y="859536"/>
            <a:ext cx="4069080"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Targeted Category Campaigns (BC1)</a:t>
            </a:r>
            <a:endParaRPr lang="en-US" sz="1100" dirty="0"/>
          </a:p>
        </p:txBody>
      </p:sp>
      <p:sp>
        <p:nvSpPr>
          <p:cNvPr id="9" name="Shape 7"/>
          <p:cNvSpPr/>
          <p:nvPr/>
        </p:nvSpPr>
        <p:spPr>
          <a:xfrm>
            <a:off x="338328" y="1298448"/>
            <a:ext cx="91440" cy="91440"/>
          </a:xfrm>
          <a:prstGeom prst="ellipse">
            <a:avLst/>
          </a:prstGeom>
          <a:solidFill>
            <a:srgbClr val="5F2EEA"/>
          </a:solidFill>
          <a:ln/>
        </p:spPr>
      </p:sp>
      <p:sp>
        <p:nvSpPr>
          <p:cNvPr id="10" name="Text 8"/>
          <p:cNvSpPr/>
          <p:nvPr/>
        </p:nvSpPr>
        <p:spPr>
          <a:xfrm>
            <a:off x="484632" y="1261872"/>
            <a:ext cx="3931920" cy="402336"/>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Increase Merchant Payments acquisition — fastest QoQ growth (+18%)</a:t>
            </a:r>
            <a:endParaRPr lang="en-US" sz="1000" dirty="0"/>
          </a:p>
        </p:txBody>
      </p:sp>
      <p:sp>
        <p:nvSpPr>
          <p:cNvPr id="11" name="Shape 9"/>
          <p:cNvSpPr/>
          <p:nvPr/>
        </p:nvSpPr>
        <p:spPr>
          <a:xfrm>
            <a:off x="338328" y="1737360"/>
            <a:ext cx="91440" cy="91440"/>
          </a:xfrm>
          <a:prstGeom prst="ellipse">
            <a:avLst/>
          </a:prstGeom>
          <a:solidFill>
            <a:srgbClr val="5F2EEA"/>
          </a:solidFill>
          <a:ln/>
        </p:spPr>
      </p:sp>
      <p:sp>
        <p:nvSpPr>
          <p:cNvPr id="12" name="Text 10"/>
          <p:cNvSpPr/>
          <p:nvPr/>
        </p:nvSpPr>
        <p:spPr>
          <a:xfrm>
            <a:off x="484632" y="1700784"/>
            <a:ext cx="3931920" cy="402336"/>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Bundle Financial Services with P2P to raise avg ticket size</a:t>
            </a:r>
            <a:endParaRPr lang="en-US" sz="1000" dirty="0"/>
          </a:p>
        </p:txBody>
      </p:sp>
      <p:sp>
        <p:nvSpPr>
          <p:cNvPr id="13" name="Shape 11"/>
          <p:cNvSpPr/>
          <p:nvPr/>
        </p:nvSpPr>
        <p:spPr>
          <a:xfrm>
            <a:off x="338328" y="2176272"/>
            <a:ext cx="91440" cy="91440"/>
          </a:xfrm>
          <a:prstGeom prst="ellipse">
            <a:avLst/>
          </a:prstGeom>
          <a:solidFill>
            <a:srgbClr val="5F2EEA"/>
          </a:solidFill>
          <a:ln/>
        </p:spPr>
      </p:sp>
      <p:sp>
        <p:nvSpPr>
          <p:cNvPr id="14" name="Text 12"/>
          <p:cNvSpPr/>
          <p:nvPr/>
        </p:nvSpPr>
        <p:spPr>
          <a:xfrm>
            <a:off x="484632" y="2139696"/>
            <a:ext cx="3931920" cy="402336"/>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Launch Q3 campaign to capture Q4 seasonal surge</a:t>
            </a:r>
            <a:endParaRPr lang="en-US" sz="1000" dirty="0"/>
          </a:p>
        </p:txBody>
      </p:sp>
      <p:sp>
        <p:nvSpPr>
          <p:cNvPr id="15" name="Shape 13"/>
          <p:cNvSpPr/>
          <p:nvPr/>
        </p:nvSpPr>
        <p:spPr>
          <a:xfrm>
            <a:off x="228600" y="2907792"/>
            <a:ext cx="4251960" cy="1938528"/>
          </a:xfrm>
          <a:prstGeom prst="rect">
            <a:avLst/>
          </a:prstGeom>
          <a:solidFill>
            <a:srgbClr val="FFFFFF"/>
          </a:solidFill>
          <a:ln w="6350">
            <a:solidFill>
              <a:srgbClr val="EEEEEE"/>
            </a:solidFill>
            <a:prstDash val="solid"/>
          </a:ln>
          <a:effectLst>
            <a:outerShdw sx="100000" sy="100000" kx="0" ky="0" algn="bl" rotWithShape="0" blurRad="101600" dist="38100" dir="8100000">
              <a:srgbClr val="000000">
                <a:alpha val="12000"/>
              </a:srgbClr>
            </a:outerShdw>
          </a:effectLst>
        </p:spPr>
      </p:sp>
      <p:sp>
        <p:nvSpPr>
          <p:cNvPr id="16" name="Shape 14"/>
          <p:cNvSpPr/>
          <p:nvPr/>
        </p:nvSpPr>
        <p:spPr>
          <a:xfrm>
            <a:off x="228600" y="2907792"/>
            <a:ext cx="4251960" cy="402336"/>
          </a:xfrm>
          <a:prstGeom prst="rect">
            <a:avLst/>
          </a:prstGeom>
          <a:solidFill>
            <a:srgbClr val="00B9F1"/>
          </a:solidFill>
          <a:ln/>
        </p:spPr>
      </p:sp>
      <p:sp>
        <p:nvSpPr>
          <p:cNvPr id="17" name="Text 15"/>
          <p:cNvSpPr/>
          <p:nvPr/>
        </p:nvSpPr>
        <p:spPr>
          <a:xfrm>
            <a:off x="320040" y="2962656"/>
            <a:ext cx="4069080"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Device &amp; UX Optimisation (BC2)</a:t>
            </a:r>
            <a:endParaRPr lang="en-US" sz="1100" dirty="0"/>
          </a:p>
        </p:txBody>
      </p:sp>
      <p:sp>
        <p:nvSpPr>
          <p:cNvPr id="18" name="Shape 16"/>
          <p:cNvSpPr/>
          <p:nvPr/>
        </p:nvSpPr>
        <p:spPr>
          <a:xfrm>
            <a:off x="338328" y="3401568"/>
            <a:ext cx="91440" cy="91440"/>
          </a:xfrm>
          <a:prstGeom prst="ellipse">
            <a:avLst/>
          </a:prstGeom>
          <a:solidFill>
            <a:srgbClr val="00B9F1"/>
          </a:solidFill>
          <a:ln/>
        </p:spPr>
      </p:sp>
      <p:sp>
        <p:nvSpPr>
          <p:cNvPr id="19" name="Text 17"/>
          <p:cNvSpPr/>
          <p:nvPr/>
        </p:nvSpPr>
        <p:spPr>
          <a:xfrm>
            <a:off x="484632" y="3364992"/>
            <a:ext cx="3931920" cy="402336"/>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Android-first UI refresh — Samsung+Xiaomi=52% of base</a:t>
            </a:r>
            <a:endParaRPr lang="en-US" sz="1000" dirty="0"/>
          </a:p>
        </p:txBody>
      </p:sp>
      <p:sp>
        <p:nvSpPr>
          <p:cNvPr id="20" name="Shape 18"/>
          <p:cNvSpPr/>
          <p:nvPr/>
        </p:nvSpPr>
        <p:spPr>
          <a:xfrm>
            <a:off x="338328" y="3840480"/>
            <a:ext cx="91440" cy="91440"/>
          </a:xfrm>
          <a:prstGeom prst="ellipse">
            <a:avLst/>
          </a:prstGeom>
          <a:solidFill>
            <a:srgbClr val="00B9F1"/>
          </a:solidFill>
          <a:ln/>
        </p:spPr>
      </p:sp>
      <p:sp>
        <p:nvSpPr>
          <p:cNvPr id="21" name="Text 19"/>
          <p:cNvSpPr/>
          <p:nvPr/>
        </p:nvSpPr>
        <p:spPr>
          <a:xfrm>
            <a:off x="484632" y="3803904"/>
            <a:ext cx="3931920" cy="402336"/>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Push notification re-activation for 4 low-engagement states</a:t>
            </a:r>
            <a:endParaRPr lang="en-US" sz="1000" dirty="0"/>
          </a:p>
        </p:txBody>
      </p:sp>
      <p:sp>
        <p:nvSpPr>
          <p:cNvPr id="22" name="Shape 20"/>
          <p:cNvSpPr/>
          <p:nvPr/>
        </p:nvSpPr>
        <p:spPr>
          <a:xfrm>
            <a:off x="338328" y="4279392"/>
            <a:ext cx="91440" cy="91440"/>
          </a:xfrm>
          <a:prstGeom prst="ellipse">
            <a:avLst/>
          </a:prstGeom>
          <a:solidFill>
            <a:srgbClr val="00B9F1"/>
          </a:solidFill>
          <a:ln/>
        </p:spPr>
      </p:sp>
      <p:sp>
        <p:nvSpPr>
          <p:cNvPr id="23" name="Text 21"/>
          <p:cNvSpPr/>
          <p:nvPr/>
        </p:nvSpPr>
        <p:spPr>
          <a:xfrm>
            <a:off x="484632" y="4242816"/>
            <a:ext cx="3931920" cy="402336"/>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Device-specific onboarding for underutilised brand users</a:t>
            </a:r>
            <a:endParaRPr lang="en-US" sz="1000" dirty="0"/>
          </a:p>
        </p:txBody>
      </p:sp>
      <p:sp>
        <p:nvSpPr>
          <p:cNvPr id="24" name="Shape 22"/>
          <p:cNvSpPr/>
          <p:nvPr/>
        </p:nvSpPr>
        <p:spPr>
          <a:xfrm>
            <a:off x="4709160" y="804672"/>
            <a:ext cx="4251960" cy="1938528"/>
          </a:xfrm>
          <a:prstGeom prst="rect">
            <a:avLst/>
          </a:prstGeom>
          <a:solidFill>
            <a:srgbClr val="FFFFFF"/>
          </a:solidFill>
          <a:ln w="6350">
            <a:solidFill>
              <a:srgbClr val="EEEEEE"/>
            </a:solidFill>
            <a:prstDash val="solid"/>
          </a:ln>
          <a:effectLst>
            <a:outerShdw sx="100000" sy="100000" kx="0" ky="0" algn="bl" rotWithShape="0" blurRad="101600" dist="38100" dir="8100000">
              <a:srgbClr val="000000">
                <a:alpha val="12000"/>
              </a:srgbClr>
            </a:outerShdw>
          </a:effectLst>
        </p:spPr>
      </p:sp>
      <p:sp>
        <p:nvSpPr>
          <p:cNvPr id="25" name="Shape 23"/>
          <p:cNvSpPr/>
          <p:nvPr/>
        </p:nvSpPr>
        <p:spPr>
          <a:xfrm>
            <a:off x="4709160" y="804672"/>
            <a:ext cx="4251960" cy="402336"/>
          </a:xfrm>
          <a:prstGeom prst="rect">
            <a:avLst/>
          </a:prstGeom>
          <a:solidFill>
            <a:srgbClr val="FF6B35"/>
          </a:solidFill>
          <a:ln/>
        </p:spPr>
      </p:sp>
      <p:sp>
        <p:nvSpPr>
          <p:cNvPr id="26" name="Text 24"/>
          <p:cNvSpPr/>
          <p:nvPr/>
        </p:nvSpPr>
        <p:spPr>
          <a:xfrm>
            <a:off x="4800600" y="859536"/>
            <a:ext cx="4069080"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Insurance Growth Push (BC3)</a:t>
            </a:r>
            <a:endParaRPr lang="en-US" sz="1100" dirty="0"/>
          </a:p>
        </p:txBody>
      </p:sp>
      <p:sp>
        <p:nvSpPr>
          <p:cNvPr id="27" name="Shape 25"/>
          <p:cNvSpPr/>
          <p:nvPr/>
        </p:nvSpPr>
        <p:spPr>
          <a:xfrm>
            <a:off x="4818888" y="1298448"/>
            <a:ext cx="91440" cy="91440"/>
          </a:xfrm>
          <a:prstGeom prst="ellipse">
            <a:avLst/>
          </a:prstGeom>
          <a:solidFill>
            <a:srgbClr val="FF6B35"/>
          </a:solidFill>
          <a:ln/>
        </p:spPr>
      </p:sp>
      <p:sp>
        <p:nvSpPr>
          <p:cNvPr id="28" name="Text 26"/>
          <p:cNvSpPr/>
          <p:nvPr/>
        </p:nvSpPr>
        <p:spPr>
          <a:xfrm>
            <a:off x="4965192" y="1261872"/>
            <a:ext cx="3931920" cy="402336"/>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Dedicate ₹X Cr budget to 3 Critical Priority states</a:t>
            </a:r>
            <a:endParaRPr lang="en-US" sz="1000" dirty="0"/>
          </a:p>
        </p:txBody>
      </p:sp>
      <p:sp>
        <p:nvSpPr>
          <p:cNvPr id="29" name="Shape 27"/>
          <p:cNvSpPr/>
          <p:nvPr/>
        </p:nvSpPr>
        <p:spPr>
          <a:xfrm>
            <a:off x="4818888" y="1737360"/>
            <a:ext cx="91440" cy="91440"/>
          </a:xfrm>
          <a:prstGeom prst="ellipse">
            <a:avLst/>
          </a:prstGeom>
          <a:solidFill>
            <a:srgbClr val="FF6B35"/>
          </a:solidFill>
          <a:ln/>
        </p:spPr>
      </p:sp>
      <p:sp>
        <p:nvSpPr>
          <p:cNvPr id="30" name="Text 28"/>
          <p:cNvSpPr/>
          <p:nvPr/>
        </p:nvSpPr>
        <p:spPr>
          <a:xfrm>
            <a:off x="4965192" y="1700784"/>
            <a:ext cx="3931920" cy="402336"/>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Partner with 2 new insurers for low-penetration regions</a:t>
            </a:r>
            <a:endParaRPr lang="en-US" sz="1000" dirty="0"/>
          </a:p>
        </p:txBody>
      </p:sp>
      <p:sp>
        <p:nvSpPr>
          <p:cNvPr id="31" name="Shape 29"/>
          <p:cNvSpPr/>
          <p:nvPr/>
        </p:nvSpPr>
        <p:spPr>
          <a:xfrm>
            <a:off x="4818888" y="2176272"/>
            <a:ext cx="91440" cy="91440"/>
          </a:xfrm>
          <a:prstGeom prst="ellipse">
            <a:avLst/>
          </a:prstGeom>
          <a:solidFill>
            <a:srgbClr val="FF6B35"/>
          </a:solidFill>
          <a:ln/>
        </p:spPr>
      </p:sp>
      <p:sp>
        <p:nvSpPr>
          <p:cNvPr id="32" name="Text 30"/>
          <p:cNvSpPr/>
          <p:nvPr/>
        </p:nvSpPr>
        <p:spPr>
          <a:xfrm>
            <a:off x="4965192" y="2139696"/>
            <a:ext cx="3931920" cy="402336"/>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Bundle insurance with Financial Services transactions</a:t>
            </a:r>
            <a:endParaRPr lang="en-US" sz="1000" dirty="0"/>
          </a:p>
        </p:txBody>
      </p:sp>
      <p:sp>
        <p:nvSpPr>
          <p:cNvPr id="33" name="Shape 31"/>
          <p:cNvSpPr/>
          <p:nvPr/>
        </p:nvSpPr>
        <p:spPr>
          <a:xfrm>
            <a:off x="4709160" y="2907792"/>
            <a:ext cx="4251960" cy="1938528"/>
          </a:xfrm>
          <a:prstGeom prst="rect">
            <a:avLst/>
          </a:prstGeom>
          <a:solidFill>
            <a:srgbClr val="FFFFFF"/>
          </a:solidFill>
          <a:ln w="6350">
            <a:solidFill>
              <a:srgbClr val="EEEEEE"/>
            </a:solidFill>
            <a:prstDash val="solid"/>
          </a:ln>
          <a:effectLst>
            <a:outerShdw sx="100000" sy="100000" kx="0" ky="0" algn="bl" rotWithShape="0" blurRad="101600" dist="38100" dir="8100000">
              <a:srgbClr val="000000">
                <a:alpha val="12000"/>
              </a:srgbClr>
            </a:outerShdw>
          </a:effectLst>
        </p:spPr>
      </p:sp>
      <p:sp>
        <p:nvSpPr>
          <p:cNvPr id="34" name="Shape 32"/>
          <p:cNvSpPr/>
          <p:nvPr/>
        </p:nvSpPr>
        <p:spPr>
          <a:xfrm>
            <a:off x="4709160" y="2907792"/>
            <a:ext cx="4251960" cy="402336"/>
          </a:xfrm>
          <a:prstGeom prst="rect">
            <a:avLst/>
          </a:prstGeom>
          <a:solidFill>
            <a:srgbClr val="00C48C"/>
          </a:solidFill>
          <a:ln/>
        </p:spPr>
      </p:sp>
      <p:sp>
        <p:nvSpPr>
          <p:cNvPr id="35" name="Text 33"/>
          <p:cNvSpPr/>
          <p:nvPr/>
        </p:nvSpPr>
        <p:spPr>
          <a:xfrm>
            <a:off x="4800600" y="2962656"/>
            <a:ext cx="4069080"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Geo-Expansion Strategy (BC7+BC8)</a:t>
            </a:r>
            <a:endParaRPr lang="en-US" sz="1100" dirty="0"/>
          </a:p>
        </p:txBody>
      </p:sp>
      <p:sp>
        <p:nvSpPr>
          <p:cNvPr id="36" name="Shape 34"/>
          <p:cNvSpPr/>
          <p:nvPr/>
        </p:nvSpPr>
        <p:spPr>
          <a:xfrm>
            <a:off x="4818888" y="3401568"/>
            <a:ext cx="91440" cy="91440"/>
          </a:xfrm>
          <a:prstGeom prst="ellipse">
            <a:avLst/>
          </a:prstGeom>
          <a:solidFill>
            <a:srgbClr val="00C48C"/>
          </a:solidFill>
          <a:ln/>
        </p:spPr>
      </p:sp>
      <p:sp>
        <p:nvSpPr>
          <p:cNvPr id="37" name="Text 35"/>
          <p:cNvSpPr/>
          <p:nvPr/>
        </p:nvSpPr>
        <p:spPr>
          <a:xfrm>
            <a:off x="4965192" y="3364992"/>
            <a:ext cx="3931920" cy="402336"/>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Invest in tier-2 districts in highly concentrated states</a:t>
            </a:r>
            <a:endParaRPr lang="en-US" sz="1000" dirty="0"/>
          </a:p>
        </p:txBody>
      </p:sp>
      <p:sp>
        <p:nvSpPr>
          <p:cNvPr id="38" name="Shape 36"/>
          <p:cNvSpPr/>
          <p:nvPr/>
        </p:nvSpPr>
        <p:spPr>
          <a:xfrm>
            <a:off x="4818888" y="3840480"/>
            <a:ext cx="91440" cy="91440"/>
          </a:xfrm>
          <a:prstGeom prst="ellipse">
            <a:avLst/>
          </a:prstGeom>
          <a:solidFill>
            <a:srgbClr val="00C48C"/>
          </a:solidFill>
          <a:ln/>
        </p:spPr>
      </p:sp>
      <p:sp>
        <p:nvSpPr>
          <p:cNvPr id="39" name="Text 37"/>
          <p:cNvSpPr/>
          <p:nvPr/>
        </p:nvSpPr>
        <p:spPr>
          <a:xfrm>
            <a:off x="4965192" y="3803904"/>
            <a:ext cx="3931920" cy="402336"/>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Run hyper-local campaigns in top-10 pin codes (BC8)</a:t>
            </a:r>
            <a:endParaRPr lang="en-US" sz="1000" dirty="0"/>
          </a:p>
        </p:txBody>
      </p:sp>
      <p:sp>
        <p:nvSpPr>
          <p:cNvPr id="40" name="Shape 38"/>
          <p:cNvSpPr/>
          <p:nvPr/>
        </p:nvSpPr>
        <p:spPr>
          <a:xfrm>
            <a:off x="4818888" y="4279392"/>
            <a:ext cx="91440" cy="91440"/>
          </a:xfrm>
          <a:prstGeom prst="ellipse">
            <a:avLst/>
          </a:prstGeom>
          <a:solidFill>
            <a:srgbClr val="00C48C"/>
          </a:solidFill>
          <a:ln/>
        </p:spPr>
      </p:sp>
      <p:sp>
        <p:nvSpPr>
          <p:cNvPr id="41" name="Text 39"/>
          <p:cNvSpPr/>
          <p:nvPr/>
        </p:nvSpPr>
        <p:spPr>
          <a:xfrm>
            <a:off x="4965192" y="4242816"/>
            <a:ext cx="3931920" cy="402336"/>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Infrastructure build-out in 3 BC8 growth hotspot states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6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1E2E"/>
          </a:solidFill>
          <a:ln/>
        </p:spPr>
      </p:sp>
      <p:sp>
        <p:nvSpPr>
          <p:cNvPr id="3" name="Shape 1"/>
          <p:cNvSpPr/>
          <p:nvPr/>
        </p:nvSpPr>
        <p:spPr>
          <a:xfrm>
            <a:off x="0" y="4828032"/>
            <a:ext cx="9144000" cy="315468"/>
          </a:xfrm>
          <a:prstGeom prst="rect">
            <a:avLst/>
          </a:prstGeom>
          <a:solidFill>
            <a:srgbClr val="5F2EEA">
              <a:alpha val="75000"/>
            </a:srgbClr>
          </a:solidFill>
          <a:ln/>
        </p:spPr>
      </p:sp>
      <p:sp>
        <p:nvSpPr>
          <p:cNvPr id="4" name="Text 2"/>
          <p:cNvSpPr/>
          <p:nvPr/>
        </p:nvSpPr>
        <p:spPr>
          <a:xfrm>
            <a:off x="274320" y="118872"/>
            <a:ext cx="8595360" cy="45720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Technical Stack &amp; Architecture</a:t>
            </a:r>
            <a:endParaRPr lang="en-US" sz="2100" dirty="0"/>
          </a:p>
        </p:txBody>
      </p:sp>
      <p:sp>
        <p:nvSpPr>
          <p:cNvPr id="5" name="Text 3"/>
          <p:cNvSpPr/>
          <p:nvPr/>
        </p:nvSpPr>
        <p:spPr>
          <a:xfrm>
            <a:off x="182880" y="4846320"/>
            <a:ext cx="8778240" cy="237744"/>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PhonePe  •  5 Business Case Studies  •  15 / 18</a:t>
            </a:r>
            <a:endParaRPr lang="en-US" sz="900" dirty="0"/>
          </a:p>
        </p:txBody>
      </p:sp>
      <p:sp>
        <p:nvSpPr>
          <p:cNvPr id="6" name="Shape 4"/>
          <p:cNvSpPr/>
          <p:nvPr/>
        </p:nvSpPr>
        <p:spPr>
          <a:xfrm>
            <a:off x="256032" y="822960"/>
            <a:ext cx="1600200" cy="2377440"/>
          </a:xfrm>
          <a:prstGeom prst="rect">
            <a:avLst/>
          </a:prstGeom>
          <a:solidFill>
            <a:srgbClr val="1E3A5F"/>
          </a:solidFill>
          <a:ln/>
          <a:effectLst>
            <a:outerShdw sx="100000" sy="100000" kx="0" ky="0" algn="bl" rotWithShape="0" blurRad="101600" dist="38100" dir="8100000">
              <a:srgbClr val="000000">
                <a:alpha val="12000"/>
              </a:srgbClr>
            </a:outerShdw>
          </a:effectLst>
        </p:spPr>
      </p:sp>
      <p:sp>
        <p:nvSpPr>
          <p:cNvPr id="7" name="Text 5"/>
          <p:cNvSpPr/>
          <p:nvPr/>
        </p:nvSpPr>
        <p:spPr>
          <a:xfrm>
            <a:off x="256032" y="896112"/>
            <a:ext cx="1600200" cy="384048"/>
          </a:xfrm>
          <a:prstGeom prst="rect">
            <a:avLst/>
          </a:prstGeom>
          <a:noFill/>
          <a:ln/>
        </p:spPr>
        <p:txBody>
          <a:bodyPr wrap="square" lIns="0" tIns="0" rIns="0" bIns="0" rtlCol="0" anchor="ctr"/>
          <a:lstStyle/>
          <a:p>
            <a:pPr algn="ctr" indent="0" marL="0">
              <a:buNone/>
            </a:pPr>
            <a:r>
              <a:rPr lang="en-US" sz="1100" b="1" spc="150" kern="0" dirty="0">
                <a:solidFill>
                  <a:srgbClr val="FFFFFF"/>
                </a:solidFill>
                <a:latin typeface="Calibri" pitchFamily="34" charset="0"/>
                <a:ea typeface="Calibri" pitchFamily="34" charset="-122"/>
                <a:cs typeface="Calibri" pitchFamily="34" charset="-120"/>
              </a:rPr>
              <a:t>Data Source</a:t>
            </a:r>
            <a:endParaRPr lang="en-US" sz="1100" dirty="0"/>
          </a:p>
        </p:txBody>
      </p:sp>
      <p:sp>
        <p:nvSpPr>
          <p:cNvPr id="8" name="Text 6"/>
          <p:cNvSpPr/>
          <p:nvPr/>
        </p:nvSpPr>
        <p:spPr>
          <a:xfrm>
            <a:off x="310896" y="1371600"/>
            <a:ext cx="1490472" cy="169164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PhonePe Pulse</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GitHub JSON files</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State/Year/Quarter hierarchy</a:t>
            </a:r>
            <a:endParaRPr lang="en-US" sz="1000" dirty="0"/>
          </a:p>
        </p:txBody>
      </p:sp>
      <p:sp>
        <p:nvSpPr>
          <p:cNvPr id="9" name="Text 7"/>
          <p:cNvSpPr/>
          <p:nvPr/>
        </p:nvSpPr>
        <p:spPr>
          <a:xfrm>
            <a:off x="1719072" y="1874520"/>
            <a:ext cx="256032" cy="365760"/>
          </a:xfrm>
          <a:prstGeom prst="rect">
            <a:avLst/>
          </a:prstGeom>
          <a:noFill/>
          <a:ln/>
        </p:spPr>
        <p:txBody>
          <a:bodyPr wrap="square" lIns="0" tIns="0" rIns="0" bIns="0" rtlCol="0" anchor="ctr"/>
          <a:lstStyle/>
          <a:p>
            <a:pPr algn="ctr" indent="0" marL="0">
              <a:buNone/>
            </a:pPr>
            <a:r>
              <a:rPr lang="en-US" sz="1400" dirty="0">
                <a:solidFill>
                  <a:srgbClr val="5F2EEA"/>
                </a:solidFill>
              </a:rPr>
              <a:t>▶</a:t>
            </a:r>
            <a:endParaRPr lang="en-US" sz="1400" dirty="0"/>
          </a:p>
        </p:txBody>
      </p:sp>
      <p:sp>
        <p:nvSpPr>
          <p:cNvPr id="10" name="Shape 8"/>
          <p:cNvSpPr/>
          <p:nvPr/>
        </p:nvSpPr>
        <p:spPr>
          <a:xfrm>
            <a:off x="1993392" y="822960"/>
            <a:ext cx="1600200" cy="2377440"/>
          </a:xfrm>
          <a:prstGeom prst="rect">
            <a:avLst/>
          </a:prstGeom>
          <a:solidFill>
            <a:srgbClr val="5F2EEA"/>
          </a:solidFill>
          <a:ln/>
          <a:effectLst>
            <a:outerShdw sx="100000" sy="100000" kx="0" ky="0" algn="bl" rotWithShape="0" blurRad="101600" dist="38100" dir="8100000">
              <a:srgbClr val="000000">
                <a:alpha val="12000"/>
              </a:srgbClr>
            </a:outerShdw>
          </a:effectLst>
        </p:spPr>
      </p:sp>
      <p:sp>
        <p:nvSpPr>
          <p:cNvPr id="11" name="Text 9"/>
          <p:cNvSpPr/>
          <p:nvPr/>
        </p:nvSpPr>
        <p:spPr>
          <a:xfrm>
            <a:off x="1993392" y="896112"/>
            <a:ext cx="1600200" cy="384048"/>
          </a:xfrm>
          <a:prstGeom prst="rect">
            <a:avLst/>
          </a:prstGeom>
          <a:noFill/>
          <a:ln/>
        </p:spPr>
        <p:txBody>
          <a:bodyPr wrap="square" lIns="0" tIns="0" rIns="0" bIns="0" rtlCol="0" anchor="ctr"/>
          <a:lstStyle/>
          <a:p>
            <a:pPr algn="ctr" indent="0" marL="0">
              <a:buNone/>
            </a:pPr>
            <a:r>
              <a:rPr lang="en-US" sz="1100" b="1" spc="150" kern="0" dirty="0">
                <a:solidFill>
                  <a:srgbClr val="FFFFFF"/>
                </a:solidFill>
                <a:latin typeface="Calibri" pitchFamily="34" charset="0"/>
                <a:ea typeface="Calibri" pitchFamily="34" charset="-122"/>
                <a:cs typeface="Calibri" pitchFamily="34" charset="-120"/>
              </a:rPr>
              <a:t>ETL Layer</a:t>
            </a:r>
            <a:endParaRPr lang="en-US" sz="1100" dirty="0"/>
          </a:p>
        </p:txBody>
      </p:sp>
      <p:sp>
        <p:nvSpPr>
          <p:cNvPr id="12" name="Text 10"/>
          <p:cNvSpPr/>
          <p:nvPr/>
        </p:nvSpPr>
        <p:spPr>
          <a:xfrm>
            <a:off x="2048256" y="1371600"/>
            <a:ext cx="1490472" cy="169164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Python extract_load.py</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Git clone + JSON parse</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mysql-connector</a:t>
            </a:r>
            <a:endParaRPr lang="en-US" sz="1000" dirty="0"/>
          </a:p>
        </p:txBody>
      </p:sp>
      <p:sp>
        <p:nvSpPr>
          <p:cNvPr id="13" name="Text 11"/>
          <p:cNvSpPr/>
          <p:nvPr/>
        </p:nvSpPr>
        <p:spPr>
          <a:xfrm>
            <a:off x="3456432" y="1874520"/>
            <a:ext cx="256032" cy="365760"/>
          </a:xfrm>
          <a:prstGeom prst="rect">
            <a:avLst/>
          </a:prstGeom>
          <a:noFill/>
          <a:ln/>
        </p:spPr>
        <p:txBody>
          <a:bodyPr wrap="square" lIns="0" tIns="0" rIns="0" bIns="0" rtlCol="0" anchor="ctr"/>
          <a:lstStyle/>
          <a:p>
            <a:pPr algn="ctr" indent="0" marL="0">
              <a:buNone/>
            </a:pPr>
            <a:r>
              <a:rPr lang="en-US" sz="1400" dirty="0">
                <a:solidFill>
                  <a:srgbClr val="5F2EEA"/>
                </a:solidFill>
              </a:rPr>
              <a:t>▶</a:t>
            </a:r>
            <a:endParaRPr lang="en-US" sz="1400" dirty="0"/>
          </a:p>
        </p:txBody>
      </p:sp>
      <p:sp>
        <p:nvSpPr>
          <p:cNvPr id="14" name="Shape 12"/>
          <p:cNvSpPr/>
          <p:nvPr/>
        </p:nvSpPr>
        <p:spPr>
          <a:xfrm>
            <a:off x="3730752" y="822960"/>
            <a:ext cx="1600200" cy="2377440"/>
          </a:xfrm>
          <a:prstGeom prst="rect">
            <a:avLst/>
          </a:prstGeom>
          <a:solidFill>
            <a:srgbClr val="065A82"/>
          </a:solidFill>
          <a:ln/>
          <a:effectLst>
            <a:outerShdw sx="100000" sy="100000" kx="0" ky="0" algn="bl" rotWithShape="0" blurRad="101600" dist="38100" dir="8100000">
              <a:srgbClr val="000000">
                <a:alpha val="12000"/>
              </a:srgbClr>
            </a:outerShdw>
          </a:effectLst>
        </p:spPr>
      </p:sp>
      <p:sp>
        <p:nvSpPr>
          <p:cNvPr id="15" name="Text 13"/>
          <p:cNvSpPr/>
          <p:nvPr/>
        </p:nvSpPr>
        <p:spPr>
          <a:xfrm>
            <a:off x="3730752" y="896112"/>
            <a:ext cx="1600200" cy="384048"/>
          </a:xfrm>
          <a:prstGeom prst="rect">
            <a:avLst/>
          </a:prstGeom>
          <a:noFill/>
          <a:ln/>
        </p:spPr>
        <p:txBody>
          <a:bodyPr wrap="square" lIns="0" tIns="0" rIns="0" bIns="0" rtlCol="0" anchor="ctr"/>
          <a:lstStyle/>
          <a:p>
            <a:pPr algn="ctr" indent="0" marL="0">
              <a:buNone/>
            </a:pPr>
            <a:r>
              <a:rPr lang="en-US" sz="1100" b="1" spc="150" kern="0" dirty="0">
                <a:solidFill>
                  <a:srgbClr val="FFFFFF"/>
                </a:solidFill>
                <a:latin typeface="Calibri" pitchFamily="34" charset="0"/>
                <a:ea typeface="Calibri" pitchFamily="34" charset="-122"/>
                <a:cs typeface="Calibri" pitchFamily="34" charset="-120"/>
              </a:rPr>
              <a:t>Storage</a:t>
            </a:r>
            <a:endParaRPr lang="en-US" sz="1100" dirty="0"/>
          </a:p>
        </p:txBody>
      </p:sp>
      <p:sp>
        <p:nvSpPr>
          <p:cNvPr id="16" name="Text 14"/>
          <p:cNvSpPr/>
          <p:nvPr/>
        </p:nvSpPr>
        <p:spPr>
          <a:xfrm>
            <a:off x="3785616" y="1371600"/>
            <a:ext cx="1490472" cy="169164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MySQL / PostgreSQL</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9 tables across</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Agg + Map + Top tiers</a:t>
            </a:r>
            <a:endParaRPr lang="en-US" sz="1000" dirty="0"/>
          </a:p>
        </p:txBody>
      </p:sp>
      <p:sp>
        <p:nvSpPr>
          <p:cNvPr id="17" name="Text 15"/>
          <p:cNvSpPr/>
          <p:nvPr/>
        </p:nvSpPr>
        <p:spPr>
          <a:xfrm>
            <a:off x="5193792" y="1874520"/>
            <a:ext cx="256032" cy="365760"/>
          </a:xfrm>
          <a:prstGeom prst="rect">
            <a:avLst/>
          </a:prstGeom>
          <a:noFill/>
          <a:ln/>
        </p:spPr>
        <p:txBody>
          <a:bodyPr wrap="square" lIns="0" tIns="0" rIns="0" bIns="0" rtlCol="0" anchor="ctr"/>
          <a:lstStyle/>
          <a:p>
            <a:pPr algn="ctr" indent="0" marL="0">
              <a:buNone/>
            </a:pPr>
            <a:r>
              <a:rPr lang="en-US" sz="1400" dirty="0">
                <a:solidFill>
                  <a:srgbClr val="5F2EEA"/>
                </a:solidFill>
              </a:rPr>
              <a:t>▶</a:t>
            </a:r>
            <a:endParaRPr lang="en-US" sz="1400" dirty="0"/>
          </a:p>
        </p:txBody>
      </p:sp>
      <p:sp>
        <p:nvSpPr>
          <p:cNvPr id="18" name="Shape 16"/>
          <p:cNvSpPr/>
          <p:nvPr/>
        </p:nvSpPr>
        <p:spPr>
          <a:xfrm>
            <a:off x="5468112" y="822960"/>
            <a:ext cx="1600200" cy="2377440"/>
          </a:xfrm>
          <a:prstGeom prst="rect">
            <a:avLst/>
          </a:prstGeom>
          <a:solidFill>
            <a:srgbClr val="00796B"/>
          </a:solidFill>
          <a:ln/>
          <a:effectLst>
            <a:outerShdw sx="100000" sy="100000" kx="0" ky="0" algn="bl" rotWithShape="0" blurRad="101600" dist="38100" dir="8100000">
              <a:srgbClr val="000000">
                <a:alpha val="12000"/>
              </a:srgbClr>
            </a:outerShdw>
          </a:effectLst>
        </p:spPr>
      </p:sp>
      <p:sp>
        <p:nvSpPr>
          <p:cNvPr id="19" name="Text 17"/>
          <p:cNvSpPr/>
          <p:nvPr/>
        </p:nvSpPr>
        <p:spPr>
          <a:xfrm>
            <a:off x="5468112" y="896112"/>
            <a:ext cx="1600200" cy="384048"/>
          </a:xfrm>
          <a:prstGeom prst="rect">
            <a:avLst/>
          </a:prstGeom>
          <a:noFill/>
          <a:ln/>
        </p:spPr>
        <p:txBody>
          <a:bodyPr wrap="square" lIns="0" tIns="0" rIns="0" bIns="0" rtlCol="0" anchor="ctr"/>
          <a:lstStyle/>
          <a:p>
            <a:pPr algn="ctr" indent="0" marL="0">
              <a:buNone/>
            </a:pPr>
            <a:r>
              <a:rPr lang="en-US" sz="1100" b="1" spc="150" kern="0" dirty="0">
                <a:solidFill>
                  <a:srgbClr val="FFFFFF"/>
                </a:solidFill>
                <a:latin typeface="Calibri" pitchFamily="34" charset="0"/>
                <a:ea typeface="Calibri" pitchFamily="34" charset="-122"/>
                <a:cs typeface="Calibri" pitchFamily="34" charset="-120"/>
              </a:rPr>
              <a:t>SQL Analytics</a:t>
            </a:r>
            <a:endParaRPr lang="en-US" sz="1100" dirty="0"/>
          </a:p>
        </p:txBody>
      </p:sp>
      <p:sp>
        <p:nvSpPr>
          <p:cNvPr id="20" name="Text 18"/>
          <p:cNvSpPr/>
          <p:nvPr/>
        </p:nvSpPr>
        <p:spPr>
          <a:xfrm>
            <a:off x="5522976" y="1371600"/>
            <a:ext cx="1490472" cy="169164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24 business queries</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CTEs + Window Fns</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LAG, RANK, FIRST_VALUE</a:t>
            </a:r>
            <a:endParaRPr lang="en-US" sz="1000" dirty="0"/>
          </a:p>
        </p:txBody>
      </p:sp>
      <p:sp>
        <p:nvSpPr>
          <p:cNvPr id="21" name="Text 19"/>
          <p:cNvSpPr/>
          <p:nvPr/>
        </p:nvSpPr>
        <p:spPr>
          <a:xfrm>
            <a:off x="6931152" y="1874520"/>
            <a:ext cx="256032" cy="365760"/>
          </a:xfrm>
          <a:prstGeom prst="rect">
            <a:avLst/>
          </a:prstGeom>
          <a:noFill/>
          <a:ln/>
        </p:spPr>
        <p:txBody>
          <a:bodyPr wrap="square" lIns="0" tIns="0" rIns="0" bIns="0" rtlCol="0" anchor="ctr"/>
          <a:lstStyle/>
          <a:p>
            <a:pPr algn="ctr" indent="0" marL="0">
              <a:buNone/>
            </a:pPr>
            <a:r>
              <a:rPr lang="en-US" sz="1400" dirty="0">
                <a:solidFill>
                  <a:srgbClr val="5F2EEA"/>
                </a:solidFill>
              </a:rPr>
              <a:t>▶</a:t>
            </a:r>
            <a:endParaRPr lang="en-US" sz="1400" dirty="0"/>
          </a:p>
        </p:txBody>
      </p:sp>
      <p:sp>
        <p:nvSpPr>
          <p:cNvPr id="22" name="Shape 20"/>
          <p:cNvSpPr/>
          <p:nvPr/>
        </p:nvSpPr>
        <p:spPr>
          <a:xfrm>
            <a:off x="7205472" y="822960"/>
            <a:ext cx="1600200" cy="2377440"/>
          </a:xfrm>
          <a:prstGeom prst="rect">
            <a:avLst/>
          </a:prstGeom>
          <a:solidFill>
            <a:srgbClr val="FF6B35"/>
          </a:solidFill>
          <a:ln/>
          <a:effectLst>
            <a:outerShdw sx="100000" sy="100000" kx="0" ky="0" algn="bl" rotWithShape="0" blurRad="101600" dist="38100" dir="8100000">
              <a:srgbClr val="000000">
                <a:alpha val="12000"/>
              </a:srgbClr>
            </a:outerShdw>
          </a:effectLst>
        </p:spPr>
      </p:sp>
      <p:sp>
        <p:nvSpPr>
          <p:cNvPr id="23" name="Text 21"/>
          <p:cNvSpPr/>
          <p:nvPr/>
        </p:nvSpPr>
        <p:spPr>
          <a:xfrm>
            <a:off x="7205472" y="896112"/>
            <a:ext cx="1600200" cy="384048"/>
          </a:xfrm>
          <a:prstGeom prst="rect">
            <a:avLst/>
          </a:prstGeom>
          <a:noFill/>
          <a:ln/>
        </p:spPr>
        <p:txBody>
          <a:bodyPr wrap="square" lIns="0" tIns="0" rIns="0" bIns="0" rtlCol="0" anchor="ctr"/>
          <a:lstStyle/>
          <a:p>
            <a:pPr algn="ctr" indent="0" marL="0">
              <a:buNone/>
            </a:pPr>
            <a:r>
              <a:rPr lang="en-US" sz="1100" b="1" spc="150" kern="0" dirty="0">
                <a:solidFill>
                  <a:srgbClr val="FFFFFF"/>
                </a:solidFill>
                <a:latin typeface="Calibri" pitchFamily="34" charset="0"/>
                <a:ea typeface="Calibri" pitchFamily="34" charset="-122"/>
                <a:cs typeface="Calibri" pitchFamily="34" charset="-120"/>
              </a:rPr>
              <a:t>Dashboard</a:t>
            </a:r>
            <a:endParaRPr lang="en-US" sz="1100" dirty="0"/>
          </a:p>
        </p:txBody>
      </p:sp>
      <p:sp>
        <p:nvSpPr>
          <p:cNvPr id="24" name="Text 22"/>
          <p:cNvSpPr/>
          <p:nvPr/>
        </p:nvSpPr>
        <p:spPr>
          <a:xfrm>
            <a:off x="7260336" y="1371600"/>
            <a:ext cx="1490472" cy="169164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Streamlit + Plotly</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5 BCS pages</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15+ chart types</a:t>
            </a:r>
            <a:endParaRPr lang="en-US" sz="1000" dirty="0"/>
          </a:p>
        </p:txBody>
      </p:sp>
      <p:sp>
        <p:nvSpPr>
          <p:cNvPr id="25" name="Shape 23"/>
          <p:cNvSpPr/>
          <p:nvPr/>
        </p:nvSpPr>
        <p:spPr>
          <a:xfrm>
            <a:off x="228600" y="3337560"/>
            <a:ext cx="8686800" cy="347472"/>
          </a:xfrm>
          <a:prstGeom prst="rect">
            <a:avLst/>
          </a:prstGeom>
          <a:solidFill>
            <a:srgbClr val="1E1E2E"/>
          </a:solidFill>
          <a:ln/>
        </p:spPr>
      </p:sp>
      <p:sp>
        <p:nvSpPr>
          <p:cNvPr id="26" name="Text 24"/>
          <p:cNvSpPr/>
          <p:nvPr/>
        </p:nvSpPr>
        <p:spPr>
          <a:xfrm>
            <a:off x="320040" y="3364992"/>
            <a:ext cx="850392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Project Evaluation Metrics</a:t>
            </a:r>
            <a:endParaRPr lang="en-US" sz="1200" dirty="0"/>
          </a:p>
        </p:txBody>
      </p:sp>
      <p:sp>
        <p:nvSpPr>
          <p:cNvPr id="27" name="Shape 25"/>
          <p:cNvSpPr/>
          <p:nvPr/>
        </p:nvSpPr>
        <p:spPr>
          <a:xfrm>
            <a:off x="228600" y="3730752"/>
            <a:ext cx="1645920" cy="1005840"/>
          </a:xfrm>
          <a:prstGeom prst="rect">
            <a:avLst/>
          </a:prstGeom>
          <a:solidFill>
            <a:srgbClr val="EDE9FF"/>
          </a:solidFill>
          <a:ln w="6350">
            <a:solidFill>
              <a:srgbClr val="DDDDDD"/>
            </a:solidFill>
            <a:prstDash val="solid"/>
          </a:ln>
        </p:spPr>
      </p:sp>
      <p:sp>
        <p:nvSpPr>
          <p:cNvPr id="28" name="Text 26"/>
          <p:cNvSpPr/>
          <p:nvPr/>
        </p:nvSpPr>
        <p:spPr>
          <a:xfrm>
            <a:off x="292608" y="3776472"/>
            <a:ext cx="1508760" cy="256032"/>
          </a:xfrm>
          <a:prstGeom prst="rect">
            <a:avLst/>
          </a:prstGeom>
          <a:noFill/>
          <a:ln/>
        </p:spPr>
        <p:txBody>
          <a:bodyPr wrap="square" lIns="0" tIns="0" rIns="0" bIns="0" rtlCol="0" anchor="ctr"/>
          <a:lstStyle/>
          <a:p>
            <a:pPr indent="0" marL="0">
              <a:buNone/>
            </a:pPr>
            <a:r>
              <a:rPr lang="en-US" sz="1000" b="1" dirty="0">
                <a:solidFill>
                  <a:srgbClr val="1E1E2E"/>
                </a:solidFill>
                <a:latin typeface="Calibri" pitchFamily="34" charset="0"/>
                <a:ea typeface="Calibri" pitchFamily="34" charset="-122"/>
                <a:cs typeface="Calibri" pitchFamily="34" charset="-120"/>
              </a:rPr>
              <a:t>Code Quality</a:t>
            </a:r>
            <a:endParaRPr lang="en-US" sz="1000" dirty="0"/>
          </a:p>
        </p:txBody>
      </p:sp>
      <p:sp>
        <p:nvSpPr>
          <p:cNvPr id="29" name="Text 27"/>
          <p:cNvSpPr/>
          <p:nvPr/>
        </p:nvSpPr>
        <p:spPr>
          <a:xfrm>
            <a:off x="292608" y="4059936"/>
            <a:ext cx="1508760" cy="594360"/>
          </a:xfrm>
          <a:prstGeom prst="rect">
            <a:avLst/>
          </a:prstGeom>
          <a:noFill/>
          <a:ln/>
        </p:spPr>
        <p:txBody>
          <a:bodyPr wrap="square" lIns="0" tIns="0" rIns="0" bIns="0" rtlCol="0" anchor="ctr"/>
          <a:lstStyle/>
          <a:p>
            <a:pPr indent="0" marL="0">
              <a:buNone/>
            </a:pPr>
            <a:r>
              <a:rPr lang="en-US" sz="900" dirty="0">
                <a:solidFill>
                  <a:srgbClr val="444444"/>
                </a:solidFill>
                <a:latin typeface="Calibri" pitchFamily="34" charset="0"/>
                <a:ea typeface="Calibri" pitchFamily="34" charset="-122"/>
                <a:cs typeface="Calibri" pitchFamily="34" charset="-120"/>
              </a:rPr>
              <a:t>PEP8 + docstrings</a:t>
            </a:r>
            <a:endParaRPr lang="en-US" sz="900" dirty="0"/>
          </a:p>
          <a:p>
            <a:pPr indent="0" marL="0">
              <a:buNone/>
            </a:pPr>
            <a:r>
              <a:rPr lang="en-US" sz="900" dirty="0">
                <a:solidFill>
                  <a:srgbClr val="444444"/>
                </a:solidFill>
                <a:latin typeface="Calibri" pitchFamily="34" charset="0"/>
                <a:ea typeface="Calibri" pitchFamily="34" charset="-122"/>
                <a:cs typeface="Calibri" pitchFamily="34" charset="-120"/>
              </a:rPr>
              <a:t>@st.cache_data, modular loaders</a:t>
            </a:r>
            <a:endParaRPr lang="en-US" sz="900" dirty="0"/>
          </a:p>
        </p:txBody>
      </p:sp>
      <p:sp>
        <p:nvSpPr>
          <p:cNvPr id="30" name="Shape 28"/>
          <p:cNvSpPr/>
          <p:nvPr/>
        </p:nvSpPr>
        <p:spPr>
          <a:xfrm>
            <a:off x="1965960" y="3730752"/>
            <a:ext cx="1645920" cy="1005840"/>
          </a:xfrm>
          <a:prstGeom prst="rect">
            <a:avLst/>
          </a:prstGeom>
          <a:solidFill>
            <a:srgbClr val="E8F7FD"/>
          </a:solidFill>
          <a:ln w="6350">
            <a:solidFill>
              <a:srgbClr val="DDDDDD"/>
            </a:solidFill>
            <a:prstDash val="solid"/>
          </a:ln>
        </p:spPr>
      </p:sp>
      <p:sp>
        <p:nvSpPr>
          <p:cNvPr id="31" name="Text 29"/>
          <p:cNvSpPr/>
          <p:nvPr/>
        </p:nvSpPr>
        <p:spPr>
          <a:xfrm>
            <a:off x="2029968" y="3776472"/>
            <a:ext cx="1508760" cy="256032"/>
          </a:xfrm>
          <a:prstGeom prst="rect">
            <a:avLst/>
          </a:prstGeom>
          <a:noFill/>
          <a:ln/>
        </p:spPr>
        <p:txBody>
          <a:bodyPr wrap="square" lIns="0" tIns="0" rIns="0" bIns="0" rtlCol="0" anchor="ctr"/>
          <a:lstStyle/>
          <a:p>
            <a:pPr indent="0" marL="0">
              <a:buNone/>
            </a:pPr>
            <a:r>
              <a:rPr lang="en-US" sz="1000" b="1" dirty="0">
                <a:solidFill>
                  <a:srgbClr val="1E1E2E"/>
                </a:solidFill>
                <a:latin typeface="Calibri" pitchFamily="34" charset="0"/>
                <a:ea typeface="Calibri" pitchFamily="34" charset="-122"/>
                <a:cs typeface="Calibri" pitchFamily="34" charset="-120"/>
              </a:rPr>
              <a:t>SQL Efficiency</a:t>
            </a:r>
            <a:endParaRPr lang="en-US" sz="1000" dirty="0"/>
          </a:p>
        </p:txBody>
      </p:sp>
      <p:sp>
        <p:nvSpPr>
          <p:cNvPr id="32" name="Text 30"/>
          <p:cNvSpPr/>
          <p:nvPr/>
        </p:nvSpPr>
        <p:spPr>
          <a:xfrm>
            <a:off x="2029968" y="4059936"/>
            <a:ext cx="1508760" cy="594360"/>
          </a:xfrm>
          <a:prstGeom prst="rect">
            <a:avLst/>
          </a:prstGeom>
          <a:noFill/>
          <a:ln/>
        </p:spPr>
        <p:txBody>
          <a:bodyPr wrap="square" lIns="0" tIns="0" rIns="0" bIns="0" rtlCol="0" anchor="ctr"/>
          <a:lstStyle/>
          <a:p>
            <a:pPr indent="0" marL="0">
              <a:buNone/>
            </a:pPr>
            <a:r>
              <a:rPr lang="en-US" sz="900" dirty="0">
                <a:solidFill>
                  <a:srgbClr val="444444"/>
                </a:solidFill>
                <a:latin typeface="Calibri" pitchFamily="34" charset="0"/>
                <a:ea typeface="Calibri" pitchFamily="34" charset="-122"/>
                <a:cs typeface="Calibri" pitchFamily="34" charset="-120"/>
              </a:rPr>
              <a:t>Composite indexes</a:t>
            </a:r>
            <a:endParaRPr lang="en-US" sz="900" dirty="0"/>
          </a:p>
          <a:p>
            <a:pPr indent="0" marL="0">
              <a:buNone/>
            </a:pPr>
            <a:r>
              <a:rPr lang="en-US" sz="900" dirty="0">
                <a:solidFill>
                  <a:srgbClr val="444444"/>
                </a:solidFill>
                <a:latin typeface="Calibri" pitchFamily="34" charset="0"/>
                <a:ea typeface="Calibri" pitchFamily="34" charset="-122"/>
                <a:cs typeface="Calibri" pitchFamily="34" charset="-120"/>
              </a:rPr>
              <a:t>CTEs over sub-selects</a:t>
            </a:r>
            <a:endParaRPr lang="en-US" sz="900" dirty="0"/>
          </a:p>
        </p:txBody>
      </p:sp>
      <p:sp>
        <p:nvSpPr>
          <p:cNvPr id="33" name="Shape 31"/>
          <p:cNvSpPr/>
          <p:nvPr/>
        </p:nvSpPr>
        <p:spPr>
          <a:xfrm>
            <a:off x="3703320" y="3730752"/>
            <a:ext cx="1645920" cy="1005840"/>
          </a:xfrm>
          <a:prstGeom prst="rect">
            <a:avLst/>
          </a:prstGeom>
          <a:solidFill>
            <a:srgbClr val="EDE9FF"/>
          </a:solidFill>
          <a:ln w="6350">
            <a:solidFill>
              <a:srgbClr val="DDDDDD"/>
            </a:solidFill>
            <a:prstDash val="solid"/>
          </a:ln>
        </p:spPr>
      </p:sp>
      <p:sp>
        <p:nvSpPr>
          <p:cNvPr id="34" name="Text 32"/>
          <p:cNvSpPr/>
          <p:nvPr/>
        </p:nvSpPr>
        <p:spPr>
          <a:xfrm>
            <a:off x="3767328" y="3776472"/>
            <a:ext cx="1508760" cy="256032"/>
          </a:xfrm>
          <a:prstGeom prst="rect">
            <a:avLst/>
          </a:prstGeom>
          <a:noFill/>
          <a:ln/>
        </p:spPr>
        <p:txBody>
          <a:bodyPr wrap="square" lIns="0" tIns="0" rIns="0" bIns="0" rtlCol="0" anchor="ctr"/>
          <a:lstStyle/>
          <a:p>
            <a:pPr indent="0" marL="0">
              <a:buNone/>
            </a:pPr>
            <a:r>
              <a:rPr lang="en-US" sz="1000" b="1" dirty="0">
                <a:solidFill>
                  <a:srgbClr val="1E1E2E"/>
                </a:solidFill>
                <a:latin typeface="Calibri" pitchFamily="34" charset="0"/>
                <a:ea typeface="Calibri" pitchFamily="34" charset="-122"/>
                <a:cs typeface="Calibri" pitchFamily="34" charset="-120"/>
              </a:rPr>
              <a:t>Visualizations</a:t>
            </a:r>
            <a:endParaRPr lang="en-US" sz="1000" dirty="0"/>
          </a:p>
        </p:txBody>
      </p:sp>
      <p:sp>
        <p:nvSpPr>
          <p:cNvPr id="35" name="Text 33"/>
          <p:cNvSpPr/>
          <p:nvPr/>
        </p:nvSpPr>
        <p:spPr>
          <a:xfrm>
            <a:off x="3767328" y="4059936"/>
            <a:ext cx="1508760" cy="594360"/>
          </a:xfrm>
          <a:prstGeom prst="rect">
            <a:avLst/>
          </a:prstGeom>
          <a:noFill/>
          <a:ln/>
        </p:spPr>
        <p:txBody>
          <a:bodyPr wrap="square" lIns="0" tIns="0" rIns="0" bIns="0" rtlCol="0" anchor="ctr"/>
          <a:lstStyle/>
          <a:p>
            <a:pPr indent="0" marL="0">
              <a:buNone/>
            </a:pPr>
            <a:r>
              <a:rPr lang="en-US" sz="900" dirty="0">
                <a:solidFill>
                  <a:srgbClr val="444444"/>
                </a:solidFill>
                <a:latin typeface="Calibri" pitchFamily="34" charset="0"/>
                <a:ea typeface="Calibri" pitchFamily="34" charset="-122"/>
                <a:cs typeface="Calibri" pitchFamily="34" charset="-120"/>
              </a:rPr>
              <a:t>15+ Plotly chart types</a:t>
            </a:r>
            <a:endParaRPr lang="en-US" sz="900" dirty="0"/>
          </a:p>
          <a:p>
            <a:pPr indent="0" marL="0">
              <a:buNone/>
            </a:pPr>
            <a:r>
              <a:rPr lang="en-US" sz="900" dirty="0">
                <a:solidFill>
                  <a:srgbClr val="444444"/>
                </a:solidFill>
                <a:latin typeface="Calibri" pitchFamily="34" charset="0"/>
                <a:ea typeface="Calibri" pitchFamily="34" charset="-122"/>
                <a:cs typeface="Calibri" pitchFamily="34" charset="-120"/>
              </a:rPr>
              <a:t>Dynamic filters, heatmaps</a:t>
            </a:r>
            <a:endParaRPr lang="en-US" sz="900" dirty="0"/>
          </a:p>
        </p:txBody>
      </p:sp>
      <p:sp>
        <p:nvSpPr>
          <p:cNvPr id="36" name="Shape 34"/>
          <p:cNvSpPr/>
          <p:nvPr/>
        </p:nvSpPr>
        <p:spPr>
          <a:xfrm>
            <a:off x="5440680" y="3730752"/>
            <a:ext cx="1645920" cy="1005840"/>
          </a:xfrm>
          <a:prstGeom prst="rect">
            <a:avLst/>
          </a:prstGeom>
          <a:solidFill>
            <a:srgbClr val="E8F7FD"/>
          </a:solidFill>
          <a:ln w="6350">
            <a:solidFill>
              <a:srgbClr val="DDDDDD"/>
            </a:solidFill>
            <a:prstDash val="solid"/>
          </a:ln>
        </p:spPr>
      </p:sp>
      <p:sp>
        <p:nvSpPr>
          <p:cNvPr id="37" name="Text 35"/>
          <p:cNvSpPr/>
          <p:nvPr/>
        </p:nvSpPr>
        <p:spPr>
          <a:xfrm>
            <a:off x="5504688" y="3776472"/>
            <a:ext cx="1508760" cy="256032"/>
          </a:xfrm>
          <a:prstGeom prst="rect">
            <a:avLst/>
          </a:prstGeom>
          <a:noFill/>
          <a:ln/>
        </p:spPr>
        <p:txBody>
          <a:bodyPr wrap="square" lIns="0" tIns="0" rIns="0" bIns="0" rtlCol="0" anchor="ctr"/>
          <a:lstStyle/>
          <a:p>
            <a:pPr indent="0" marL="0">
              <a:buNone/>
            </a:pPr>
            <a:r>
              <a:rPr lang="en-US" sz="1000" b="1" dirty="0">
                <a:solidFill>
                  <a:srgbClr val="1E1E2E"/>
                </a:solidFill>
                <a:latin typeface="Calibri" pitchFamily="34" charset="0"/>
                <a:ea typeface="Calibri" pitchFamily="34" charset="-122"/>
                <a:cs typeface="Calibri" pitchFamily="34" charset="-120"/>
              </a:rPr>
              <a:t>Insights Validity</a:t>
            </a:r>
            <a:endParaRPr lang="en-US" sz="1000" dirty="0"/>
          </a:p>
        </p:txBody>
      </p:sp>
      <p:sp>
        <p:nvSpPr>
          <p:cNvPr id="38" name="Text 36"/>
          <p:cNvSpPr/>
          <p:nvPr/>
        </p:nvSpPr>
        <p:spPr>
          <a:xfrm>
            <a:off x="5504688" y="4059936"/>
            <a:ext cx="1508760" cy="594360"/>
          </a:xfrm>
          <a:prstGeom prst="rect">
            <a:avLst/>
          </a:prstGeom>
          <a:noFill/>
          <a:ln/>
        </p:spPr>
        <p:txBody>
          <a:bodyPr wrap="square" lIns="0" tIns="0" rIns="0" bIns="0" rtlCol="0" anchor="ctr"/>
          <a:lstStyle/>
          <a:p>
            <a:pPr indent="0" marL="0">
              <a:buNone/>
            </a:pPr>
            <a:r>
              <a:rPr lang="en-US" sz="900" dirty="0">
                <a:solidFill>
                  <a:srgbClr val="444444"/>
                </a:solidFill>
                <a:latin typeface="Calibri" pitchFamily="34" charset="0"/>
                <a:ea typeface="Calibri" pitchFamily="34" charset="-122"/>
                <a:cs typeface="Calibri" pitchFamily="34" charset="-120"/>
              </a:rPr>
              <a:t>Per-BCS findings</a:t>
            </a:r>
            <a:endParaRPr lang="en-US" sz="900" dirty="0"/>
          </a:p>
          <a:p>
            <a:pPr indent="0" marL="0">
              <a:buNone/>
            </a:pPr>
            <a:r>
              <a:rPr lang="en-US" sz="900" dirty="0">
                <a:solidFill>
                  <a:srgbClr val="444444"/>
                </a:solidFill>
                <a:latin typeface="Calibri" pitchFamily="34" charset="0"/>
                <a:ea typeface="Calibri" pitchFamily="34" charset="-122"/>
                <a:cs typeface="Calibri" pitchFamily="34" charset="-120"/>
              </a:rPr>
              <a:t>Actionable recommendations</a:t>
            </a:r>
            <a:endParaRPr lang="en-US" sz="900" dirty="0"/>
          </a:p>
        </p:txBody>
      </p:sp>
      <p:sp>
        <p:nvSpPr>
          <p:cNvPr id="39" name="Shape 37"/>
          <p:cNvSpPr/>
          <p:nvPr/>
        </p:nvSpPr>
        <p:spPr>
          <a:xfrm>
            <a:off x="7178040" y="3730752"/>
            <a:ext cx="1645920" cy="1005840"/>
          </a:xfrm>
          <a:prstGeom prst="rect">
            <a:avLst/>
          </a:prstGeom>
          <a:solidFill>
            <a:srgbClr val="EDE9FF"/>
          </a:solidFill>
          <a:ln w="6350">
            <a:solidFill>
              <a:srgbClr val="DDDDDD"/>
            </a:solidFill>
            <a:prstDash val="solid"/>
          </a:ln>
        </p:spPr>
      </p:sp>
      <p:sp>
        <p:nvSpPr>
          <p:cNvPr id="40" name="Text 38"/>
          <p:cNvSpPr/>
          <p:nvPr/>
        </p:nvSpPr>
        <p:spPr>
          <a:xfrm>
            <a:off x="7242048" y="3776472"/>
            <a:ext cx="1508760" cy="256032"/>
          </a:xfrm>
          <a:prstGeom prst="rect">
            <a:avLst/>
          </a:prstGeom>
          <a:noFill/>
          <a:ln/>
        </p:spPr>
        <p:txBody>
          <a:bodyPr wrap="square" lIns="0" tIns="0" rIns="0" bIns="0" rtlCol="0" anchor="ctr"/>
          <a:lstStyle/>
          <a:p>
            <a:pPr indent="0" marL="0">
              <a:buNone/>
            </a:pPr>
            <a:r>
              <a:rPr lang="en-US" sz="1000" b="1" dirty="0">
                <a:solidFill>
                  <a:srgbClr val="1E1E2E"/>
                </a:solidFill>
                <a:latin typeface="Calibri" pitchFamily="34" charset="0"/>
                <a:ea typeface="Calibri" pitchFamily="34" charset="-122"/>
                <a:cs typeface="Calibri" pitchFamily="34" charset="-120"/>
              </a:rPr>
              <a:t>Documentation</a:t>
            </a:r>
            <a:endParaRPr lang="en-US" sz="1000" dirty="0"/>
          </a:p>
        </p:txBody>
      </p:sp>
      <p:sp>
        <p:nvSpPr>
          <p:cNvPr id="41" name="Text 39"/>
          <p:cNvSpPr/>
          <p:nvPr/>
        </p:nvSpPr>
        <p:spPr>
          <a:xfrm>
            <a:off x="7242048" y="4059936"/>
            <a:ext cx="1508760" cy="594360"/>
          </a:xfrm>
          <a:prstGeom prst="rect">
            <a:avLst/>
          </a:prstGeom>
          <a:noFill/>
          <a:ln/>
        </p:spPr>
        <p:txBody>
          <a:bodyPr wrap="square" lIns="0" tIns="0" rIns="0" bIns="0" rtlCol="0" anchor="ctr"/>
          <a:lstStyle/>
          <a:p>
            <a:pPr indent="0" marL="0">
              <a:buNone/>
            </a:pPr>
            <a:r>
              <a:rPr lang="en-US" sz="900" dirty="0">
                <a:solidFill>
                  <a:srgbClr val="444444"/>
                </a:solidFill>
                <a:latin typeface="Calibri" pitchFamily="34" charset="0"/>
                <a:ea typeface="Calibri" pitchFamily="34" charset="-122"/>
                <a:cs typeface="Calibri" pitchFamily="34" charset="-120"/>
              </a:rPr>
              <a:t>10-section Word doc</a:t>
            </a:r>
            <a:endParaRPr lang="en-US" sz="900" dirty="0"/>
          </a:p>
          <a:p>
            <a:pPr indent="0" marL="0">
              <a:buNone/>
            </a:pPr>
            <a:r>
              <a:rPr lang="en-US" sz="900" dirty="0">
                <a:solidFill>
                  <a:srgbClr val="444444"/>
                </a:solidFill>
                <a:latin typeface="Calibri" pitchFamily="34" charset="0"/>
                <a:ea typeface="Calibri" pitchFamily="34" charset="-122"/>
                <a:cs typeface="Calibri" pitchFamily="34" charset="-120"/>
              </a:rPr>
              <a:t>37 headings, 9 tables</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6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1E2E"/>
          </a:solidFill>
          <a:ln/>
        </p:spPr>
      </p:sp>
      <p:sp>
        <p:nvSpPr>
          <p:cNvPr id="3" name="Shape 1"/>
          <p:cNvSpPr/>
          <p:nvPr/>
        </p:nvSpPr>
        <p:spPr>
          <a:xfrm>
            <a:off x="0" y="4828032"/>
            <a:ext cx="9144000" cy="315468"/>
          </a:xfrm>
          <a:prstGeom prst="rect">
            <a:avLst/>
          </a:prstGeom>
          <a:solidFill>
            <a:srgbClr val="5F2EEA">
              <a:alpha val="75000"/>
            </a:srgbClr>
          </a:solidFill>
          <a:ln/>
        </p:spPr>
      </p:sp>
      <p:sp>
        <p:nvSpPr>
          <p:cNvPr id="4" name="Text 2"/>
          <p:cNvSpPr/>
          <p:nvPr/>
        </p:nvSpPr>
        <p:spPr>
          <a:xfrm>
            <a:off x="274320" y="118872"/>
            <a:ext cx="8595360" cy="45720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Streamlit Dashboard – Page Structure &amp; Features</a:t>
            </a:r>
            <a:endParaRPr lang="en-US" sz="2100" dirty="0"/>
          </a:p>
        </p:txBody>
      </p:sp>
      <p:sp>
        <p:nvSpPr>
          <p:cNvPr id="5" name="Text 3"/>
          <p:cNvSpPr/>
          <p:nvPr/>
        </p:nvSpPr>
        <p:spPr>
          <a:xfrm>
            <a:off x="182880" y="4846320"/>
            <a:ext cx="8778240" cy="237744"/>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PhonePe  •  5 Business Case Studies  •  16 / 18</a:t>
            </a:r>
            <a:endParaRPr lang="en-US" sz="900" dirty="0"/>
          </a:p>
        </p:txBody>
      </p:sp>
      <p:sp>
        <p:nvSpPr>
          <p:cNvPr id="6" name="Shape 4"/>
          <p:cNvSpPr/>
          <p:nvPr/>
        </p:nvSpPr>
        <p:spPr>
          <a:xfrm>
            <a:off x="228600" y="804672"/>
            <a:ext cx="2788920" cy="19202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7" name="Shape 5"/>
          <p:cNvSpPr/>
          <p:nvPr/>
        </p:nvSpPr>
        <p:spPr>
          <a:xfrm>
            <a:off x="228600" y="804672"/>
            <a:ext cx="2788920" cy="411480"/>
          </a:xfrm>
          <a:prstGeom prst="rect">
            <a:avLst/>
          </a:prstGeom>
          <a:solidFill>
            <a:srgbClr val="5F2EEA"/>
          </a:solidFill>
          <a:ln/>
        </p:spPr>
      </p:sp>
      <p:sp>
        <p:nvSpPr>
          <p:cNvPr id="8" name="Text 6"/>
          <p:cNvSpPr/>
          <p:nvPr/>
        </p:nvSpPr>
        <p:spPr>
          <a:xfrm>
            <a:off x="320040" y="859536"/>
            <a:ext cx="2606040" cy="3200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BC1: Transaction Dynamics</a:t>
            </a:r>
            <a:endParaRPr lang="en-US" sz="1100" dirty="0"/>
          </a:p>
        </p:txBody>
      </p:sp>
      <p:sp>
        <p:nvSpPr>
          <p:cNvPr id="9" name="Text 7"/>
          <p:cNvSpPr/>
          <p:nvPr/>
        </p:nvSpPr>
        <p:spPr>
          <a:xfrm>
            <a:off x="338328" y="1307592"/>
            <a:ext cx="2578608" cy="1325880"/>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QoQ trend lines • Category heatmap</a:t>
            </a:r>
            <a:endParaRPr lang="en-US" sz="1000" dirty="0"/>
          </a:p>
          <a:p>
            <a:pPr indent="0" marL="0">
              <a:buNone/>
            </a:pPr>
            <a:r>
              <a:rPr lang="en-US" sz="1000" dirty="0">
                <a:solidFill>
                  <a:srgbClr val="333333"/>
                </a:solidFill>
                <a:latin typeface="Calibri" pitchFamily="34" charset="0"/>
                <a:ea typeface="Calibri" pitchFamily="34" charset="-122"/>
                <a:cs typeface="Calibri" pitchFamily="34" charset="-120"/>
              </a:rPr>
              <a:t>State benchmarking • Growth table</a:t>
            </a:r>
            <a:endParaRPr lang="en-US" sz="1000" dirty="0"/>
          </a:p>
        </p:txBody>
      </p:sp>
      <p:sp>
        <p:nvSpPr>
          <p:cNvPr id="10" name="Shape 8"/>
          <p:cNvSpPr/>
          <p:nvPr/>
        </p:nvSpPr>
        <p:spPr>
          <a:xfrm>
            <a:off x="3200400" y="804672"/>
            <a:ext cx="2788920" cy="19202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1" name="Shape 9"/>
          <p:cNvSpPr/>
          <p:nvPr/>
        </p:nvSpPr>
        <p:spPr>
          <a:xfrm>
            <a:off x="3200400" y="804672"/>
            <a:ext cx="2788920" cy="411480"/>
          </a:xfrm>
          <a:prstGeom prst="rect">
            <a:avLst/>
          </a:prstGeom>
          <a:solidFill>
            <a:srgbClr val="00B9F1"/>
          </a:solidFill>
          <a:ln/>
        </p:spPr>
      </p:sp>
      <p:sp>
        <p:nvSpPr>
          <p:cNvPr id="12" name="Text 10"/>
          <p:cNvSpPr/>
          <p:nvPr/>
        </p:nvSpPr>
        <p:spPr>
          <a:xfrm>
            <a:off x="3291840" y="859536"/>
            <a:ext cx="2606040" cy="3200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BC2: Device &amp; Engagement</a:t>
            </a:r>
            <a:endParaRPr lang="en-US" sz="1100" dirty="0"/>
          </a:p>
        </p:txBody>
      </p:sp>
      <p:sp>
        <p:nvSpPr>
          <p:cNvPr id="13" name="Text 11"/>
          <p:cNvSpPr/>
          <p:nvPr/>
        </p:nvSpPr>
        <p:spPr>
          <a:xfrm>
            <a:off x="3310128" y="1307592"/>
            <a:ext cx="2578608" cy="1325880"/>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Brand pie + heatmap • Engagement ratio</a:t>
            </a:r>
            <a:endParaRPr lang="en-US" sz="1000" dirty="0"/>
          </a:p>
          <a:p>
            <a:pPr indent="0" marL="0">
              <a:buNone/>
            </a:pPr>
            <a:r>
              <a:rPr lang="en-US" sz="1000" dirty="0">
                <a:solidFill>
                  <a:srgbClr val="333333"/>
                </a:solidFill>
                <a:latin typeface="Calibri" pitchFamily="34" charset="0"/>
                <a:ea typeface="Calibri" pitchFamily="34" charset="-122"/>
                <a:cs typeface="Calibri" pitchFamily="34" charset="-120"/>
              </a:rPr>
              <a:t>Underutilisation scatter • Dual-axis trend</a:t>
            </a:r>
            <a:endParaRPr lang="en-US" sz="1000" dirty="0"/>
          </a:p>
        </p:txBody>
      </p:sp>
      <p:sp>
        <p:nvSpPr>
          <p:cNvPr id="14" name="Shape 12"/>
          <p:cNvSpPr/>
          <p:nvPr/>
        </p:nvSpPr>
        <p:spPr>
          <a:xfrm>
            <a:off x="6172200" y="804672"/>
            <a:ext cx="2788920" cy="19202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5" name="Shape 13"/>
          <p:cNvSpPr/>
          <p:nvPr/>
        </p:nvSpPr>
        <p:spPr>
          <a:xfrm>
            <a:off x="6172200" y="804672"/>
            <a:ext cx="2788920" cy="411480"/>
          </a:xfrm>
          <a:prstGeom prst="rect">
            <a:avLst/>
          </a:prstGeom>
          <a:solidFill>
            <a:srgbClr val="FF6B35"/>
          </a:solidFill>
          <a:ln/>
        </p:spPr>
      </p:sp>
      <p:sp>
        <p:nvSpPr>
          <p:cNvPr id="16" name="Text 14"/>
          <p:cNvSpPr/>
          <p:nvPr/>
        </p:nvSpPr>
        <p:spPr>
          <a:xfrm>
            <a:off x="6263640" y="859536"/>
            <a:ext cx="2606040" cy="3200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BC3: Insurance Penetration</a:t>
            </a:r>
            <a:endParaRPr lang="en-US" sz="1100" dirty="0"/>
          </a:p>
        </p:txBody>
      </p:sp>
      <p:sp>
        <p:nvSpPr>
          <p:cNvPr id="17" name="Text 15"/>
          <p:cNvSpPr/>
          <p:nvPr/>
        </p:nvSpPr>
        <p:spPr>
          <a:xfrm>
            <a:off x="6281928" y="1307592"/>
            <a:ext cx="2578608" cy="1325880"/>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Penetration bar • Dual-axis growth</a:t>
            </a:r>
            <a:endParaRPr lang="en-US" sz="1000" dirty="0"/>
          </a:p>
          <a:p>
            <a:pPr indent="0" marL="0">
              <a:buNone/>
            </a:pPr>
            <a:r>
              <a:rPr lang="en-US" sz="1000" dirty="0">
                <a:solidFill>
                  <a:srgbClr val="333333"/>
                </a:solidFill>
                <a:latin typeface="Calibri" pitchFamily="34" charset="0"/>
                <a:ea typeface="Calibri" pitchFamily="34" charset="-122"/>
                <a:cs typeface="Calibri" pitchFamily="34" charset="-120"/>
              </a:rPr>
              <a:t>Opportunity treemap • Priority table</a:t>
            </a:r>
            <a:endParaRPr lang="en-US" sz="1000" dirty="0"/>
          </a:p>
        </p:txBody>
      </p:sp>
      <p:sp>
        <p:nvSpPr>
          <p:cNvPr id="18" name="Shape 16"/>
          <p:cNvSpPr/>
          <p:nvPr/>
        </p:nvSpPr>
        <p:spPr>
          <a:xfrm>
            <a:off x="1485900" y="2880360"/>
            <a:ext cx="2788920" cy="19202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9" name="Shape 17"/>
          <p:cNvSpPr/>
          <p:nvPr/>
        </p:nvSpPr>
        <p:spPr>
          <a:xfrm>
            <a:off x="1485900" y="2880360"/>
            <a:ext cx="2788920" cy="411480"/>
          </a:xfrm>
          <a:prstGeom prst="rect">
            <a:avLst/>
          </a:prstGeom>
          <a:solidFill>
            <a:srgbClr val="00C48C"/>
          </a:solidFill>
          <a:ln/>
        </p:spPr>
      </p:sp>
      <p:sp>
        <p:nvSpPr>
          <p:cNvPr id="20" name="Text 18"/>
          <p:cNvSpPr/>
          <p:nvPr/>
        </p:nvSpPr>
        <p:spPr>
          <a:xfrm>
            <a:off x="1577340" y="2935224"/>
            <a:ext cx="2606040" cy="3200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BC7: States &amp; Districts</a:t>
            </a:r>
            <a:endParaRPr lang="en-US" sz="1100" dirty="0"/>
          </a:p>
        </p:txBody>
      </p:sp>
      <p:sp>
        <p:nvSpPr>
          <p:cNvPr id="21" name="Text 19"/>
          <p:cNvSpPr/>
          <p:nvPr/>
        </p:nvSpPr>
        <p:spPr>
          <a:xfrm>
            <a:off x="1595628" y="3383280"/>
            <a:ext cx="2578608" cy="1325880"/>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State rank bar + pie • District drill-down</a:t>
            </a:r>
            <a:endParaRPr lang="en-US" sz="1000" dirty="0"/>
          </a:p>
          <a:p>
            <a:pPr indent="0" marL="0">
              <a:buNone/>
            </a:pPr>
            <a:r>
              <a:rPr lang="en-US" sz="1000" dirty="0">
                <a:solidFill>
                  <a:srgbClr val="333333"/>
                </a:solidFill>
                <a:latin typeface="Calibri" pitchFamily="34" charset="0"/>
                <a:ea typeface="Calibri" pitchFamily="34" charset="-122"/>
                <a:cs typeface="Calibri" pitchFamily="34" charset="-120"/>
              </a:rPr>
              <a:t>Pin code tables • Quarter heatmap</a:t>
            </a:r>
            <a:endParaRPr lang="en-US" sz="1000" dirty="0"/>
          </a:p>
        </p:txBody>
      </p:sp>
      <p:sp>
        <p:nvSpPr>
          <p:cNvPr id="22" name="Shape 20"/>
          <p:cNvSpPr/>
          <p:nvPr/>
        </p:nvSpPr>
        <p:spPr>
          <a:xfrm>
            <a:off x="4457700" y="2880360"/>
            <a:ext cx="2788920" cy="19202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3" name="Shape 21"/>
          <p:cNvSpPr/>
          <p:nvPr/>
        </p:nvSpPr>
        <p:spPr>
          <a:xfrm>
            <a:off x="4457700" y="2880360"/>
            <a:ext cx="2788920" cy="411480"/>
          </a:xfrm>
          <a:prstGeom prst="rect">
            <a:avLst/>
          </a:prstGeom>
          <a:solidFill>
            <a:srgbClr val="7C3AED"/>
          </a:solidFill>
          <a:ln/>
        </p:spPr>
      </p:sp>
      <p:sp>
        <p:nvSpPr>
          <p:cNvPr id="24" name="Text 22"/>
          <p:cNvSpPr/>
          <p:nvPr/>
        </p:nvSpPr>
        <p:spPr>
          <a:xfrm>
            <a:off x="4549140" y="2935224"/>
            <a:ext cx="2606040" cy="3200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BC8: User Registration</a:t>
            </a:r>
            <a:endParaRPr lang="en-US" sz="1100" dirty="0"/>
          </a:p>
        </p:txBody>
      </p:sp>
      <p:sp>
        <p:nvSpPr>
          <p:cNvPr id="25" name="Text 23"/>
          <p:cNvSpPr/>
          <p:nvPr/>
        </p:nvSpPr>
        <p:spPr>
          <a:xfrm>
            <a:off x="4567428" y="3383280"/>
            <a:ext cx="2578608" cy="1325880"/>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State funnel • District table</a:t>
            </a:r>
            <a:endParaRPr lang="en-US" sz="1000" dirty="0"/>
          </a:p>
          <a:p>
            <a:pPr indent="0" marL="0">
              <a:buNone/>
            </a:pPr>
            <a:r>
              <a:rPr lang="en-US" sz="1000" dirty="0">
                <a:solidFill>
                  <a:srgbClr val="333333"/>
                </a:solidFill>
                <a:latin typeface="Calibri" pitchFamily="34" charset="0"/>
                <a:ea typeface="Calibri" pitchFamily="34" charset="-122"/>
                <a:cs typeface="Calibri" pitchFamily="34" charset="-120"/>
              </a:rPr>
              <a:t>Pin-code table • Growth hotspot heatmap</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6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1E2E"/>
          </a:solidFill>
          <a:ln/>
        </p:spPr>
      </p:sp>
      <p:sp>
        <p:nvSpPr>
          <p:cNvPr id="3" name="Shape 1"/>
          <p:cNvSpPr/>
          <p:nvPr/>
        </p:nvSpPr>
        <p:spPr>
          <a:xfrm>
            <a:off x="0" y="4828032"/>
            <a:ext cx="9144000" cy="315468"/>
          </a:xfrm>
          <a:prstGeom prst="rect">
            <a:avLst/>
          </a:prstGeom>
          <a:solidFill>
            <a:srgbClr val="5F2EEA">
              <a:alpha val="75000"/>
            </a:srgbClr>
          </a:solidFill>
          <a:ln/>
        </p:spPr>
      </p:sp>
      <p:sp>
        <p:nvSpPr>
          <p:cNvPr id="4" name="Text 2"/>
          <p:cNvSpPr/>
          <p:nvPr/>
        </p:nvSpPr>
        <p:spPr>
          <a:xfrm>
            <a:off x="274320" y="118872"/>
            <a:ext cx="8595360" cy="45720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Setup &amp; Running Guide</a:t>
            </a:r>
            <a:endParaRPr lang="en-US" sz="2100" dirty="0"/>
          </a:p>
        </p:txBody>
      </p:sp>
      <p:sp>
        <p:nvSpPr>
          <p:cNvPr id="5" name="Text 3"/>
          <p:cNvSpPr/>
          <p:nvPr/>
        </p:nvSpPr>
        <p:spPr>
          <a:xfrm>
            <a:off x="182880" y="4846320"/>
            <a:ext cx="8778240" cy="237744"/>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PhonePe  •  5 Business Case Studies  •  17 / 18</a:t>
            </a:r>
            <a:endParaRPr lang="en-US" sz="900" dirty="0"/>
          </a:p>
        </p:txBody>
      </p:sp>
      <p:sp>
        <p:nvSpPr>
          <p:cNvPr id="6" name="Shape 4"/>
          <p:cNvSpPr/>
          <p:nvPr/>
        </p:nvSpPr>
        <p:spPr>
          <a:xfrm>
            <a:off x="228600" y="804672"/>
            <a:ext cx="2011680" cy="384048"/>
          </a:xfrm>
          <a:prstGeom prst="rect">
            <a:avLst/>
          </a:prstGeom>
          <a:solidFill>
            <a:srgbClr val="5F2EEA"/>
          </a:solidFill>
          <a:ln/>
        </p:spPr>
      </p:sp>
      <p:sp>
        <p:nvSpPr>
          <p:cNvPr id="7" name="Text 5"/>
          <p:cNvSpPr/>
          <p:nvPr/>
        </p:nvSpPr>
        <p:spPr>
          <a:xfrm>
            <a:off x="228600" y="804672"/>
            <a:ext cx="2011680" cy="384048"/>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STEP 1</a:t>
            </a:r>
            <a:endParaRPr lang="en-US" sz="1200" dirty="0"/>
          </a:p>
        </p:txBody>
      </p:sp>
      <p:sp>
        <p:nvSpPr>
          <p:cNvPr id="8" name="Shape 6"/>
          <p:cNvSpPr/>
          <p:nvPr/>
        </p:nvSpPr>
        <p:spPr>
          <a:xfrm>
            <a:off x="228600" y="1234440"/>
            <a:ext cx="2011680" cy="14630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9" name="Text 7"/>
          <p:cNvSpPr/>
          <p:nvPr/>
        </p:nvSpPr>
        <p:spPr>
          <a:xfrm>
            <a:off x="320040" y="1298448"/>
            <a:ext cx="1828800" cy="274320"/>
          </a:xfrm>
          <a:prstGeom prst="rect">
            <a:avLst/>
          </a:prstGeom>
          <a:noFill/>
          <a:ln/>
        </p:spPr>
        <p:txBody>
          <a:bodyPr wrap="square" lIns="0" tIns="0" rIns="0" bIns="0" rtlCol="0" anchor="ctr"/>
          <a:lstStyle/>
          <a:p>
            <a:pPr indent="0" marL="0">
              <a:buNone/>
            </a:pPr>
            <a:r>
              <a:rPr lang="en-US" sz="1100" b="1" dirty="0">
                <a:solidFill>
                  <a:srgbClr val="1E1E2E"/>
                </a:solidFill>
                <a:latin typeface="Calibri" pitchFamily="34" charset="0"/>
                <a:ea typeface="Calibri" pitchFamily="34" charset="-122"/>
                <a:cs typeface="Calibri" pitchFamily="34" charset="-120"/>
              </a:rPr>
              <a:t>Install Dependencies</a:t>
            </a:r>
            <a:endParaRPr lang="en-US" sz="1100" dirty="0"/>
          </a:p>
        </p:txBody>
      </p:sp>
      <p:sp>
        <p:nvSpPr>
          <p:cNvPr id="10" name="Shape 8"/>
          <p:cNvSpPr/>
          <p:nvPr/>
        </p:nvSpPr>
        <p:spPr>
          <a:xfrm>
            <a:off x="320040" y="1627632"/>
            <a:ext cx="1828800" cy="987552"/>
          </a:xfrm>
          <a:prstGeom prst="rect">
            <a:avLst/>
          </a:prstGeom>
          <a:solidFill>
            <a:srgbClr val="F8F7FF"/>
          </a:solidFill>
          <a:ln w="6350">
            <a:solidFill>
              <a:srgbClr val="DDDDDD"/>
            </a:solidFill>
            <a:prstDash val="solid"/>
          </a:ln>
        </p:spPr>
      </p:sp>
      <p:sp>
        <p:nvSpPr>
          <p:cNvPr id="11" name="Text 9"/>
          <p:cNvSpPr/>
          <p:nvPr/>
        </p:nvSpPr>
        <p:spPr>
          <a:xfrm>
            <a:off x="374904" y="1673352"/>
            <a:ext cx="1719072" cy="896112"/>
          </a:xfrm>
          <a:prstGeom prst="rect">
            <a:avLst/>
          </a:prstGeom>
          <a:noFill/>
          <a:ln/>
        </p:spPr>
        <p:txBody>
          <a:bodyPr wrap="square" lIns="0" tIns="0" rIns="0" bIns="0" rtlCol="0" anchor="ctr"/>
          <a:lstStyle/>
          <a:p>
            <a:pPr indent="0" marL="0">
              <a:buNone/>
            </a:pPr>
            <a:r>
              <a:rPr lang="en-US" sz="950" dirty="0">
                <a:solidFill>
                  <a:srgbClr val="333333"/>
                </a:solidFill>
                <a:latin typeface="Courier New" pitchFamily="34" charset="0"/>
                <a:ea typeface="Courier New" pitchFamily="34" charset="-122"/>
                <a:cs typeface="Courier New" pitchFamily="34" charset="-120"/>
              </a:rPr>
              <a:t>pip install streamlit plotly pandas numpy</a:t>
            </a:r>
            <a:endParaRPr lang="en-US" sz="950" dirty="0"/>
          </a:p>
          <a:p>
            <a:pPr indent="0" marL="0">
              <a:buNone/>
            </a:pPr>
            <a:r>
              <a:rPr lang="en-US" sz="950" dirty="0">
                <a:solidFill>
                  <a:srgbClr val="333333"/>
                </a:solidFill>
                <a:latin typeface="Courier New" pitchFamily="34" charset="0"/>
                <a:ea typeface="Courier New" pitchFamily="34" charset="-122"/>
                <a:cs typeface="Courier New" pitchFamily="34" charset="-120"/>
              </a:rPr>
              <a:t>     mysql-connector-python</a:t>
            </a:r>
            <a:endParaRPr lang="en-US" sz="950" dirty="0"/>
          </a:p>
        </p:txBody>
      </p:sp>
      <p:sp>
        <p:nvSpPr>
          <p:cNvPr id="12" name="Shape 10"/>
          <p:cNvSpPr/>
          <p:nvPr/>
        </p:nvSpPr>
        <p:spPr>
          <a:xfrm>
            <a:off x="2423160" y="804672"/>
            <a:ext cx="2011680" cy="384048"/>
          </a:xfrm>
          <a:prstGeom prst="rect">
            <a:avLst/>
          </a:prstGeom>
          <a:solidFill>
            <a:srgbClr val="00B9F1"/>
          </a:solidFill>
          <a:ln/>
        </p:spPr>
      </p:sp>
      <p:sp>
        <p:nvSpPr>
          <p:cNvPr id="13" name="Text 11"/>
          <p:cNvSpPr/>
          <p:nvPr/>
        </p:nvSpPr>
        <p:spPr>
          <a:xfrm>
            <a:off x="2423160" y="804672"/>
            <a:ext cx="2011680" cy="384048"/>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STEP 2</a:t>
            </a:r>
            <a:endParaRPr lang="en-US" sz="1200" dirty="0"/>
          </a:p>
        </p:txBody>
      </p:sp>
      <p:sp>
        <p:nvSpPr>
          <p:cNvPr id="14" name="Shape 12"/>
          <p:cNvSpPr/>
          <p:nvPr/>
        </p:nvSpPr>
        <p:spPr>
          <a:xfrm>
            <a:off x="2423160" y="1234440"/>
            <a:ext cx="2011680" cy="14630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5" name="Text 13"/>
          <p:cNvSpPr/>
          <p:nvPr/>
        </p:nvSpPr>
        <p:spPr>
          <a:xfrm>
            <a:off x="2514600" y="1298448"/>
            <a:ext cx="1828800" cy="274320"/>
          </a:xfrm>
          <a:prstGeom prst="rect">
            <a:avLst/>
          </a:prstGeom>
          <a:noFill/>
          <a:ln/>
        </p:spPr>
        <p:txBody>
          <a:bodyPr wrap="square" lIns="0" tIns="0" rIns="0" bIns="0" rtlCol="0" anchor="ctr"/>
          <a:lstStyle/>
          <a:p>
            <a:pPr indent="0" marL="0">
              <a:buNone/>
            </a:pPr>
            <a:r>
              <a:rPr lang="en-US" sz="1100" b="1" dirty="0">
                <a:solidFill>
                  <a:srgbClr val="1E1E2E"/>
                </a:solidFill>
                <a:latin typeface="Calibri" pitchFamily="34" charset="0"/>
                <a:ea typeface="Calibri" pitchFamily="34" charset="-122"/>
                <a:cs typeface="Calibri" pitchFamily="34" charset="-120"/>
              </a:rPr>
              <a:t>Configure Database</a:t>
            </a:r>
            <a:endParaRPr lang="en-US" sz="1100" dirty="0"/>
          </a:p>
        </p:txBody>
      </p:sp>
      <p:sp>
        <p:nvSpPr>
          <p:cNvPr id="16" name="Shape 14"/>
          <p:cNvSpPr/>
          <p:nvPr/>
        </p:nvSpPr>
        <p:spPr>
          <a:xfrm>
            <a:off x="2514600" y="1627632"/>
            <a:ext cx="1828800" cy="987552"/>
          </a:xfrm>
          <a:prstGeom prst="rect">
            <a:avLst/>
          </a:prstGeom>
          <a:solidFill>
            <a:srgbClr val="F8F7FF"/>
          </a:solidFill>
          <a:ln w="6350">
            <a:solidFill>
              <a:srgbClr val="DDDDDD"/>
            </a:solidFill>
            <a:prstDash val="solid"/>
          </a:ln>
        </p:spPr>
      </p:sp>
      <p:sp>
        <p:nvSpPr>
          <p:cNvPr id="17" name="Text 15"/>
          <p:cNvSpPr/>
          <p:nvPr/>
        </p:nvSpPr>
        <p:spPr>
          <a:xfrm>
            <a:off x="2569464" y="1673352"/>
            <a:ext cx="1719072" cy="896112"/>
          </a:xfrm>
          <a:prstGeom prst="rect">
            <a:avLst/>
          </a:prstGeom>
          <a:noFill/>
          <a:ln/>
        </p:spPr>
        <p:txBody>
          <a:bodyPr wrap="square" lIns="0" tIns="0" rIns="0" bIns="0" rtlCol="0" anchor="ctr"/>
          <a:lstStyle/>
          <a:p>
            <a:pPr indent="0" marL="0">
              <a:buNone/>
            </a:pPr>
            <a:r>
              <a:rPr lang="en-US" sz="950" dirty="0">
                <a:solidFill>
                  <a:srgbClr val="333333"/>
                </a:solidFill>
                <a:latin typeface="Courier New" pitchFamily="34" charset="0"/>
                <a:ea typeface="Courier New" pitchFamily="34" charset="-122"/>
                <a:cs typeface="Courier New" pitchFamily="34" charset="-120"/>
              </a:rPr>
              <a:t>Edit DB_CONFIG in extract_load.py:</a:t>
            </a:r>
            <a:endParaRPr lang="en-US" sz="950" dirty="0"/>
          </a:p>
          <a:p>
            <a:pPr indent="0" marL="0">
              <a:buNone/>
            </a:pPr>
            <a:r>
              <a:rPr lang="en-US" sz="950" dirty="0">
                <a:solidFill>
                  <a:srgbClr val="333333"/>
                </a:solidFill>
                <a:latin typeface="Courier New" pitchFamily="34" charset="0"/>
                <a:ea typeface="Courier New" pitchFamily="34" charset="-122"/>
                <a:cs typeface="Courier New" pitchFamily="34" charset="-120"/>
              </a:rPr>
              <a:t>host, user, password, database</a:t>
            </a:r>
            <a:endParaRPr lang="en-US" sz="950" dirty="0"/>
          </a:p>
        </p:txBody>
      </p:sp>
      <p:sp>
        <p:nvSpPr>
          <p:cNvPr id="18" name="Shape 16"/>
          <p:cNvSpPr/>
          <p:nvPr/>
        </p:nvSpPr>
        <p:spPr>
          <a:xfrm>
            <a:off x="4617720" y="804672"/>
            <a:ext cx="2011680" cy="384048"/>
          </a:xfrm>
          <a:prstGeom prst="rect">
            <a:avLst/>
          </a:prstGeom>
          <a:solidFill>
            <a:srgbClr val="FF6B35"/>
          </a:solidFill>
          <a:ln/>
        </p:spPr>
      </p:sp>
      <p:sp>
        <p:nvSpPr>
          <p:cNvPr id="19" name="Text 17"/>
          <p:cNvSpPr/>
          <p:nvPr/>
        </p:nvSpPr>
        <p:spPr>
          <a:xfrm>
            <a:off x="4617720" y="804672"/>
            <a:ext cx="2011680" cy="384048"/>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STEP 3</a:t>
            </a:r>
            <a:endParaRPr lang="en-US" sz="1200" dirty="0"/>
          </a:p>
        </p:txBody>
      </p:sp>
      <p:sp>
        <p:nvSpPr>
          <p:cNvPr id="20" name="Shape 18"/>
          <p:cNvSpPr/>
          <p:nvPr/>
        </p:nvSpPr>
        <p:spPr>
          <a:xfrm>
            <a:off x="4617720" y="1234440"/>
            <a:ext cx="2011680" cy="14630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1" name="Text 19"/>
          <p:cNvSpPr/>
          <p:nvPr/>
        </p:nvSpPr>
        <p:spPr>
          <a:xfrm>
            <a:off x="4709160" y="1298448"/>
            <a:ext cx="1828800" cy="274320"/>
          </a:xfrm>
          <a:prstGeom prst="rect">
            <a:avLst/>
          </a:prstGeom>
          <a:noFill/>
          <a:ln/>
        </p:spPr>
        <p:txBody>
          <a:bodyPr wrap="square" lIns="0" tIns="0" rIns="0" bIns="0" rtlCol="0" anchor="ctr"/>
          <a:lstStyle/>
          <a:p>
            <a:pPr indent="0" marL="0">
              <a:buNone/>
            </a:pPr>
            <a:r>
              <a:rPr lang="en-US" sz="1100" b="1" dirty="0">
                <a:solidFill>
                  <a:srgbClr val="1E1E2E"/>
                </a:solidFill>
                <a:latin typeface="Calibri" pitchFamily="34" charset="0"/>
                <a:ea typeface="Calibri" pitchFamily="34" charset="-122"/>
                <a:cs typeface="Calibri" pitchFamily="34" charset="-120"/>
              </a:rPr>
              <a:t>Run ETL Pipeline</a:t>
            </a:r>
            <a:endParaRPr lang="en-US" sz="1100" dirty="0"/>
          </a:p>
        </p:txBody>
      </p:sp>
      <p:sp>
        <p:nvSpPr>
          <p:cNvPr id="22" name="Shape 20"/>
          <p:cNvSpPr/>
          <p:nvPr/>
        </p:nvSpPr>
        <p:spPr>
          <a:xfrm>
            <a:off x="4709160" y="1627632"/>
            <a:ext cx="1828800" cy="987552"/>
          </a:xfrm>
          <a:prstGeom prst="rect">
            <a:avLst/>
          </a:prstGeom>
          <a:solidFill>
            <a:srgbClr val="F8F7FF"/>
          </a:solidFill>
          <a:ln w="6350">
            <a:solidFill>
              <a:srgbClr val="DDDDDD"/>
            </a:solidFill>
            <a:prstDash val="solid"/>
          </a:ln>
        </p:spPr>
      </p:sp>
      <p:sp>
        <p:nvSpPr>
          <p:cNvPr id="23" name="Text 21"/>
          <p:cNvSpPr/>
          <p:nvPr/>
        </p:nvSpPr>
        <p:spPr>
          <a:xfrm>
            <a:off x="4764024" y="1673352"/>
            <a:ext cx="1719072" cy="896112"/>
          </a:xfrm>
          <a:prstGeom prst="rect">
            <a:avLst/>
          </a:prstGeom>
          <a:noFill/>
          <a:ln/>
        </p:spPr>
        <p:txBody>
          <a:bodyPr wrap="square" lIns="0" tIns="0" rIns="0" bIns="0" rtlCol="0" anchor="ctr"/>
          <a:lstStyle/>
          <a:p>
            <a:pPr indent="0" marL="0">
              <a:buNone/>
            </a:pPr>
            <a:r>
              <a:rPr lang="en-US" sz="950" dirty="0">
                <a:solidFill>
                  <a:srgbClr val="333333"/>
                </a:solidFill>
                <a:latin typeface="Courier New" pitchFamily="34" charset="0"/>
                <a:ea typeface="Courier New" pitchFamily="34" charset="-122"/>
                <a:cs typeface="Courier New" pitchFamily="34" charset="-120"/>
              </a:rPr>
              <a:t>python extract_load.py</a:t>
            </a:r>
            <a:endParaRPr lang="en-US" sz="950" dirty="0"/>
          </a:p>
          <a:p>
            <a:pPr indent="0" marL="0">
              <a:buNone/>
            </a:pPr>
            <a:r>
              <a:rPr lang="en-US" sz="950" dirty="0">
                <a:solidFill>
                  <a:srgbClr val="333333"/>
                </a:solidFill>
                <a:latin typeface="Courier New" pitchFamily="34" charset="0"/>
                <a:ea typeface="Courier New" pitchFamily="34" charset="-122"/>
                <a:cs typeface="Courier New" pitchFamily="34" charset="-120"/>
              </a:rPr>
              <a:t># Clones pulse repo &amp; loads all 9 tables</a:t>
            </a:r>
            <a:endParaRPr lang="en-US" sz="950" dirty="0"/>
          </a:p>
        </p:txBody>
      </p:sp>
      <p:sp>
        <p:nvSpPr>
          <p:cNvPr id="24" name="Shape 22"/>
          <p:cNvSpPr/>
          <p:nvPr/>
        </p:nvSpPr>
        <p:spPr>
          <a:xfrm>
            <a:off x="6812280" y="804672"/>
            <a:ext cx="2011680" cy="384048"/>
          </a:xfrm>
          <a:prstGeom prst="rect">
            <a:avLst/>
          </a:prstGeom>
          <a:solidFill>
            <a:srgbClr val="00C48C"/>
          </a:solidFill>
          <a:ln/>
        </p:spPr>
      </p:sp>
      <p:sp>
        <p:nvSpPr>
          <p:cNvPr id="25" name="Text 23"/>
          <p:cNvSpPr/>
          <p:nvPr/>
        </p:nvSpPr>
        <p:spPr>
          <a:xfrm>
            <a:off x="6812280" y="804672"/>
            <a:ext cx="2011680" cy="384048"/>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STEP 4</a:t>
            </a:r>
            <a:endParaRPr lang="en-US" sz="1200" dirty="0"/>
          </a:p>
        </p:txBody>
      </p:sp>
      <p:sp>
        <p:nvSpPr>
          <p:cNvPr id="26" name="Shape 24"/>
          <p:cNvSpPr/>
          <p:nvPr/>
        </p:nvSpPr>
        <p:spPr>
          <a:xfrm>
            <a:off x="6812280" y="1234440"/>
            <a:ext cx="2011680" cy="14630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7" name="Text 25"/>
          <p:cNvSpPr/>
          <p:nvPr/>
        </p:nvSpPr>
        <p:spPr>
          <a:xfrm>
            <a:off x="6903720" y="1298448"/>
            <a:ext cx="1828800" cy="274320"/>
          </a:xfrm>
          <a:prstGeom prst="rect">
            <a:avLst/>
          </a:prstGeom>
          <a:noFill/>
          <a:ln/>
        </p:spPr>
        <p:txBody>
          <a:bodyPr wrap="square" lIns="0" tIns="0" rIns="0" bIns="0" rtlCol="0" anchor="ctr"/>
          <a:lstStyle/>
          <a:p>
            <a:pPr indent="0" marL="0">
              <a:buNone/>
            </a:pPr>
            <a:r>
              <a:rPr lang="en-US" sz="1100" b="1" dirty="0">
                <a:solidFill>
                  <a:srgbClr val="1E1E2E"/>
                </a:solidFill>
                <a:latin typeface="Calibri" pitchFamily="34" charset="0"/>
                <a:ea typeface="Calibri" pitchFamily="34" charset="-122"/>
                <a:cs typeface="Calibri" pitchFamily="34" charset="-120"/>
              </a:rPr>
              <a:t>Launch Dashboard</a:t>
            </a:r>
            <a:endParaRPr lang="en-US" sz="1100" dirty="0"/>
          </a:p>
        </p:txBody>
      </p:sp>
      <p:sp>
        <p:nvSpPr>
          <p:cNvPr id="28" name="Shape 26"/>
          <p:cNvSpPr/>
          <p:nvPr/>
        </p:nvSpPr>
        <p:spPr>
          <a:xfrm>
            <a:off x="6903720" y="1627632"/>
            <a:ext cx="1828800" cy="987552"/>
          </a:xfrm>
          <a:prstGeom prst="rect">
            <a:avLst/>
          </a:prstGeom>
          <a:solidFill>
            <a:srgbClr val="F8F7FF"/>
          </a:solidFill>
          <a:ln w="6350">
            <a:solidFill>
              <a:srgbClr val="DDDDDD"/>
            </a:solidFill>
            <a:prstDash val="solid"/>
          </a:ln>
        </p:spPr>
      </p:sp>
      <p:sp>
        <p:nvSpPr>
          <p:cNvPr id="29" name="Text 27"/>
          <p:cNvSpPr/>
          <p:nvPr/>
        </p:nvSpPr>
        <p:spPr>
          <a:xfrm>
            <a:off x="6958584" y="1673352"/>
            <a:ext cx="1719072" cy="896112"/>
          </a:xfrm>
          <a:prstGeom prst="rect">
            <a:avLst/>
          </a:prstGeom>
          <a:noFill/>
          <a:ln/>
        </p:spPr>
        <p:txBody>
          <a:bodyPr wrap="square" lIns="0" tIns="0" rIns="0" bIns="0" rtlCol="0" anchor="ctr"/>
          <a:lstStyle/>
          <a:p>
            <a:pPr indent="0" marL="0">
              <a:buNone/>
            </a:pPr>
            <a:r>
              <a:rPr lang="en-US" sz="950" dirty="0">
                <a:solidFill>
                  <a:srgbClr val="333333"/>
                </a:solidFill>
                <a:latin typeface="Courier New" pitchFamily="34" charset="0"/>
                <a:ea typeface="Courier New" pitchFamily="34" charset="-122"/>
                <a:cs typeface="Courier New" pitchFamily="34" charset="-120"/>
              </a:rPr>
              <a:t>streamlit run bcs_streamlit_app.py</a:t>
            </a:r>
            <a:endParaRPr lang="en-US" sz="950" dirty="0"/>
          </a:p>
          <a:p>
            <a:pPr indent="0" marL="0">
              <a:buNone/>
            </a:pPr>
            <a:r>
              <a:rPr lang="en-US" sz="950" dirty="0">
                <a:solidFill>
                  <a:srgbClr val="333333"/>
                </a:solidFill>
                <a:latin typeface="Courier New" pitchFamily="34" charset="0"/>
                <a:ea typeface="Courier New" pitchFamily="34" charset="-122"/>
                <a:cs typeface="Courier New" pitchFamily="34" charset="-120"/>
              </a:rPr>
              <a:t># Opens at localhost:8501</a:t>
            </a:r>
            <a:endParaRPr lang="en-US" sz="950" dirty="0"/>
          </a:p>
        </p:txBody>
      </p:sp>
      <p:sp>
        <p:nvSpPr>
          <p:cNvPr id="30" name="Shape 28"/>
          <p:cNvSpPr/>
          <p:nvPr/>
        </p:nvSpPr>
        <p:spPr>
          <a:xfrm>
            <a:off x="228600" y="2834640"/>
            <a:ext cx="8686800" cy="365760"/>
          </a:xfrm>
          <a:prstGeom prst="rect">
            <a:avLst/>
          </a:prstGeom>
          <a:solidFill>
            <a:srgbClr val="1E1E2E"/>
          </a:solidFill>
          <a:ln/>
        </p:spPr>
      </p:sp>
      <p:sp>
        <p:nvSpPr>
          <p:cNvPr id="31" name="Text 29"/>
          <p:cNvSpPr/>
          <p:nvPr/>
        </p:nvSpPr>
        <p:spPr>
          <a:xfrm>
            <a:off x="320040" y="2871216"/>
            <a:ext cx="850392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Project Files</a:t>
            </a:r>
            <a:endParaRPr lang="en-US" sz="1200" dirty="0"/>
          </a:p>
        </p:txBody>
      </p:sp>
      <p:sp>
        <p:nvSpPr>
          <p:cNvPr id="32" name="Shape 30"/>
          <p:cNvSpPr/>
          <p:nvPr/>
        </p:nvSpPr>
        <p:spPr>
          <a:xfrm>
            <a:off x="228600" y="3273552"/>
            <a:ext cx="2834640" cy="594360"/>
          </a:xfrm>
          <a:prstGeom prst="rect">
            <a:avLst/>
          </a:prstGeom>
          <a:solidFill>
            <a:srgbClr val="FAFAFA"/>
          </a:solidFill>
          <a:ln w="15240">
            <a:solidFill>
              <a:srgbClr val="5F2EEA"/>
            </a:solidFill>
            <a:prstDash val="solid"/>
          </a:ln>
          <a:effectLst>
            <a:outerShdw sx="100000" sy="100000" kx="0" ky="0" algn="bl" rotWithShape="0" blurRad="101600" dist="38100" dir="8100000">
              <a:srgbClr val="000000">
                <a:alpha val="12000"/>
              </a:srgbClr>
            </a:outerShdw>
          </a:effectLst>
        </p:spPr>
      </p:sp>
      <p:sp>
        <p:nvSpPr>
          <p:cNvPr id="33" name="Shape 31"/>
          <p:cNvSpPr/>
          <p:nvPr/>
        </p:nvSpPr>
        <p:spPr>
          <a:xfrm>
            <a:off x="228600" y="3273552"/>
            <a:ext cx="54864" cy="594360"/>
          </a:xfrm>
          <a:prstGeom prst="rect">
            <a:avLst/>
          </a:prstGeom>
          <a:solidFill>
            <a:srgbClr val="5F2EEA"/>
          </a:solidFill>
          <a:ln/>
        </p:spPr>
      </p:sp>
      <p:sp>
        <p:nvSpPr>
          <p:cNvPr id="34" name="Text 32"/>
          <p:cNvSpPr/>
          <p:nvPr/>
        </p:nvSpPr>
        <p:spPr>
          <a:xfrm>
            <a:off x="338328" y="3319272"/>
            <a:ext cx="2651760" cy="256032"/>
          </a:xfrm>
          <a:prstGeom prst="rect">
            <a:avLst/>
          </a:prstGeom>
          <a:noFill/>
          <a:ln/>
        </p:spPr>
        <p:txBody>
          <a:bodyPr wrap="square" lIns="0" tIns="0" rIns="0" bIns="0" rtlCol="0" anchor="ctr"/>
          <a:lstStyle/>
          <a:p>
            <a:pPr indent="0" marL="0">
              <a:buNone/>
            </a:pPr>
            <a:r>
              <a:rPr lang="en-US" sz="1000" b="1" dirty="0">
                <a:solidFill>
                  <a:srgbClr val="1E1E2E"/>
                </a:solidFill>
                <a:latin typeface="Courier New" pitchFamily="34" charset="0"/>
                <a:ea typeface="Courier New" pitchFamily="34" charset="-122"/>
                <a:cs typeface="Courier New" pitchFamily="34" charset="-120"/>
              </a:rPr>
              <a:t>bcs_streamlit_app.py</a:t>
            </a:r>
            <a:endParaRPr lang="en-US" sz="1000" dirty="0"/>
          </a:p>
        </p:txBody>
      </p:sp>
      <p:sp>
        <p:nvSpPr>
          <p:cNvPr id="35" name="Text 33"/>
          <p:cNvSpPr/>
          <p:nvPr/>
        </p:nvSpPr>
        <p:spPr>
          <a:xfrm>
            <a:off x="338328" y="3584448"/>
            <a:ext cx="2651760" cy="237744"/>
          </a:xfrm>
          <a:prstGeom prst="rect">
            <a:avLst/>
          </a:prstGeom>
          <a:noFill/>
          <a:ln/>
        </p:spPr>
        <p:txBody>
          <a:bodyPr wrap="square" lIns="0" tIns="0" rIns="0" bIns="0" rtlCol="0" anchor="ctr"/>
          <a:lstStyle/>
          <a:p>
            <a:pPr indent="0" marL="0">
              <a:buNone/>
            </a:pPr>
            <a:r>
              <a:rPr lang="en-US" sz="900" dirty="0">
                <a:solidFill>
                  <a:srgbClr val="666666"/>
                </a:solidFill>
                <a:latin typeface="Calibri" pitchFamily="34" charset="0"/>
                <a:ea typeface="Calibri" pitchFamily="34" charset="-122"/>
                <a:cs typeface="Calibri" pitchFamily="34" charset="-120"/>
              </a:rPr>
              <a:t>Main Streamlit app — 5 BCS dashboard</a:t>
            </a:r>
            <a:endParaRPr lang="en-US" sz="900" dirty="0"/>
          </a:p>
        </p:txBody>
      </p:sp>
      <p:sp>
        <p:nvSpPr>
          <p:cNvPr id="36" name="Shape 34"/>
          <p:cNvSpPr/>
          <p:nvPr/>
        </p:nvSpPr>
        <p:spPr>
          <a:xfrm>
            <a:off x="3154680" y="3273552"/>
            <a:ext cx="2834640" cy="594360"/>
          </a:xfrm>
          <a:prstGeom prst="rect">
            <a:avLst/>
          </a:prstGeom>
          <a:solidFill>
            <a:srgbClr val="FAFAFA"/>
          </a:solidFill>
          <a:ln w="15240">
            <a:solidFill>
              <a:srgbClr val="00B9F1"/>
            </a:solidFill>
            <a:prstDash val="solid"/>
          </a:ln>
          <a:effectLst>
            <a:outerShdw sx="100000" sy="100000" kx="0" ky="0" algn="bl" rotWithShape="0" blurRad="101600" dist="38100" dir="8100000">
              <a:srgbClr val="000000">
                <a:alpha val="12000"/>
              </a:srgbClr>
            </a:outerShdw>
          </a:effectLst>
        </p:spPr>
      </p:sp>
      <p:sp>
        <p:nvSpPr>
          <p:cNvPr id="37" name="Shape 35"/>
          <p:cNvSpPr/>
          <p:nvPr/>
        </p:nvSpPr>
        <p:spPr>
          <a:xfrm>
            <a:off x="3154680" y="3273552"/>
            <a:ext cx="54864" cy="594360"/>
          </a:xfrm>
          <a:prstGeom prst="rect">
            <a:avLst/>
          </a:prstGeom>
          <a:solidFill>
            <a:srgbClr val="00B9F1"/>
          </a:solidFill>
          <a:ln/>
        </p:spPr>
      </p:sp>
      <p:sp>
        <p:nvSpPr>
          <p:cNvPr id="38" name="Text 36"/>
          <p:cNvSpPr/>
          <p:nvPr/>
        </p:nvSpPr>
        <p:spPr>
          <a:xfrm>
            <a:off x="3264408" y="3319272"/>
            <a:ext cx="2651760" cy="256032"/>
          </a:xfrm>
          <a:prstGeom prst="rect">
            <a:avLst/>
          </a:prstGeom>
          <a:noFill/>
          <a:ln/>
        </p:spPr>
        <p:txBody>
          <a:bodyPr wrap="square" lIns="0" tIns="0" rIns="0" bIns="0" rtlCol="0" anchor="ctr"/>
          <a:lstStyle/>
          <a:p>
            <a:pPr indent="0" marL="0">
              <a:buNone/>
            </a:pPr>
            <a:r>
              <a:rPr lang="en-US" sz="1000" b="1" dirty="0">
                <a:solidFill>
                  <a:srgbClr val="1E1E2E"/>
                </a:solidFill>
                <a:latin typeface="Courier New" pitchFamily="34" charset="0"/>
                <a:ea typeface="Courier New" pitchFamily="34" charset="-122"/>
                <a:cs typeface="Courier New" pitchFamily="34" charset="-120"/>
              </a:rPr>
              <a:t>bcs_sql_queries.sql</a:t>
            </a:r>
            <a:endParaRPr lang="en-US" sz="1000" dirty="0"/>
          </a:p>
        </p:txBody>
      </p:sp>
      <p:sp>
        <p:nvSpPr>
          <p:cNvPr id="39" name="Text 37"/>
          <p:cNvSpPr/>
          <p:nvPr/>
        </p:nvSpPr>
        <p:spPr>
          <a:xfrm>
            <a:off x="3264408" y="3584448"/>
            <a:ext cx="2651760" cy="237744"/>
          </a:xfrm>
          <a:prstGeom prst="rect">
            <a:avLst/>
          </a:prstGeom>
          <a:noFill/>
          <a:ln/>
        </p:spPr>
        <p:txBody>
          <a:bodyPr wrap="square" lIns="0" tIns="0" rIns="0" bIns="0" rtlCol="0" anchor="ctr"/>
          <a:lstStyle/>
          <a:p>
            <a:pPr indent="0" marL="0">
              <a:buNone/>
            </a:pPr>
            <a:r>
              <a:rPr lang="en-US" sz="900" dirty="0">
                <a:solidFill>
                  <a:srgbClr val="666666"/>
                </a:solidFill>
                <a:latin typeface="Calibri" pitchFamily="34" charset="0"/>
                <a:ea typeface="Calibri" pitchFamily="34" charset="-122"/>
                <a:cs typeface="Calibri" pitchFamily="34" charset="-120"/>
              </a:rPr>
              <a:t>24 SQL queries across 5 cases</a:t>
            </a:r>
            <a:endParaRPr lang="en-US" sz="900" dirty="0"/>
          </a:p>
        </p:txBody>
      </p:sp>
      <p:sp>
        <p:nvSpPr>
          <p:cNvPr id="40" name="Shape 38"/>
          <p:cNvSpPr/>
          <p:nvPr/>
        </p:nvSpPr>
        <p:spPr>
          <a:xfrm>
            <a:off x="6080760" y="3273552"/>
            <a:ext cx="2834640" cy="594360"/>
          </a:xfrm>
          <a:prstGeom prst="rect">
            <a:avLst/>
          </a:prstGeom>
          <a:solidFill>
            <a:srgbClr val="FAFAFA"/>
          </a:solidFill>
          <a:ln w="15240">
            <a:solidFill>
              <a:srgbClr val="FF6B35"/>
            </a:solidFill>
            <a:prstDash val="solid"/>
          </a:ln>
          <a:effectLst>
            <a:outerShdw sx="100000" sy="100000" kx="0" ky="0" algn="bl" rotWithShape="0" blurRad="101600" dist="38100" dir="8100000">
              <a:srgbClr val="000000">
                <a:alpha val="12000"/>
              </a:srgbClr>
            </a:outerShdw>
          </a:effectLst>
        </p:spPr>
      </p:sp>
      <p:sp>
        <p:nvSpPr>
          <p:cNvPr id="41" name="Shape 39"/>
          <p:cNvSpPr/>
          <p:nvPr/>
        </p:nvSpPr>
        <p:spPr>
          <a:xfrm>
            <a:off x="6080760" y="3273552"/>
            <a:ext cx="54864" cy="594360"/>
          </a:xfrm>
          <a:prstGeom prst="rect">
            <a:avLst/>
          </a:prstGeom>
          <a:solidFill>
            <a:srgbClr val="FF6B35"/>
          </a:solidFill>
          <a:ln/>
        </p:spPr>
      </p:sp>
      <p:sp>
        <p:nvSpPr>
          <p:cNvPr id="42" name="Text 40"/>
          <p:cNvSpPr/>
          <p:nvPr/>
        </p:nvSpPr>
        <p:spPr>
          <a:xfrm>
            <a:off x="6190488" y="3319272"/>
            <a:ext cx="2651760" cy="256032"/>
          </a:xfrm>
          <a:prstGeom prst="rect">
            <a:avLst/>
          </a:prstGeom>
          <a:noFill/>
          <a:ln/>
        </p:spPr>
        <p:txBody>
          <a:bodyPr wrap="square" lIns="0" tIns="0" rIns="0" bIns="0" rtlCol="0" anchor="ctr"/>
          <a:lstStyle/>
          <a:p>
            <a:pPr indent="0" marL="0">
              <a:buNone/>
            </a:pPr>
            <a:r>
              <a:rPr lang="en-US" sz="1000" b="1" dirty="0">
                <a:solidFill>
                  <a:srgbClr val="1E1E2E"/>
                </a:solidFill>
                <a:latin typeface="Courier New" pitchFamily="34" charset="0"/>
                <a:ea typeface="Courier New" pitchFamily="34" charset="-122"/>
                <a:cs typeface="Courier New" pitchFamily="34" charset="-120"/>
              </a:rPr>
              <a:t>extract_load.py</a:t>
            </a:r>
            <a:endParaRPr lang="en-US" sz="1000" dirty="0"/>
          </a:p>
        </p:txBody>
      </p:sp>
      <p:sp>
        <p:nvSpPr>
          <p:cNvPr id="43" name="Text 41"/>
          <p:cNvSpPr/>
          <p:nvPr/>
        </p:nvSpPr>
        <p:spPr>
          <a:xfrm>
            <a:off x="6190488" y="3584448"/>
            <a:ext cx="2651760" cy="237744"/>
          </a:xfrm>
          <a:prstGeom prst="rect">
            <a:avLst/>
          </a:prstGeom>
          <a:noFill/>
          <a:ln/>
        </p:spPr>
        <p:txBody>
          <a:bodyPr wrap="square" lIns="0" tIns="0" rIns="0" bIns="0" rtlCol="0" anchor="ctr"/>
          <a:lstStyle/>
          <a:p>
            <a:pPr indent="0" marL="0">
              <a:buNone/>
            </a:pPr>
            <a:r>
              <a:rPr lang="en-US" sz="900" dirty="0">
                <a:solidFill>
                  <a:srgbClr val="666666"/>
                </a:solidFill>
                <a:latin typeface="Calibri" pitchFamily="34" charset="0"/>
                <a:ea typeface="Calibri" pitchFamily="34" charset="-122"/>
                <a:cs typeface="Calibri" pitchFamily="34" charset="-120"/>
              </a:rPr>
              <a:t>ETL pipeline — clone, parse, load</a:t>
            </a:r>
            <a:endParaRPr lang="en-US" sz="900" dirty="0"/>
          </a:p>
        </p:txBody>
      </p:sp>
      <p:sp>
        <p:nvSpPr>
          <p:cNvPr id="44" name="Shape 42"/>
          <p:cNvSpPr/>
          <p:nvPr/>
        </p:nvSpPr>
        <p:spPr>
          <a:xfrm>
            <a:off x="228600" y="3959352"/>
            <a:ext cx="2834640" cy="594360"/>
          </a:xfrm>
          <a:prstGeom prst="rect">
            <a:avLst/>
          </a:prstGeom>
          <a:solidFill>
            <a:srgbClr val="FAFAFA"/>
          </a:solidFill>
          <a:ln w="15240">
            <a:solidFill>
              <a:srgbClr val="00C48C"/>
            </a:solidFill>
            <a:prstDash val="solid"/>
          </a:ln>
          <a:effectLst>
            <a:outerShdw sx="100000" sy="100000" kx="0" ky="0" algn="bl" rotWithShape="0" blurRad="101600" dist="38100" dir="8100000">
              <a:srgbClr val="000000">
                <a:alpha val="12000"/>
              </a:srgbClr>
            </a:outerShdw>
          </a:effectLst>
        </p:spPr>
      </p:sp>
      <p:sp>
        <p:nvSpPr>
          <p:cNvPr id="45" name="Shape 43"/>
          <p:cNvSpPr/>
          <p:nvPr/>
        </p:nvSpPr>
        <p:spPr>
          <a:xfrm>
            <a:off x="228600" y="3959352"/>
            <a:ext cx="54864" cy="594360"/>
          </a:xfrm>
          <a:prstGeom prst="rect">
            <a:avLst/>
          </a:prstGeom>
          <a:solidFill>
            <a:srgbClr val="00C48C"/>
          </a:solidFill>
          <a:ln/>
        </p:spPr>
      </p:sp>
      <p:sp>
        <p:nvSpPr>
          <p:cNvPr id="46" name="Text 44"/>
          <p:cNvSpPr/>
          <p:nvPr/>
        </p:nvSpPr>
        <p:spPr>
          <a:xfrm>
            <a:off x="338328" y="4005072"/>
            <a:ext cx="2651760" cy="256032"/>
          </a:xfrm>
          <a:prstGeom prst="rect">
            <a:avLst/>
          </a:prstGeom>
          <a:noFill/>
          <a:ln/>
        </p:spPr>
        <p:txBody>
          <a:bodyPr wrap="square" lIns="0" tIns="0" rIns="0" bIns="0" rtlCol="0" anchor="ctr"/>
          <a:lstStyle/>
          <a:p>
            <a:pPr indent="0" marL="0">
              <a:buNone/>
            </a:pPr>
            <a:r>
              <a:rPr lang="en-US" sz="1000" b="1" dirty="0">
                <a:solidFill>
                  <a:srgbClr val="1E1E2E"/>
                </a:solidFill>
                <a:latin typeface="Courier New" pitchFamily="34" charset="0"/>
                <a:ea typeface="Courier New" pitchFamily="34" charset="-122"/>
                <a:cs typeface="Courier New" pitchFamily="34" charset="-120"/>
              </a:rPr>
              <a:t>sql_queries.sql</a:t>
            </a:r>
            <a:endParaRPr lang="en-US" sz="1000" dirty="0"/>
          </a:p>
        </p:txBody>
      </p:sp>
      <p:sp>
        <p:nvSpPr>
          <p:cNvPr id="47" name="Text 45"/>
          <p:cNvSpPr/>
          <p:nvPr/>
        </p:nvSpPr>
        <p:spPr>
          <a:xfrm>
            <a:off x="338328" y="4270248"/>
            <a:ext cx="2651760" cy="237744"/>
          </a:xfrm>
          <a:prstGeom prst="rect">
            <a:avLst/>
          </a:prstGeom>
          <a:noFill/>
          <a:ln/>
        </p:spPr>
        <p:txBody>
          <a:bodyPr wrap="square" lIns="0" tIns="0" rIns="0" bIns="0" rtlCol="0" anchor="ctr"/>
          <a:lstStyle/>
          <a:p>
            <a:pPr indent="0" marL="0">
              <a:buNone/>
            </a:pPr>
            <a:r>
              <a:rPr lang="en-US" sz="900" dirty="0">
                <a:solidFill>
                  <a:srgbClr val="666666"/>
                </a:solidFill>
                <a:latin typeface="Calibri" pitchFamily="34" charset="0"/>
                <a:ea typeface="Calibri" pitchFamily="34" charset="-122"/>
                <a:cs typeface="Calibri" pitchFamily="34" charset="-120"/>
              </a:rPr>
              <a:t>Additional 10 business case queries</a:t>
            </a:r>
            <a:endParaRPr lang="en-US" sz="900" dirty="0"/>
          </a:p>
        </p:txBody>
      </p:sp>
      <p:sp>
        <p:nvSpPr>
          <p:cNvPr id="48" name="Shape 46"/>
          <p:cNvSpPr/>
          <p:nvPr/>
        </p:nvSpPr>
        <p:spPr>
          <a:xfrm>
            <a:off x="3154680" y="3959352"/>
            <a:ext cx="2834640" cy="594360"/>
          </a:xfrm>
          <a:prstGeom prst="rect">
            <a:avLst/>
          </a:prstGeom>
          <a:solidFill>
            <a:srgbClr val="FAFAFA"/>
          </a:solidFill>
          <a:ln w="15240">
            <a:solidFill>
              <a:srgbClr val="7C3AED"/>
            </a:solidFill>
            <a:prstDash val="solid"/>
          </a:ln>
          <a:effectLst>
            <a:outerShdw sx="100000" sy="100000" kx="0" ky="0" algn="bl" rotWithShape="0" blurRad="101600" dist="38100" dir="8100000">
              <a:srgbClr val="000000">
                <a:alpha val="12000"/>
              </a:srgbClr>
            </a:outerShdw>
          </a:effectLst>
        </p:spPr>
      </p:sp>
      <p:sp>
        <p:nvSpPr>
          <p:cNvPr id="49" name="Shape 47"/>
          <p:cNvSpPr/>
          <p:nvPr/>
        </p:nvSpPr>
        <p:spPr>
          <a:xfrm>
            <a:off x="3154680" y="3959352"/>
            <a:ext cx="54864" cy="594360"/>
          </a:xfrm>
          <a:prstGeom prst="rect">
            <a:avLst/>
          </a:prstGeom>
          <a:solidFill>
            <a:srgbClr val="7C3AED"/>
          </a:solidFill>
          <a:ln/>
        </p:spPr>
      </p:sp>
      <p:sp>
        <p:nvSpPr>
          <p:cNvPr id="50" name="Text 48"/>
          <p:cNvSpPr/>
          <p:nvPr/>
        </p:nvSpPr>
        <p:spPr>
          <a:xfrm>
            <a:off x="3264408" y="4005072"/>
            <a:ext cx="2651760" cy="256032"/>
          </a:xfrm>
          <a:prstGeom prst="rect">
            <a:avLst/>
          </a:prstGeom>
          <a:noFill/>
          <a:ln/>
        </p:spPr>
        <p:txBody>
          <a:bodyPr wrap="square" lIns="0" tIns="0" rIns="0" bIns="0" rtlCol="0" anchor="ctr"/>
          <a:lstStyle/>
          <a:p>
            <a:pPr indent="0" marL="0">
              <a:buNone/>
            </a:pPr>
            <a:r>
              <a:rPr lang="en-US" sz="1000" b="1" dirty="0">
                <a:solidFill>
                  <a:srgbClr val="1E1E2E"/>
                </a:solidFill>
                <a:latin typeface="Courier New" pitchFamily="34" charset="0"/>
                <a:ea typeface="Courier New" pitchFamily="34" charset="-122"/>
                <a:cs typeface="Courier New" pitchFamily="34" charset="-120"/>
              </a:rPr>
              <a:t>PhonePe_Documentation.docx</a:t>
            </a:r>
            <a:endParaRPr lang="en-US" sz="1000" dirty="0"/>
          </a:p>
        </p:txBody>
      </p:sp>
      <p:sp>
        <p:nvSpPr>
          <p:cNvPr id="51" name="Text 49"/>
          <p:cNvSpPr/>
          <p:nvPr/>
        </p:nvSpPr>
        <p:spPr>
          <a:xfrm>
            <a:off x="3264408" y="4270248"/>
            <a:ext cx="2651760" cy="237744"/>
          </a:xfrm>
          <a:prstGeom prst="rect">
            <a:avLst/>
          </a:prstGeom>
          <a:noFill/>
          <a:ln/>
        </p:spPr>
        <p:txBody>
          <a:bodyPr wrap="square" lIns="0" tIns="0" rIns="0" bIns="0" rtlCol="0" anchor="ctr"/>
          <a:lstStyle/>
          <a:p>
            <a:pPr indent="0" marL="0">
              <a:buNone/>
            </a:pPr>
            <a:r>
              <a:rPr lang="en-US" sz="900" dirty="0">
                <a:solidFill>
                  <a:srgbClr val="666666"/>
                </a:solidFill>
                <a:latin typeface="Calibri" pitchFamily="34" charset="0"/>
                <a:ea typeface="Calibri" pitchFamily="34" charset="-122"/>
                <a:cs typeface="Calibri" pitchFamily="34" charset="-120"/>
              </a:rPr>
              <a:t>Full technical documentation</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082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5F2EEA"/>
          </a:solidFill>
          <a:ln/>
        </p:spPr>
      </p:sp>
      <p:sp>
        <p:nvSpPr>
          <p:cNvPr id="3" name="Shape 1"/>
          <p:cNvSpPr/>
          <p:nvPr/>
        </p:nvSpPr>
        <p:spPr>
          <a:xfrm>
            <a:off x="0" y="4434840"/>
            <a:ext cx="9144000" cy="708660"/>
          </a:xfrm>
          <a:prstGeom prst="rect">
            <a:avLst/>
          </a:prstGeom>
          <a:solidFill>
            <a:srgbClr val="5F2EEA">
              <a:alpha val="20000"/>
            </a:srgbClr>
          </a:solidFill>
          <a:ln/>
        </p:spPr>
      </p:sp>
      <p:sp>
        <p:nvSpPr>
          <p:cNvPr id="4" name="Text 2"/>
          <p:cNvSpPr/>
          <p:nvPr/>
        </p:nvSpPr>
        <p:spPr>
          <a:xfrm>
            <a:off x="457200" y="1005840"/>
            <a:ext cx="8229600" cy="1097280"/>
          </a:xfrm>
          <a:prstGeom prst="rect">
            <a:avLst/>
          </a:prstGeom>
          <a:noFill/>
          <a:ln/>
        </p:spPr>
        <p:txBody>
          <a:bodyPr wrap="square" lIns="0" tIns="0" rIns="0" bIns="0" rtlCol="0" anchor="ctr"/>
          <a:lstStyle/>
          <a:p>
            <a:pPr algn="ctr" indent="0" marL="0">
              <a:buNone/>
            </a:pPr>
            <a:r>
              <a:rPr lang="en-US" sz="5800" b="1" dirty="0">
                <a:solidFill>
                  <a:srgbClr val="FFFFFF"/>
                </a:solidFill>
                <a:latin typeface="Calibri" pitchFamily="34" charset="0"/>
                <a:ea typeface="Calibri" pitchFamily="34" charset="-122"/>
                <a:cs typeface="Calibri" pitchFamily="34" charset="-120"/>
              </a:rPr>
              <a:t>Thank You</a:t>
            </a:r>
            <a:endParaRPr lang="en-US" sz="5800" dirty="0"/>
          </a:p>
        </p:txBody>
      </p:sp>
      <p:sp>
        <p:nvSpPr>
          <p:cNvPr id="5" name="Shape 3"/>
          <p:cNvSpPr/>
          <p:nvPr/>
        </p:nvSpPr>
        <p:spPr>
          <a:xfrm>
            <a:off x="3200400" y="2194560"/>
            <a:ext cx="2743200" cy="64008"/>
          </a:xfrm>
          <a:prstGeom prst="rect">
            <a:avLst/>
          </a:prstGeom>
          <a:solidFill>
            <a:srgbClr val="5F2EEA"/>
          </a:solidFill>
          <a:ln/>
        </p:spPr>
      </p:sp>
      <p:sp>
        <p:nvSpPr>
          <p:cNvPr id="6" name="Text 4"/>
          <p:cNvSpPr/>
          <p:nvPr/>
        </p:nvSpPr>
        <p:spPr>
          <a:xfrm>
            <a:off x="457200" y="2359152"/>
            <a:ext cx="8229600" cy="457200"/>
          </a:xfrm>
          <a:prstGeom prst="rect">
            <a:avLst/>
          </a:prstGeom>
          <a:noFill/>
          <a:ln/>
        </p:spPr>
        <p:txBody>
          <a:bodyPr wrap="square" lIns="0" tIns="0" rIns="0" bIns="0" rtlCol="0" anchor="ctr"/>
          <a:lstStyle/>
          <a:p>
            <a:pPr algn="ctr" indent="0" marL="0">
              <a:buNone/>
            </a:pPr>
            <a:r>
              <a:rPr lang="en-US" sz="1800" b="1" dirty="0">
                <a:solidFill>
                  <a:srgbClr val="00B9F1"/>
                </a:solidFill>
                <a:latin typeface="Calibri" pitchFamily="34" charset="0"/>
                <a:ea typeface="Calibri" pitchFamily="34" charset="-122"/>
                <a:cs typeface="Calibri" pitchFamily="34" charset="-120"/>
              </a:rPr>
              <a:t>PhonePe – 5 Business Case Studies</a:t>
            </a:r>
            <a:endParaRPr lang="en-US" sz="1800" dirty="0"/>
          </a:p>
        </p:txBody>
      </p:sp>
      <p:sp>
        <p:nvSpPr>
          <p:cNvPr id="7" name="Text 5"/>
          <p:cNvSpPr/>
          <p:nvPr/>
        </p:nvSpPr>
        <p:spPr>
          <a:xfrm>
            <a:off x="457200" y="2907792"/>
            <a:ext cx="8229600" cy="594360"/>
          </a:xfrm>
          <a:prstGeom prst="rect">
            <a:avLst/>
          </a:prstGeom>
          <a:noFill/>
          <a:ln/>
        </p:spPr>
        <p:txBody>
          <a:bodyPr wrap="square" lIns="0" tIns="0" rIns="0" bIns="0" rtlCol="0" anchor="ctr"/>
          <a:lstStyle/>
          <a:p>
            <a:pPr algn="ctr" indent="0" marL="0">
              <a:buNone/>
            </a:pPr>
            <a:r>
              <a:rPr lang="en-US" sz="1200" dirty="0">
                <a:solidFill>
                  <a:srgbClr val="AAAAAA"/>
                </a:solidFill>
                <a:latin typeface="Calibri" pitchFamily="34" charset="0"/>
                <a:ea typeface="Calibri" pitchFamily="34" charset="-122"/>
                <a:cs typeface="Calibri" pitchFamily="34" charset="-120"/>
              </a:rPr>
              <a:t>BC1: Transaction Dynamics  •  BC2: Device Engagement  •  BC3: Insurance Penetration</a:t>
            </a:r>
            <a:endParaRPr lang="en-US" sz="1200" dirty="0"/>
          </a:p>
          <a:p>
            <a:pPr algn="ctr" indent="0" marL="0">
              <a:buNone/>
            </a:pPr>
            <a:r>
              <a:rPr lang="en-US" sz="1200" dirty="0">
                <a:solidFill>
                  <a:srgbClr val="AAAAAA"/>
                </a:solidFill>
                <a:latin typeface="Calibri" pitchFamily="34" charset="0"/>
                <a:ea typeface="Calibri" pitchFamily="34" charset="-122"/>
                <a:cs typeface="Calibri" pitchFamily="34" charset="-120"/>
              </a:rPr>
              <a:t>BC7: States &amp; Districts  •  BC8: User Registration Analysis</a:t>
            </a:r>
            <a:endParaRPr lang="en-US" sz="1200" dirty="0"/>
          </a:p>
        </p:txBody>
      </p:sp>
      <p:sp>
        <p:nvSpPr>
          <p:cNvPr id="8" name="Shape 6"/>
          <p:cNvSpPr/>
          <p:nvPr/>
        </p:nvSpPr>
        <p:spPr>
          <a:xfrm>
            <a:off x="1234440" y="3657600"/>
            <a:ext cx="1005840" cy="384048"/>
          </a:xfrm>
          <a:prstGeom prst="rect">
            <a:avLst/>
          </a:prstGeom>
          <a:solidFill>
            <a:srgbClr val="5F2EEA">
              <a:alpha val="70000"/>
            </a:srgbClr>
          </a:solidFill>
          <a:ln w="10160">
            <a:solidFill>
              <a:srgbClr val="5F2EEA"/>
            </a:solidFill>
            <a:prstDash val="solid"/>
          </a:ln>
        </p:spPr>
      </p:sp>
      <p:sp>
        <p:nvSpPr>
          <p:cNvPr id="9" name="Text 7"/>
          <p:cNvSpPr/>
          <p:nvPr/>
        </p:nvSpPr>
        <p:spPr>
          <a:xfrm>
            <a:off x="1234440" y="3657600"/>
            <a:ext cx="100584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Python</a:t>
            </a:r>
            <a:endParaRPr lang="en-US" sz="1100" dirty="0"/>
          </a:p>
        </p:txBody>
      </p:sp>
      <p:sp>
        <p:nvSpPr>
          <p:cNvPr id="10" name="Shape 8"/>
          <p:cNvSpPr/>
          <p:nvPr/>
        </p:nvSpPr>
        <p:spPr>
          <a:xfrm>
            <a:off x="2377440" y="3657600"/>
            <a:ext cx="1005840" cy="384048"/>
          </a:xfrm>
          <a:prstGeom prst="rect">
            <a:avLst/>
          </a:prstGeom>
          <a:solidFill>
            <a:srgbClr val="5F2EEA">
              <a:alpha val="70000"/>
            </a:srgbClr>
          </a:solidFill>
          <a:ln w="10160">
            <a:solidFill>
              <a:srgbClr val="5F2EEA"/>
            </a:solidFill>
            <a:prstDash val="solid"/>
          </a:ln>
        </p:spPr>
      </p:sp>
      <p:sp>
        <p:nvSpPr>
          <p:cNvPr id="11" name="Text 9"/>
          <p:cNvSpPr/>
          <p:nvPr/>
        </p:nvSpPr>
        <p:spPr>
          <a:xfrm>
            <a:off x="2377440" y="3657600"/>
            <a:ext cx="100584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SQL</a:t>
            </a:r>
            <a:endParaRPr lang="en-US" sz="1100" dirty="0"/>
          </a:p>
        </p:txBody>
      </p:sp>
      <p:sp>
        <p:nvSpPr>
          <p:cNvPr id="12" name="Shape 10"/>
          <p:cNvSpPr/>
          <p:nvPr/>
        </p:nvSpPr>
        <p:spPr>
          <a:xfrm>
            <a:off x="3520440" y="3657600"/>
            <a:ext cx="1005840" cy="384048"/>
          </a:xfrm>
          <a:prstGeom prst="rect">
            <a:avLst/>
          </a:prstGeom>
          <a:solidFill>
            <a:srgbClr val="5F2EEA">
              <a:alpha val="70000"/>
            </a:srgbClr>
          </a:solidFill>
          <a:ln w="10160">
            <a:solidFill>
              <a:srgbClr val="5F2EEA"/>
            </a:solidFill>
            <a:prstDash val="solid"/>
          </a:ln>
        </p:spPr>
      </p:sp>
      <p:sp>
        <p:nvSpPr>
          <p:cNvPr id="13" name="Text 11"/>
          <p:cNvSpPr/>
          <p:nvPr/>
        </p:nvSpPr>
        <p:spPr>
          <a:xfrm>
            <a:off x="3520440" y="3657600"/>
            <a:ext cx="100584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Streamlit</a:t>
            </a:r>
            <a:endParaRPr lang="en-US" sz="1100" dirty="0"/>
          </a:p>
        </p:txBody>
      </p:sp>
      <p:sp>
        <p:nvSpPr>
          <p:cNvPr id="14" name="Shape 12"/>
          <p:cNvSpPr/>
          <p:nvPr/>
        </p:nvSpPr>
        <p:spPr>
          <a:xfrm>
            <a:off x="4663440" y="3657600"/>
            <a:ext cx="1005840" cy="384048"/>
          </a:xfrm>
          <a:prstGeom prst="rect">
            <a:avLst/>
          </a:prstGeom>
          <a:solidFill>
            <a:srgbClr val="5F2EEA">
              <a:alpha val="70000"/>
            </a:srgbClr>
          </a:solidFill>
          <a:ln w="10160">
            <a:solidFill>
              <a:srgbClr val="5F2EEA"/>
            </a:solidFill>
            <a:prstDash val="solid"/>
          </a:ln>
        </p:spPr>
      </p:sp>
      <p:sp>
        <p:nvSpPr>
          <p:cNvPr id="15" name="Text 13"/>
          <p:cNvSpPr/>
          <p:nvPr/>
        </p:nvSpPr>
        <p:spPr>
          <a:xfrm>
            <a:off x="4663440" y="3657600"/>
            <a:ext cx="100584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Plotly</a:t>
            </a:r>
            <a:endParaRPr lang="en-US" sz="1100" dirty="0"/>
          </a:p>
        </p:txBody>
      </p:sp>
      <p:sp>
        <p:nvSpPr>
          <p:cNvPr id="16" name="Shape 14"/>
          <p:cNvSpPr/>
          <p:nvPr/>
        </p:nvSpPr>
        <p:spPr>
          <a:xfrm>
            <a:off x="5806440" y="3657600"/>
            <a:ext cx="1005840" cy="384048"/>
          </a:xfrm>
          <a:prstGeom prst="rect">
            <a:avLst/>
          </a:prstGeom>
          <a:solidFill>
            <a:srgbClr val="5F2EEA">
              <a:alpha val="70000"/>
            </a:srgbClr>
          </a:solidFill>
          <a:ln w="10160">
            <a:solidFill>
              <a:srgbClr val="5F2EEA"/>
            </a:solidFill>
            <a:prstDash val="solid"/>
          </a:ln>
        </p:spPr>
      </p:sp>
      <p:sp>
        <p:nvSpPr>
          <p:cNvPr id="17" name="Text 15"/>
          <p:cNvSpPr/>
          <p:nvPr/>
        </p:nvSpPr>
        <p:spPr>
          <a:xfrm>
            <a:off x="5806440" y="3657600"/>
            <a:ext cx="100584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MySQL</a:t>
            </a:r>
            <a:endParaRPr lang="en-US" sz="1100" dirty="0"/>
          </a:p>
        </p:txBody>
      </p:sp>
      <p:sp>
        <p:nvSpPr>
          <p:cNvPr id="18" name="Shape 16"/>
          <p:cNvSpPr/>
          <p:nvPr/>
        </p:nvSpPr>
        <p:spPr>
          <a:xfrm>
            <a:off x="6949440" y="3657600"/>
            <a:ext cx="1005840" cy="384048"/>
          </a:xfrm>
          <a:prstGeom prst="rect">
            <a:avLst/>
          </a:prstGeom>
          <a:solidFill>
            <a:srgbClr val="5F2EEA">
              <a:alpha val="70000"/>
            </a:srgbClr>
          </a:solidFill>
          <a:ln w="10160">
            <a:solidFill>
              <a:srgbClr val="5F2EEA"/>
            </a:solidFill>
            <a:prstDash val="solid"/>
          </a:ln>
        </p:spPr>
      </p:sp>
      <p:sp>
        <p:nvSpPr>
          <p:cNvPr id="19" name="Text 17"/>
          <p:cNvSpPr/>
          <p:nvPr/>
        </p:nvSpPr>
        <p:spPr>
          <a:xfrm>
            <a:off x="6949440" y="3657600"/>
            <a:ext cx="100584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Git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PhonePe – 5 Business Case Studies</dc:title>
  <dc:subject>PptxGenJS Presentation</dc:subject>
  <dc:creator>PptxGenJS</dc:creator>
  <cp:lastModifiedBy>PptxGenJS</cp:lastModifiedBy>
  <cp:revision>1</cp:revision>
  <dcterms:created xsi:type="dcterms:W3CDTF">2026-03-09T12:07:06Z</dcterms:created>
  <dcterms:modified xsi:type="dcterms:W3CDTF">2026-03-09T12:07:06Z</dcterms:modified>
</cp:coreProperties>
</file>