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 Amount (₹ Cr)</c:v>
                </c:pt>
              </c:strCache>
            </c:strRef>
          </c:tx>
          <c:spPr>
            <a:solidFill>
              <a:srgbClr val="5F2EE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E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Peer-to-Peer</c:v>
                  </c:pt>
                  <c:pt idx="1">
                    <c:v>Merchant Pmts</c:v>
                  </c:pt>
                  <c:pt idx="2">
                    <c:v>Financial Svcs</c:v>
                  </c:pt>
                  <c:pt idx="3">
                    <c:v>Recharge &amp; Bills</c:v>
                  </c:pt>
                  <c:pt idx="4">
                    <c:v>Others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42500</c:v>
                </c:pt>
                <c:pt idx="1">
                  <c:v>33200</c:v>
                </c:pt>
                <c:pt idx="2">
                  <c:v>28900</c:v>
                </c:pt>
                <c:pt idx="3">
                  <c:v>9800</c:v>
                </c:pt>
                <c:pt idx="4">
                  <c:v>5100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1E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 Amount (₹ Cr)</c:v>
                </c:pt>
              </c:strCache>
            </c:strRef>
          </c:tx>
          <c:spPr>
            <a:solidFill>
              <a:srgbClr val="5F2EE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1E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F2EE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9F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ECDC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5B7D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6CEB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0C48C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Maharashtra</c:v>
                  </c:pt>
                  <c:pt idx="1">
                    <c:v>Karnataka</c:v>
                  </c:pt>
                  <c:pt idx="2">
                    <c:v>Tamil Nadu</c:v>
                  </c:pt>
                  <c:pt idx="3">
                    <c:v>UP</c:v>
                  </c:pt>
                  <c:pt idx="4">
                    <c:v>Gujarat</c:v>
                  </c:pt>
                  <c:pt idx="5">
                    <c:v>Andhra Pradesh</c:v>
                  </c:pt>
                  <c:pt idx="6">
                    <c:v>Rajasthan</c:v>
                  </c:pt>
                  <c:pt idx="7">
                    <c:v>West Bengal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58000</c:v>
                </c:pt>
                <c:pt idx="1">
                  <c:v>47000</c:v>
                </c:pt>
                <c:pt idx="2">
                  <c:v>39000</c:v>
                </c:pt>
                <c:pt idx="3">
                  <c:v>31000</c:v>
                </c:pt>
                <c:pt idx="4">
                  <c:v>28000</c:v>
                </c:pt>
                <c:pt idx="5">
                  <c:v>22000</c:v>
                </c:pt>
                <c:pt idx="6">
                  <c:v>18500</c:v>
                </c:pt>
                <c:pt idx="7">
                  <c:v>16000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1E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F2EEA"/>
              </a:solidFill>
              <a:effectLst/>
            </c:spPr>
          </c:dPt>
          <c:dPt>
            <c:idx val="1"/>
            <c:bubble3D val="0"/>
            <c:spPr>
              <a:solidFill>
                <a:srgbClr val="00B9F1"/>
              </a:solidFill>
              <a:effectLst/>
            </c:spPr>
          </c:dPt>
          <c:dPt>
            <c:idx val="2"/>
            <c:bubble3D val="0"/>
            <c:spPr>
              <a:solidFill>
                <a:srgbClr val="FF6B35"/>
              </a:solidFill>
              <a:effectLst/>
            </c:spPr>
          </c:dPt>
          <c:dPt>
            <c:idx val="3"/>
            <c:bubble3D val="0"/>
            <c:spPr>
              <a:solidFill>
                <a:srgbClr val="00C48C"/>
              </a:solidFill>
              <a:effectLst/>
            </c:spPr>
          </c:dPt>
          <c:dPt>
            <c:idx val="4"/>
            <c:bubble3D val="0"/>
            <c:spPr>
              <a:solidFill>
                <a:srgbClr val="7C3AED"/>
              </a:solidFill>
              <a:effectLst/>
            </c:spPr>
          </c:dPt>
          <c:dPt>
            <c:idx val="5"/>
            <c:bubble3D val="0"/>
            <c:spPr>
              <a:solidFill>
                <a:srgbClr val="4ECDC4"/>
              </a:solidFill>
              <a:effectLst/>
            </c:spPr>
          </c:dPt>
          <c:dPt>
            <c:idx val="6"/>
            <c:bubble3D val="0"/>
            <c:spPr>
              <a:solidFill>
                <a:srgbClr val="45B7D1"/>
              </a:solidFill>
              <a:effectLst/>
            </c:spPr>
          </c:dPt>
          <c:dPt>
            <c:idx val="7"/>
            <c:bubble3D val="0"/>
            <c:spPr>
              <a:solidFill>
                <a:srgbClr val="96CEB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1E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1E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1E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1E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1E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1E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1E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1E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Samsung</c:v>
                </c:pt>
                <c:pt idx="1">
                  <c:v>Xiaomi</c:v>
                </c:pt>
                <c:pt idx="2">
                  <c:v>Vivo</c:v>
                </c:pt>
                <c:pt idx="3">
                  <c:v>OPPO</c:v>
                </c:pt>
                <c:pt idx="4">
                  <c:v>OnePlus</c:v>
                </c:pt>
                <c:pt idx="5">
                  <c:v>Realme</c:v>
                </c:pt>
                <c:pt idx="6">
                  <c:v>Apple</c:v>
                </c:pt>
                <c:pt idx="7">
                  <c:v>Others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28</c:v>
                </c:pt>
                <c:pt idx="1">
                  <c:v>24</c:v>
                </c:pt>
                <c:pt idx="2">
                  <c:v>14</c:v>
                </c:pt>
                <c:pt idx="3">
                  <c:v>11</c:v>
                </c:pt>
                <c:pt idx="4">
                  <c:v>8</c:v>
                </c:pt>
                <c:pt idx="5">
                  <c:v>7</c:v>
                </c:pt>
                <c:pt idx="6">
                  <c:v>4</c:v>
                </c:pt>
                <c:pt idx="7">
                  <c:v>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Engagement Ratio by State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 Opens / Reg User</c:v>
                </c:pt>
              </c:strCache>
            </c:strRef>
          </c:tx>
          <c:spPr>
            <a:solidFill>
              <a:srgbClr val="00B9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E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Karnataka</c:v>
                  </c:pt>
                  <c:pt idx="1">
                    <c:v>Maharashtra</c:v>
                  </c:pt>
                  <c:pt idx="2">
                    <c:v>Tamil Nadu</c:v>
                  </c:pt>
                  <c:pt idx="3">
                    <c:v>Gujarat</c:v>
                  </c:pt>
                  <c:pt idx="4">
                    <c:v>UP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4.8</c:v>
                </c:pt>
                <c:pt idx="1">
                  <c:v>4.2</c:v>
                </c:pt>
                <c:pt idx="2">
                  <c:v>3.9</c:v>
                </c:pt>
                <c:pt idx="3">
                  <c:v>3.5</c:v>
                </c:pt>
                <c:pt idx="4">
                  <c:v>2.8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1E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Top 5 States by Insurance Premium (₹ Cr)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Insurance Premium (₹ Cr)</c:v>
                </c:pt>
              </c:strCache>
            </c:strRef>
          </c:tx>
          <c:spPr>
            <a:solidFill>
              <a:srgbClr val="5F2EE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1E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F2EE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9F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ECDC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5B7D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Maharashtra</c:v>
                  </c:pt>
                  <c:pt idx="1">
                    <c:v>Karnataka</c:v>
                  </c:pt>
                  <c:pt idx="2">
                    <c:v>Tamil Nadu</c:v>
                  </c:pt>
                  <c:pt idx="3">
                    <c:v>Gujarat</c:v>
                  </c:pt>
                  <c:pt idx="4">
                    <c:v>UP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1850</c:v>
                </c:pt>
                <c:pt idx="1">
                  <c:v>1420</c:v>
                </c:pt>
                <c:pt idx="2">
                  <c:v>1100</c:v>
                </c:pt>
                <c:pt idx="3">
                  <c:v>890</c:v>
                </c:pt>
                <c:pt idx="4">
                  <c:v>760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1E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Anomaly Z-Scores (|z|&gt;2 = Flagged)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Z-Score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1E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9F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B9F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Goa</c:v>
                  </c:pt>
                  <c:pt idx="1">
                    <c:v>Meghalaya</c:v>
                  </c:pt>
                  <c:pt idx="2">
                    <c:v>Sikkim</c:v>
                  </c:pt>
                  <c:pt idx="3">
                    <c:v>Mizoram</c:v>
                  </c:pt>
                  <c:pt idx="4">
                    <c:v>J&amp;K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2.8</c:v>
                </c:pt>
                <c:pt idx="1">
                  <c:v>2.4</c:v>
                </c:pt>
                <c:pt idx="2">
                  <c:v>-2.3</c:v>
                </c:pt>
                <c:pt idx="3">
                  <c:v>2.1</c:v>
                </c:pt>
                <c:pt idx="4">
                  <c:v>-2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1E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-4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Peer-to-Peer</c:v>
                </c:pt>
              </c:strCache>
            </c:strRef>
          </c:tx>
          <c:spPr>
            <a:solidFill>
              <a:srgbClr val="5F2EEA"/>
            </a:solidFill>
            <a:ln w="31750" cap="flat">
              <a:solidFill>
                <a:srgbClr val="5F2EE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F2EEA"/>
              </a:solidFill>
              <a:ln w="9525" cap="flat">
                <a:solidFill>
                  <a:srgbClr val="5F2EE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2020Q1</c:v>
                  </c:pt>
                  <c:pt idx="1">
                    <c:v>2020Q3</c:v>
                  </c:pt>
                  <c:pt idx="2">
                    <c:v>2021Q1</c:v>
                  </c:pt>
                  <c:pt idx="3">
                    <c:v>2021Q3</c:v>
                  </c:pt>
                  <c:pt idx="4">
                    <c:v>2022Q1</c:v>
                  </c:pt>
                  <c:pt idx="5">
                    <c:v>2022Q3</c:v>
                  </c:pt>
                  <c:pt idx="6">
                    <c:v>2023Q1</c:v>
                  </c:pt>
                  <c:pt idx="7">
                    <c:v>2023Q3</c:v>
                  </c:pt>
                  <c:pt idx="8">
                    <c:v>2024Q1</c:v>
                  </c:pt>
                  <c:pt idx="9">
                    <c:v>2024Q3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8200</c:v>
                </c:pt>
                <c:pt idx="1">
                  <c:v>9100</c:v>
                </c:pt>
                <c:pt idx="2">
                  <c:v>10500</c:v>
                </c:pt>
                <c:pt idx="3">
                  <c:v>12200</c:v>
                </c:pt>
                <c:pt idx="4">
                  <c:v>14800</c:v>
                </c:pt>
                <c:pt idx="5">
                  <c:v>17200</c:v>
                </c:pt>
                <c:pt idx="6">
                  <c:v>20100</c:v>
                </c:pt>
                <c:pt idx="7">
                  <c:v>23500</c:v>
                </c:pt>
                <c:pt idx="8">
                  <c:v>27000</c:v>
                </c:pt>
                <c:pt idx="9">
                  <c:v>31500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Merchant Payments</c:v>
                </c:pt>
              </c:strCache>
            </c:strRef>
          </c:tx>
          <c:spPr>
            <a:solidFill>
              <a:srgbClr val="00B9F1"/>
            </a:solidFill>
            <a:ln w="31750" cap="flat">
              <a:solidFill>
                <a:srgbClr val="00B9F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9F1"/>
              </a:solidFill>
              <a:ln w="9525" cap="flat">
                <a:solidFill>
                  <a:srgbClr val="00B9F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2020Q1</c:v>
                  </c:pt>
                  <c:pt idx="1">
                    <c:v>2020Q3</c:v>
                  </c:pt>
                  <c:pt idx="2">
                    <c:v>2021Q1</c:v>
                  </c:pt>
                  <c:pt idx="3">
                    <c:v>2021Q3</c:v>
                  </c:pt>
                  <c:pt idx="4">
                    <c:v>2022Q1</c:v>
                  </c:pt>
                  <c:pt idx="5">
                    <c:v>2022Q3</c:v>
                  </c:pt>
                  <c:pt idx="6">
                    <c:v>2023Q1</c:v>
                  </c:pt>
                  <c:pt idx="7">
                    <c:v>2023Q3</c:v>
                  </c:pt>
                  <c:pt idx="8">
                    <c:v>2024Q1</c:v>
                  </c:pt>
                  <c:pt idx="9">
                    <c:v>2024Q3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4100</c:v>
                </c:pt>
                <c:pt idx="1">
                  <c:v>5200</c:v>
                </c:pt>
                <c:pt idx="2">
                  <c:v>6800</c:v>
                </c:pt>
                <c:pt idx="3">
                  <c:v>8500</c:v>
                </c:pt>
                <c:pt idx="4">
                  <c:v>10200</c:v>
                </c:pt>
                <c:pt idx="5">
                  <c:v>13100</c:v>
                </c:pt>
                <c:pt idx="6">
                  <c:v>16400</c:v>
                </c:pt>
                <c:pt idx="7">
                  <c:v>20200</c:v>
                </c:pt>
                <c:pt idx="8">
                  <c:v>24500</c:v>
                </c:pt>
                <c:pt idx="9">
                  <c:v>29000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Financial Services</c:v>
                </c:pt>
              </c:strCache>
            </c:strRef>
          </c:tx>
          <c:spPr>
            <a:solidFill>
              <a:srgbClr val="FF6B35"/>
            </a:solidFill>
            <a:ln w="31750" cap="flat">
              <a:solidFill>
                <a:srgbClr val="FF6B3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6B35"/>
              </a:solidFill>
              <a:ln w="9525" cap="flat">
                <a:solidFill>
                  <a:srgbClr val="FF6B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2020Q1</c:v>
                  </c:pt>
                  <c:pt idx="1">
                    <c:v>2020Q3</c:v>
                  </c:pt>
                  <c:pt idx="2">
                    <c:v>2021Q1</c:v>
                  </c:pt>
                  <c:pt idx="3">
                    <c:v>2021Q3</c:v>
                  </c:pt>
                  <c:pt idx="4">
                    <c:v>2022Q1</c:v>
                  </c:pt>
                  <c:pt idx="5">
                    <c:v>2022Q3</c:v>
                  </c:pt>
                  <c:pt idx="6">
                    <c:v>2023Q1</c:v>
                  </c:pt>
                  <c:pt idx="7">
                    <c:v>2023Q3</c:v>
                  </c:pt>
                  <c:pt idx="8">
                    <c:v>2024Q1</c:v>
                  </c:pt>
                  <c:pt idx="9">
                    <c:v>2024Q3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2100</c:v>
                </c:pt>
                <c:pt idx="1">
                  <c:v>2800</c:v>
                </c:pt>
                <c:pt idx="2">
                  <c:v>3900</c:v>
                </c:pt>
                <c:pt idx="3">
                  <c:v>5200</c:v>
                </c:pt>
                <c:pt idx="4">
                  <c:v>7100</c:v>
                </c:pt>
                <c:pt idx="5">
                  <c:v>9500</c:v>
                </c:pt>
                <c:pt idx="6">
                  <c:v>12400</c:v>
                </c:pt>
                <c:pt idx="7">
                  <c:v>16100</c:v>
                </c:pt>
                <c:pt idx="8">
                  <c:v>20500</c:v>
                </c:pt>
                <c:pt idx="9">
                  <c:v>25200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F2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5F2EE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PhonePe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Insights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Analytics Platform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2560320" cy="54864"/>
          </a:xfrm>
          <a:prstGeom prst="rect">
            <a:avLst/>
          </a:prstGeom>
          <a:solidFill>
            <a:srgbClr val="5F2EE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 Payment Systems Domain  •  GUVI × HCL Project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SQL  •  Streamlit  •  Plotly  •  MySQL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5F2EEA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486460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Transaction Insights  •  2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57200" cy="384048"/>
          </a:xfrm>
          <a:prstGeom prst="rect">
            <a:avLst/>
          </a:prstGeom>
          <a:solidFill>
            <a:srgbClr val="5F2EE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9144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914400"/>
            <a:ext cx="3931920" cy="384048"/>
          </a:xfrm>
          <a:prstGeom prst="rect">
            <a:avLst/>
          </a:prstGeom>
          <a:solidFill>
            <a:srgbClr val="EDE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9144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Business Context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627632"/>
            <a:ext cx="457200" cy="384048"/>
          </a:xfrm>
          <a:prstGeom prst="rect">
            <a:avLst/>
          </a:prstGeom>
          <a:solidFill>
            <a:srgbClr val="5F2EE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162763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1627632"/>
            <a:ext cx="3931920" cy="384048"/>
          </a:xfrm>
          <a:prstGeom prst="rect">
            <a:avLst/>
          </a:prstGeom>
          <a:solidFill>
            <a:srgbClr val="EDE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16276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 &amp; ETL Pipeline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340864"/>
            <a:ext cx="457200" cy="384048"/>
          </a:xfrm>
          <a:prstGeom prst="rect">
            <a:avLst/>
          </a:prstGeom>
          <a:solidFill>
            <a:srgbClr val="5F2EE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23408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2340864"/>
            <a:ext cx="3931920" cy="384048"/>
          </a:xfrm>
          <a:prstGeom prst="rect">
            <a:avLst/>
          </a:prstGeom>
          <a:solidFill>
            <a:srgbClr val="EDE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234086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Overview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054096"/>
            <a:ext cx="457200" cy="384048"/>
          </a:xfrm>
          <a:prstGeom prst="rect">
            <a:avLst/>
          </a:prstGeom>
          <a:solidFill>
            <a:srgbClr val="5F2EE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30540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68680" y="3054096"/>
            <a:ext cx="3931920" cy="384048"/>
          </a:xfrm>
          <a:prstGeom prst="rect">
            <a:avLst/>
          </a:prstGeom>
          <a:solidFill>
            <a:srgbClr val="EDE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305409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Analysis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767328"/>
            <a:ext cx="457200" cy="384048"/>
          </a:xfrm>
          <a:prstGeom prst="rect">
            <a:avLst/>
          </a:prstGeom>
          <a:solidFill>
            <a:srgbClr val="5F2EE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37673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68680" y="3767328"/>
            <a:ext cx="3931920" cy="384048"/>
          </a:xfrm>
          <a:prstGeom prst="rect">
            <a:avLst/>
          </a:prstGeom>
          <a:solidFill>
            <a:srgbClr val="EDE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60120" y="37673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Geographical Insights &amp; Maps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914400"/>
            <a:ext cx="457200" cy="384048"/>
          </a:xfrm>
          <a:prstGeom prst="rect">
            <a:avLst/>
          </a:prstGeom>
          <a:solidFill>
            <a:srgbClr val="5F2EE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9144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349240" y="914400"/>
            <a:ext cx="3931920" cy="384048"/>
          </a:xfrm>
          <a:prstGeom prst="rect">
            <a:avLst/>
          </a:prstGeom>
          <a:solidFill>
            <a:srgbClr val="E8F7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40680" y="9144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Engagement &amp; Device Trends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46320" y="1627632"/>
            <a:ext cx="457200" cy="384048"/>
          </a:xfrm>
          <a:prstGeom prst="rect">
            <a:avLst/>
          </a:prstGeom>
          <a:solidFill>
            <a:srgbClr val="5F2EE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46320" y="162763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349240" y="1627632"/>
            <a:ext cx="3931920" cy="384048"/>
          </a:xfrm>
          <a:prstGeom prst="rect">
            <a:avLst/>
          </a:prstGeom>
          <a:solidFill>
            <a:srgbClr val="E8F7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40680" y="16276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Insights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46320" y="2340864"/>
            <a:ext cx="457200" cy="384048"/>
          </a:xfrm>
          <a:prstGeom prst="rect">
            <a:avLst/>
          </a:prstGeom>
          <a:solidFill>
            <a:srgbClr val="5F2EE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46320" y="23408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349240" y="2340864"/>
            <a:ext cx="3931920" cy="384048"/>
          </a:xfrm>
          <a:prstGeom prst="rect">
            <a:avLst/>
          </a:prstGeom>
          <a:solidFill>
            <a:srgbClr val="E8F7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40680" y="234086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Model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46320" y="3054096"/>
            <a:ext cx="457200" cy="384048"/>
          </a:xfrm>
          <a:prstGeom prst="rect">
            <a:avLst/>
          </a:prstGeom>
          <a:solidFill>
            <a:srgbClr val="5F2EE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46320" y="30540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349240" y="3054096"/>
            <a:ext cx="3931920" cy="384048"/>
          </a:xfrm>
          <a:prstGeom prst="rect">
            <a:avLst/>
          </a:prstGeom>
          <a:solidFill>
            <a:srgbClr val="E8F7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440680" y="305409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Signals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846320" y="3767328"/>
            <a:ext cx="457200" cy="384048"/>
          </a:xfrm>
          <a:prstGeom prst="rect">
            <a:avLst/>
          </a:prstGeom>
          <a:solidFill>
            <a:srgbClr val="5F2EE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846320" y="37673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349240" y="3767328"/>
            <a:ext cx="3931920" cy="384048"/>
          </a:xfrm>
          <a:prstGeom prst="rect">
            <a:avLst/>
          </a:prstGeom>
          <a:solidFill>
            <a:srgbClr val="E8F7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440680" y="37673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5F2EEA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Business Context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486460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Transaction Insights  •  3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8595360" cy="100584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86868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rapid growth of digital payments in India, PhonePe processes billions of transactions across states, categories, and user segments. Understanding this data is critical for strategic decision-making.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965960"/>
            <a:ext cx="4297680" cy="475488"/>
          </a:xfrm>
          <a:prstGeom prst="rect">
            <a:avLst/>
          </a:prstGeom>
          <a:solidFill>
            <a:srgbClr val="EDE9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00253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Customer Segmentation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20370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users by spending for targeted marketing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965960"/>
            <a:ext cx="4297680" cy="475488"/>
          </a:xfrm>
          <a:prstGeom prst="rect">
            <a:avLst/>
          </a:prstGeom>
          <a:solidFill>
            <a:srgbClr val="E8F7FD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00253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Fraud Detection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20370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anomalous transaction patterns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532888"/>
            <a:ext cx="4297680" cy="475488"/>
          </a:xfrm>
          <a:prstGeom prst="rect">
            <a:avLst/>
          </a:prstGeom>
          <a:solidFill>
            <a:srgbClr val="EDE9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6946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Geographical Insights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7706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district level payment heat maps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532888"/>
            <a:ext cx="4297680" cy="475488"/>
          </a:xfrm>
          <a:prstGeom prst="rect">
            <a:avLst/>
          </a:prstGeom>
          <a:solidFill>
            <a:srgbClr val="E8F7FD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56946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Payment Performance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7706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category popularity for investments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099816"/>
            <a:ext cx="4297680" cy="475488"/>
          </a:xfrm>
          <a:prstGeom prst="rect">
            <a:avLst/>
          </a:prstGeom>
          <a:solidFill>
            <a:srgbClr val="EDE9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13639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User Engagement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3375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&amp; satisfaction strategies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3099816"/>
            <a:ext cx="4297680" cy="475488"/>
          </a:xfrm>
          <a:prstGeom prst="rect">
            <a:avLst/>
          </a:prstGeom>
          <a:solidFill>
            <a:srgbClr val="E8F7FD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13639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Product Development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3375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new feature roadmap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666744"/>
            <a:ext cx="4297680" cy="475488"/>
          </a:xfrm>
          <a:prstGeom prst="rect">
            <a:avLst/>
          </a:prstGeom>
          <a:solidFill>
            <a:srgbClr val="EDE9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7033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Insurance Insights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39044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rates &amp; product optimization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666744"/>
            <a:ext cx="4297680" cy="475488"/>
          </a:xfrm>
          <a:prstGeom prst="rect">
            <a:avLst/>
          </a:prstGeom>
          <a:solidFill>
            <a:srgbClr val="E8F7FD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7033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Marketing Optimization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39044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campaigns by user behavior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4233672"/>
            <a:ext cx="4297680" cy="475488"/>
          </a:xfrm>
          <a:prstGeom prst="rect">
            <a:avLst/>
          </a:prstGeom>
          <a:solidFill>
            <a:srgbClr val="EDE9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2702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Trend Analysis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44714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QoQ &amp; YoY growth patterns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4233672"/>
            <a:ext cx="4297680" cy="475488"/>
          </a:xfrm>
          <a:prstGeom prst="rect">
            <a:avLst/>
          </a:prstGeom>
          <a:solidFill>
            <a:srgbClr val="E8F7FD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42702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Competitive Benchmarking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46320" y="44714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vs national performance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5F2EEA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 &amp; ETL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486460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Transaction Insights  •  4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737360" cy="21945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05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Pulse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(JSON Files)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1680" y="2057400"/>
            <a:ext cx="548640" cy="0"/>
          </a:xfrm>
          <a:prstGeom prst="line">
            <a:avLst/>
          </a:prstGeom>
          <a:noFill/>
          <a:ln w="31750">
            <a:solidFill>
              <a:srgbClr val="5F2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2EEA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0" y="960120"/>
            <a:ext cx="1737360" cy="2194560"/>
          </a:xfrm>
          <a:prstGeom prst="rect">
            <a:avLst/>
          </a:prstGeom>
          <a:solidFill>
            <a:srgbClr val="5F2EE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31720" y="1005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77440" y="14630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extract_load.py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+ Parse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23360" y="2057400"/>
            <a:ext cx="548640" cy="0"/>
          </a:xfrm>
          <a:prstGeom prst="line">
            <a:avLst/>
          </a:prstGeom>
          <a:noFill/>
          <a:ln w="31750">
            <a:solidFill>
              <a:srgbClr val="5F2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2EEA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97680" y="960120"/>
            <a:ext cx="1737360" cy="219456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43400" y="1005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0" y="14630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Tables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(Agg + Map + Top)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2057400"/>
            <a:ext cx="548640" cy="0"/>
          </a:xfrm>
          <a:prstGeom prst="line">
            <a:avLst/>
          </a:prstGeom>
          <a:noFill/>
          <a:ln w="31750">
            <a:solidFill>
              <a:srgbClr val="5F2E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2EEA"/>
                </a:solidFill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960120"/>
            <a:ext cx="1737360" cy="2194560"/>
          </a:xfrm>
          <a:prstGeom prst="rect">
            <a:avLst/>
          </a:prstGeom>
          <a:solidFill>
            <a:srgbClr val="0079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55080" y="1005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14630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Business Cases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 + Window Fns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337560"/>
            <a:ext cx="8595360" cy="114300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STREAMLIT DASHBOARD  •  9 Interactive Pages  •  Plotly Charts  •  Real-time Filters  •  Choropleth Maps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 •  Line  •  Pie  •  Treemap  •  Scatter  •  Funnel  •  Area  •  Histogram  •  Choropleth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5F2EEA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– 9 Tables Across 3 Tiers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486460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Transaction Insights  •  5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2788920" cy="365760"/>
          </a:xfrm>
          <a:prstGeom prst="rect">
            <a:avLst/>
          </a:prstGeom>
          <a:solidFill>
            <a:srgbClr val="5F2EEA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77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207008"/>
            <a:ext cx="2788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5F2E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207008"/>
            <a:ext cx="54864" cy="1051560"/>
          </a:xfrm>
          <a:prstGeom prst="rect">
            <a:avLst/>
          </a:prstGeom>
          <a:solidFill>
            <a:srgbClr val="5F2EE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261872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Aggregated_transaction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state, year, quarter, type, count, amount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2377440"/>
            <a:ext cx="2788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5F2E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2377440"/>
            <a:ext cx="54864" cy="1051560"/>
          </a:xfrm>
          <a:prstGeom prst="rect">
            <a:avLst/>
          </a:prstGeom>
          <a:solidFill>
            <a:srgbClr val="5F2EEA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432304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Aggregated_user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state, year, quarter, brand, users, opens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547872"/>
            <a:ext cx="2788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5F2E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3547872"/>
            <a:ext cx="54864" cy="1051560"/>
          </a:xfrm>
          <a:prstGeom prst="rect">
            <a:avLst/>
          </a:prstGeom>
          <a:solidFill>
            <a:srgbClr val="5F2EEA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602736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Aggregated_insurance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state, year, quarter, count, amount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777240"/>
            <a:ext cx="278892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777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46120" y="1207008"/>
            <a:ext cx="2788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1207008"/>
            <a:ext cx="54864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1261872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Map_transaction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state, district, count, amount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2377440"/>
            <a:ext cx="2788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2377440"/>
            <a:ext cx="54864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2432304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Map_user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state, district, users, opens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3547872"/>
            <a:ext cx="2788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3547872"/>
            <a:ext cx="54864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3602736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Map_insurance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state, district, count, amount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777240"/>
            <a:ext cx="2788920" cy="36576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777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63640" y="1207008"/>
            <a:ext cx="2788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9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63640" y="1207008"/>
            <a:ext cx="54864" cy="105156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1261872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Top_transaction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state, district, pincode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63640" y="2377440"/>
            <a:ext cx="2788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9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63640" y="2377440"/>
            <a:ext cx="54864" cy="105156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2432304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Top_user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state, district, pincode, users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63640" y="3547872"/>
            <a:ext cx="2788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9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63640" y="3547872"/>
            <a:ext cx="54864" cy="105156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3602736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Top_insurance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state, district, pincode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5F2EEA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Analysis – Payment Category Performance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486460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Transaction Insights  •  6 / 14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82296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822960"/>
            <a:ext cx="3108960" cy="3840480"/>
          </a:xfrm>
          <a:prstGeom prst="rect">
            <a:avLst/>
          </a:prstGeom>
          <a:solidFill>
            <a:srgbClr val="EDE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52160" y="868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2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852160" y="1325880"/>
            <a:ext cx="28346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70448" y="1389888"/>
            <a:ext cx="128016" cy="128016"/>
          </a:xfrm>
          <a:prstGeom prst="ellipse">
            <a:avLst/>
          </a:prstGeom>
          <a:solidFill>
            <a:srgbClr val="5F2EEA"/>
          </a:solidFill>
          <a:ln/>
        </p:spPr>
      </p:sp>
      <p:sp>
        <p:nvSpPr>
          <p:cNvPr id="11" name="Text 8"/>
          <p:cNvSpPr/>
          <p:nvPr/>
        </p:nvSpPr>
        <p:spPr>
          <a:xfrm>
            <a:off x="6053328" y="13441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 leads 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volume (45%)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52160" y="1911096"/>
            <a:ext cx="28346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70448" y="1975104"/>
            <a:ext cx="128016" cy="128016"/>
          </a:xfrm>
          <a:prstGeom prst="ellipse">
            <a:avLst/>
          </a:prstGeom>
          <a:solidFill>
            <a:srgbClr val="5F2EEA"/>
          </a:solidFill>
          <a:ln/>
        </p:spPr>
      </p:sp>
      <p:sp>
        <p:nvSpPr>
          <p:cNvPr id="14" name="Text 11"/>
          <p:cNvSpPr/>
          <p:nvPr/>
        </p:nvSpPr>
        <p:spPr>
          <a:xfrm>
            <a:off x="6053328" y="192938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 drives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avg ticket size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52160" y="2496312"/>
            <a:ext cx="28346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70448" y="2560320"/>
            <a:ext cx="128016" cy="128016"/>
          </a:xfrm>
          <a:prstGeom prst="ellipse">
            <a:avLst/>
          </a:prstGeom>
          <a:solidFill>
            <a:srgbClr val="5F2EEA"/>
          </a:solidFill>
          <a:ln/>
        </p:spPr>
      </p:sp>
      <p:sp>
        <p:nvSpPr>
          <p:cNvPr id="17" name="Text 14"/>
          <p:cNvSpPr/>
          <p:nvPr/>
        </p:nvSpPr>
        <p:spPr>
          <a:xfrm>
            <a:off x="6053328" y="2514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Payments growing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QoQ (+18%)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852160" y="3081528"/>
            <a:ext cx="28346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870448" y="3145536"/>
            <a:ext cx="128016" cy="128016"/>
          </a:xfrm>
          <a:prstGeom prst="ellipse">
            <a:avLst/>
          </a:prstGeom>
          <a:solidFill>
            <a:srgbClr val="5F2EEA"/>
          </a:solidFill>
          <a:ln/>
        </p:spPr>
      </p:sp>
      <p:sp>
        <p:nvSpPr>
          <p:cNvPr id="20" name="Text 17"/>
          <p:cNvSpPr/>
          <p:nvPr/>
        </p:nvSpPr>
        <p:spPr>
          <a:xfrm>
            <a:off x="6053328" y="309981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 &amp; Bills: key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retention/loyalty driver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852160" y="3666744"/>
            <a:ext cx="28346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870448" y="3730752"/>
            <a:ext cx="128016" cy="128016"/>
          </a:xfrm>
          <a:prstGeom prst="ellipse">
            <a:avLst/>
          </a:prstGeom>
          <a:solidFill>
            <a:srgbClr val="5F2EEA"/>
          </a:solidFill>
          <a:ln/>
        </p:spPr>
      </p:sp>
      <p:sp>
        <p:nvSpPr>
          <p:cNvPr id="23" name="Text 20"/>
          <p:cNvSpPr/>
          <p:nvPr/>
        </p:nvSpPr>
        <p:spPr>
          <a:xfrm>
            <a:off x="6053328" y="36850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investment 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 upsell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5F2EEA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Geographical Insights – State-Level Performance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486460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Transaction Insights  •  7 / 14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82296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822960"/>
            <a:ext cx="3017520" cy="36576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822960"/>
            <a:ext cx="3017520" cy="365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 State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0" y="1234440"/>
            <a:ext cx="3017520" cy="329184"/>
          </a:xfrm>
          <a:prstGeom prst="rect">
            <a:avLst/>
          </a:prstGeom>
          <a:solidFill>
            <a:srgbClr val="EDE9FF"/>
          </a:solidFill>
          <a:ln/>
        </p:spPr>
      </p:sp>
      <p:sp>
        <p:nvSpPr>
          <p:cNvPr id="10" name="Text 7"/>
          <p:cNvSpPr/>
          <p:nvPr/>
        </p:nvSpPr>
        <p:spPr>
          <a:xfrm>
            <a:off x="5989320" y="12527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Maharashtra  —  ₹58,000 Cr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0" y="1572768"/>
            <a:ext cx="30175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5989320" y="159105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Karnataka  —  ₹47,000 Cr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43600" y="1911096"/>
            <a:ext cx="3017520" cy="329184"/>
          </a:xfrm>
          <a:prstGeom prst="rect">
            <a:avLst/>
          </a:prstGeom>
          <a:solidFill>
            <a:srgbClr val="EDE9FF"/>
          </a:solidFill>
          <a:ln/>
        </p:spPr>
      </p:sp>
      <p:sp>
        <p:nvSpPr>
          <p:cNvPr id="14" name="Text 11"/>
          <p:cNvSpPr/>
          <p:nvPr/>
        </p:nvSpPr>
        <p:spPr>
          <a:xfrm>
            <a:off x="5989320" y="19293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Tamil Nadu  —  ₹39,000 Cr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0" y="2249424"/>
            <a:ext cx="30175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5989320" y="22677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 UP  —  ₹31,000 Cr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943600" y="2587752"/>
            <a:ext cx="3017520" cy="329184"/>
          </a:xfrm>
          <a:prstGeom prst="rect">
            <a:avLst/>
          </a:prstGeom>
          <a:solidFill>
            <a:srgbClr val="EDE9FF"/>
          </a:solidFill>
          <a:ln/>
        </p:spPr>
      </p:sp>
      <p:sp>
        <p:nvSpPr>
          <p:cNvPr id="18" name="Text 15"/>
          <p:cNvSpPr/>
          <p:nvPr/>
        </p:nvSpPr>
        <p:spPr>
          <a:xfrm>
            <a:off x="5989320" y="26060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 Gujarat  —  ₹28,000 Cr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43600" y="2926080"/>
            <a:ext cx="30175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5989320" y="29443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  Andhra Pradesh  —  ₹22,000 Cr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943600" y="3264408"/>
            <a:ext cx="3017520" cy="329184"/>
          </a:xfrm>
          <a:prstGeom prst="rect">
            <a:avLst/>
          </a:prstGeom>
          <a:solidFill>
            <a:srgbClr val="EDE9FF"/>
          </a:solidFill>
          <a:ln/>
        </p:spPr>
      </p:sp>
      <p:sp>
        <p:nvSpPr>
          <p:cNvPr id="22" name="Text 19"/>
          <p:cNvSpPr/>
          <p:nvPr/>
        </p:nvSpPr>
        <p:spPr>
          <a:xfrm>
            <a:off x="5989320" y="328269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  Rajasthan  —  ₹18,500 Cr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943600" y="3602736"/>
            <a:ext cx="30175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5989320" y="36210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  West Bengal  —  ₹16,000 Cr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5F2EEA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Engagement – Devices &amp; App Activity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486460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Transaction Insights  •  8 / 14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822960"/>
          <a:ext cx="41148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572000" y="822960"/>
          <a:ext cx="42976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5F2EEA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Insights – Penetration &amp; Premium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486460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Transaction Insights  •  9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011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64008" cy="1234440"/>
          </a:xfrm>
          <a:prstGeom prst="rect">
            <a:avLst/>
          </a:prstGeom>
          <a:solidFill>
            <a:srgbClr val="5F2EE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241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13533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171907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Policies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914400"/>
            <a:ext cx="2011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914400"/>
            <a:ext cx="64008" cy="1234440"/>
          </a:xfrm>
          <a:prstGeom prst="rect">
            <a:avLst/>
          </a:prstGeom>
          <a:solidFill>
            <a:srgbClr val="00B9F1"/>
          </a:solidFill>
          <a:ln/>
        </p:spPr>
      </p:sp>
      <p:sp>
        <p:nvSpPr>
          <p:cNvPr id="13" name="Text 11"/>
          <p:cNvSpPr/>
          <p:nvPr/>
        </p:nvSpPr>
        <p:spPr>
          <a:xfrm>
            <a:off x="2587752" y="10241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87752" y="13533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₹8,200 Cr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87752" y="171907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Premium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914400"/>
            <a:ext cx="2011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914400"/>
            <a:ext cx="64008" cy="12344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4764024" y="10241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64024" y="13533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64024" y="171907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Penetration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03136" y="914400"/>
            <a:ext cx="2011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03136" y="914400"/>
            <a:ext cx="64008" cy="1234440"/>
          </a:xfrm>
          <a:prstGeom prst="rect">
            <a:avLst/>
          </a:prstGeom>
          <a:solidFill>
            <a:srgbClr val="00C48C"/>
          </a:solidFill>
          <a:ln/>
        </p:spPr>
      </p:sp>
      <p:sp>
        <p:nvSpPr>
          <p:cNvPr id="23" name="Text 21"/>
          <p:cNvSpPr/>
          <p:nvPr/>
        </p:nvSpPr>
        <p:spPr>
          <a:xfrm>
            <a:off x="6940296" y="10241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40296" y="13533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40296" y="171907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</a:t>
            </a:r>
            <a:endParaRPr lang="en-US" sz="10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274320" y="2331720"/>
          <a:ext cx="85953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5F2EEA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– State Spending Quadrant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486460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Transaction Insights  •  10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297680" cy="1828800"/>
          </a:xfrm>
          <a:prstGeom prst="rect">
            <a:avLst/>
          </a:prstGeom>
          <a:solidFill>
            <a:srgbClr val="7C3AED">
              <a:alpha val="12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29768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869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HIGH VALUE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32588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amount, lower volume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financial products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Gujarat, Telangana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4297680" cy="1828800"/>
          </a:xfrm>
          <a:prstGeom prst="rect">
            <a:avLst/>
          </a:prstGeom>
          <a:solidFill>
            <a:srgbClr val="5F2EEA">
              <a:alpha val="12000"/>
            </a:srgbClr>
          </a:solidFill>
          <a:ln w="19050">
            <a:solidFill>
              <a:srgbClr val="5F2E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22960"/>
            <a:ext cx="4297680" cy="384048"/>
          </a:xfrm>
          <a:prstGeom prst="rect">
            <a:avLst/>
          </a:prstGeom>
          <a:solidFill>
            <a:srgbClr val="5F2EEA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8869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HIGH VALUE &amp; VOLUME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32588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segment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programs + VIP offers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Maharashtra, Karnataka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788920"/>
            <a:ext cx="4297680" cy="1828800"/>
          </a:xfrm>
          <a:prstGeom prst="rect">
            <a:avLst/>
          </a:prstGeom>
          <a:solidFill>
            <a:srgbClr val="00C48C">
              <a:alpha val="12000"/>
            </a:srgbClr>
          </a:solidFill>
          <a:ln w="19050">
            <a:solidFill>
              <a:srgbClr val="00C4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788920"/>
            <a:ext cx="4297680" cy="384048"/>
          </a:xfrm>
          <a:prstGeom prst="rect">
            <a:avLst/>
          </a:prstGeom>
          <a:solidFill>
            <a:srgbClr val="00C48C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8529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GROWTH POTENTIAL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29184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on both metrics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campaigns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NE States, J&amp;K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788920"/>
            <a:ext cx="4297680" cy="1828800"/>
          </a:xfrm>
          <a:prstGeom prst="rect">
            <a:avLst/>
          </a:prstGeom>
          <a:solidFill>
            <a:srgbClr val="00B9F1">
              <a:alpha val="12000"/>
            </a:srgbClr>
          </a:solidFill>
          <a:ln w="19050">
            <a:solidFill>
              <a:srgbClr val="00B9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788920"/>
            <a:ext cx="4297680" cy="384048"/>
          </a:xfrm>
          <a:prstGeom prst="rect">
            <a:avLst/>
          </a:prstGeom>
          <a:solidFill>
            <a:srgbClr val="00B9F1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8529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HIGH VOLUME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29184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transactions, lower value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Micro-payment features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UP, West Bengal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46634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Transaction Volume →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5F2EEA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Signals – Statistical Anomaly Flags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486460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Transaction Insights  •  11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8595360" cy="640080"/>
          </a:xfrm>
          <a:prstGeom prst="rect">
            <a:avLst/>
          </a:prstGeom>
          <a:solidFill>
            <a:srgbClr val="FFF3CD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4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These are statistical signals only. Manual review is required before any action. Not confirmation of fraud.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4114800" cy="3017520"/>
          </a:xfrm>
          <a:prstGeom prst="rect">
            <a:avLst/>
          </a:prstGeom>
          <a:solidFill>
            <a:srgbClr val="EDE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6642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2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Methodology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057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Calculate avg transaction value per state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441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Compute national mean &amp; standard deviation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8254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Z-score = (state_avg - mean) / std_dev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2095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 Flag states where |Z-score| &gt;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5935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5️⃣  Dashboard highlights flagged states in red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9776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6️⃣  Recommend manual review for investigation</a:t>
            </a:r>
            <a:endParaRPr lang="en-US" sz="11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572000" y="1600200"/>
          <a:ext cx="42976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5F2EEA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 – QoQ &amp; YoY Growth Patterns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486460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Transaction Insights  •  12 / 14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822960"/>
          <a:ext cx="85953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5F2EEA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Strategic Recommendations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486460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Transaction Insights  •  13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297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F2E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297680" cy="73152"/>
          </a:xfrm>
          <a:prstGeom prst="rect">
            <a:avLst/>
          </a:prstGeom>
          <a:solidFill>
            <a:srgbClr val="5F2EE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2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Transaction Growth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29844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8–15% QoQ growth. Financial Services has highest avg ticket size.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423160"/>
            <a:ext cx="4297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9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423160"/>
            <a:ext cx="4297680" cy="73152"/>
          </a:xfrm>
          <a:prstGeom prst="rect">
            <a:avLst/>
          </a:prstGeom>
          <a:solidFill>
            <a:srgbClr val="00B9F1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2560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Geographic Concentration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289864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states (MH, KA, TN) contribute &gt;40% of national value.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822960"/>
            <a:ext cx="4297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822960"/>
            <a:ext cx="429768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4864608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Android Dominance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64608" y="129844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Xiaomi + Samsung = 52% of user base. Android-first priority.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423160"/>
            <a:ext cx="4297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4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423160"/>
            <a:ext cx="4297680" cy="73152"/>
          </a:xfrm>
          <a:prstGeom prst="rect">
            <a:avLst/>
          </a:prstGeom>
          <a:solidFill>
            <a:srgbClr val="00C48C"/>
          </a:solidFill>
          <a:ln/>
        </p:spPr>
      </p:sp>
      <p:sp>
        <p:nvSpPr>
          <p:cNvPr id="20" name="Text 18"/>
          <p:cNvSpPr/>
          <p:nvPr/>
        </p:nvSpPr>
        <p:spPr>
          <a:xfrm>
            <a:off x="4864608" y="2560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Insurance Opportunity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64608" y="289864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1.8% penetration. Huge cross-sell potential in all states.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977640"/>
            <a:ext cx="8595360" cy="77724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404164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Top Recommendations: Launch loyalty programs in top-segment states  •  Re-engagement campaigns in high-registration low-activity states  •  Bundle insurance with Financial Services  •  Real-time fraud alerting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F2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5F2EE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3200400" y="2286000"/>
            <a:ext cx="2743200" cy="64008"/>
          </a:xfrm>
          <a:prstGeom prst="rect">
            <a:avLst/>
          </a:prstGeom>
          <a:solidFill>
            <a:srgbClr val="5F2EE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Transaction Insights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Analytics Platform  |  GUVI × HCL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3703320"/>
            <a:ext cx="1051560" cy="384048"/>
          </a:xfrm>
          <a:prstGeom prst="rect">
            <a:avLst/>
          </a:prstGeom>
          <a:solidFill>
            <a:srgbClr val="5F2EEA">
              <a:alpha val="70000"/>
            </a:srgbClr>
          </a:solidFill>
          <a:ln w="10160">
            <a:solidFill>
              <a:srgbClr val="5F2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7033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3703320"/>
            <a:ext cx="1051560" cy="384048"/>
          </a:xfrm>
          <a:prstGeom prst="rect">
            <a:avLst/>
          </a:prstGeom>
          <a:solidFill>
            <a:srgbClr val="5F2EEA">
              <a:alpha val="70000"/>
            </a:srgbClr>
          </a:solidFill>
          <a:ln w="10160">
            <a:solidFill>
              <a:srgbClr val="5F2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37033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3703320"/>
            <a:ext cx="1051560" cy="384048"/>
          </a:xfrm>
          <a:prstGeom prst="rect">
            <a:avLst/>
          </a:prstGeom>
          <a:solidFill>
            <a:srgbClr val="5F2EEA">
              <a:alpha val="70000"/>
            </a:srgbClr>
          </a:solidFill>
          <a:ln w="10160">
            <a:solidFill>
              <a:srgbClr val="5F2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37033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3703320"/>
            <a:ext cx="1051560" cy="384048"/>
          </a:xfrm>
          <a:prstGeom prst="rect">
            <a:avLst/>
          </a:prstGeom>
          <a:solidFill>
            <a:srgbClr val="5F2EEA">
              <a:alpha val="70000"/>
            </a:srgbClr>
          </a:solidFill>
          <a:ln w="10160">
            <a:solidFill>
              <a:srgbClr val="5F2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37033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3703320"/>
            <a:ext cx="1051560" cy="384048"/>
          </a:xfrm>
          <a:prstGeom prst="rect">
            <a:avLst/>
          </a:prstGeom>
          <a:solidFill>
            <a:srgbClr val="5F2EEA">
              <a:alpha val="70000"/>
            </a:srgbClr>
          </a:solidFill>
          <a:ln w="10160">
            <a:solidFill>
              <a:srgbClr val="5F2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37033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69480" y="3703320"/>
            <a:ext cx="1051560" cy="384048"/>
          </a:xfrm>
          <a:prstGeom prst="rect">
            <a:avLst/>
          </a:prstGeom>
          <a:solidFill>
            <a:srgbClr val="5F2EEA">
              <a:alpha val="70000"/>
            </a:srgbClr>
          </a:solidFill>
          <a:ln w="10160">
            <a:solidFill>
              <a:srgbClr val="5F2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37033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PhonePe Transaction Insights</dc:title>
  <dc:subject>PptxGenJS Presentation</dc:subject>
  <dc:creator>PhonePe Insights Team</dc:creator>
  <cp:lastModifiedBy>PhonePe Insights Team</cp:lastModifiedBy>
  <cp:revision>1</cp:revision>
  <dcterms:created xsi:type="dcterms:W3CDTF">2026-03-09T11:29:39Z</dcterms:created>
  <dcterms:modified xsi:type="dcterms:W3CDTF">2026-03-09T11:29:39Z</dcterms:modified>
</cp:coreProperties>
</file>